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7" r:id="rId28"/>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23"/>
    <p:sldId id="273" r:id="rId24"/>
    <p:sldId id="274" r:id="rId25"/>
    <p:sldId id="278" r:id="rId29"/>
    <p:sldId id="279" r:id="rId30"/>
    <p:sldId id="275" r:id="rId26"/>
    <p:sldId id="276" r:id="rId27"/>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24.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xml"/><Relationship Id="rId29" Type="http://schemas.openxmlformats.org/officeDocument/2006/relationships/slide" Target="slides/slide20.xml"/><Relationship Id="rId30"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137C8E"/>
            </a:solidFill>
            <a:effectLst/>
          </c:spPr>
          <c:invertIfNegative val="0"/>
          <c:dLbls>
            <c:numFmt formatCode="0.00&quot;%&quot;" sourceLinked="0"/>
            <c:txPr>
              <a:bodyPr/>
              <a:lstStyle/>
              <a:p>
                <a:pPr>
                  <a:defRPr b="1" i="0" strike="noStrike" sz="1100" u="none">
                    <a:solidFill>
                      <a:srgbClr val="17262E"/>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Zhao [6]</c:v>
                  </c:pt>
                  <c:pt idx="1">
                    <c:v>Hemachandran [10]</c:v>
                  </c:pt>
                  <c:pt idx="2">
                    <c:v>Masud [7]</c:v>
                  </c:pt>
                  <c:pt idx="3">
                    <c:v>Liang [1]</c:v>
                  </c:pt>
                  <c:pt idx="4">
                    <c:v>Mujahid [11]</c:v>
                  </c:pt>
                  <c:pt idx="5">
                    <c:v>Marques [8]</c:v>
                  </c:pt>
                  <c:pt idx="6">
                    <c:v>Fuhad [5]</c:v>
                  </c:pt>
                  <c:pt idx="7">
                    <c:v>Madhu [9]</c:v>
                  </c:pt>
                  <c:pt idx="8">
                    <c:v>Umer [4]</c:v>
                  </c:pt>
                </c:lvl>
              </c:multiLvlStrCache>
            </c:multiLvlStrRef>
          </c:cat>
          <c:val>
            <c:numRef>
              <c:f>Sheet1!$B$2:$B$10</c:f>
              <c:numCache>
                <c:formatCode>General</c:formatCode>
                <c:ptCount val="9"/>
                <c:pt idx="0">
                  <c:v>96.5</c:v>
                </c:pt>
                <c:pt idx="1">
                  <c:v>97.06</c:v>
                </c:pt>
                <c:pt idx="2">
                  <c:v>97.3</c:v>
                </c:pt>
                <c:pt idx="3">
                  <c:v>97.37</c:v>
                </c:pt>
                <c:pt idx="4">
                  <c:v>97.57</c:v>
                </c:pt>
                <c:pt idx="5">
                  <c:v>98.29</c:v>
                </c:pt>
                <c:pt idx="6">
                  <c:v>99.23</c:v>
                </c:pt>
                <c:pt idx="7">
                  <c:v>99.35</c:v>
                </c:pt>
                <c:pt idx="8">
                  <c:v>99.96</c:v>
                </c:pt>
              </c:numCache>
            </c:numRef>
          </c:val>
        </c:ser>
        <c:dLbls>
          <c:numFmt formatCode="0.00&quot;%&quot;" sourceLinked="0"/>
          <c:txPr>
            <a:bodyPr/>
            <a:lstStyle/>
            <a:p>
              <a:pPr>
                <a:defRPr b="1" i="0" strike="noStrike" sz="1100" u="none">
                  <a:solidFill>
                    <a:srgbClr val="17262E"/>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7262E"/>
                </a:solidFill>
                <a:latin typeface="Calibri"/>
              </a:defRPr>
            </a:pPr>
            <a:endParaRPr lang="en-US"/>
          </a:p>
        </c:txPr>
        <c:crossAx val="2094734552"/>
        <c:crosses val="autoZero"/>
        <c:auto val="1"/>
        <c:lblAlgn val="ctr"/>
        <c:noMultiLvlLbl val="1"/>
      </c:catAx>
      <c:valAx>
        <c:axId val="2094734552"/>
        <c:scaling>
          <c:orientation val="minMax"/>
          <c:max val="100.5"/>
          <c:min val="94"/>
        </c:scaling>
        <c:delete val="0"/>
        <c:axPos val="b"/>
        <c:majorGridlines>
          <c:spPr>
            <a:ln w="9525" cap="flat">
              <a:solidFill>
                <a:srgbClr val="DCE7EB"/>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7C8B93"/>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Title + team. Say: 'We reviewed 11 key studies on automated malaria detection using the NIH cell dataset — here's what the field has learned and the gaps we'll target.' [Presenter: Pugazhendhi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Gold standard = manual microscopy of Giemsa-stained smears. Three problems: slow, expert-dependent, subjective. Land the opportunity line: an automated system is fast, consistent, deployable. [Presenter: Pugazhendhi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statement — read the big statement verbatim once. Then the 3 scope chips: binary task, deep networks (no hand-crafted features), point-of-care goal. Note this talk = Stage 1, the literature survey. [Presenter: Pugazhendhi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everyone uses: NIH, 27,558 balanced single-cell images, 200 patients, Chittagong Bangladesh. Point at the two cells — parasite = violet specks. Flag Fuhad's label correction to 26,161 (foreshadows a gap). [Presenter: Pugazhendhi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Amathziah. This is the story slide — walk left to right along the timeline: 2016 custom CNN → 2018 feature extraction → 2019 ensembles → 2020 lightweight/mobile → 2022-24 capsules &amp; benchmarking. [Presenter: J Amathziah]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Liang: a purpose-built 16-layer CNN (97.37%) beat generic AlexNet features (91.99%) — domain features win. Rajaraman [2] then mapped which pretrained layers transfer best. Insight: accuracy vs compute tension starts here. [Presenter: J Amathziah]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ensembles. Single CNNs are high-variance; averaging diverse models is steadier. Rajaraman [3]: VGG-19+SqueezeNet cuts variance. Marques [8]: 10-fold EfficientNet ensemble → 98.29%. Catch: heavy &amp; slow → motivates lightweight. [Presenter: J Amathziah]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lightweight/mobile. Fuhad: 99.23% at only 4,600 FLOPS, &lt;1s on a phone. Masud: 409K-param CNN, cyclical LR, ~97 min, no augmentation. Zhao: super-resolution + tested a 2nd species. Theme: optimise for size/speed. [Presenter: J Amathziah]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Murali. Two ideas. Madhu's capsule net keeps spatial/pose info that pooling throws away — 99.35%. Umer's 5-step YUV pipeline normalises staining so the model can't cheat on stain colour — ~99.9%. [Presenter: C Murali Madhav]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benchmarking. Hemachandran: MobileNetV2 (97.06%) matches heavy ResNet. Mujahid: a tuned custom 12-layer CNN (97.57%) beats 11 pretrained nets. Verdict: lightweight ≈ heavy — efficiency is a real design goal. [Presenter: C Murali Madhav]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at-a-glance table — don't read every row. Point out the spread of methods and that top accuracies cluster at 96-100%. Set up the caveat: these numbers are NOT directly comparable. [Presenter: C Murali Madhav]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accuracy chart. All studies land 96-100%. BUT read with care (right panel): different splits, different data cleanliness, possible patient-level leakage. This caveat leads straight into the research gaps. [Presenter: C Murali Madhav]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Ravi. THE BONUS Kartik asked for — four gaps none of the papers fully solve: (1) patient-level data leakage, (2) single-species focus, (3) noisy labels, (4) raw thick-smear clinical workflow. Spend time here. [Presenter: Ravi Yadav]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gaps into our plan: YUV normalization (Umer), Fuhad's corrected dataset, patient-level 5-fold CV (Rajaraman), lightweight architecture (Masud/Fuhad). The review is our roadmap. [Presenter: Ravi Yadav]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Field matured from proof-of-concept → deployment-aware; accuracy is largely solved on clean data, open problems are trust &amp; deployment. Then our 5 next stages: base paper → reproduce → hypothesise → ablate → write up. [Presenter: Ravi Yadav]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 thank you. Invite questions, especially on our chosen research gap (patient-level leakage). Have the cheat-sheet numbers ready. [Presenter: Ravi Yadav]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opener and brief introduction. Recap the problem in one breath: manual microscopy is slow, subjective, and needs an expert. Then the key finding that carries over from Phase 1: published accuracies are high, but most papers split images at random, so the same patient's cells appear in training and testing. This phase has three steps: pick Marques [8] as the base paper, reproduce it, then state our hypothesis.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base paper. Four reasons: open-source code, so we can reproduce it faithfully; the strictest validation in our review (stratified 10-fold); a light backbone in line with our deployability goal; and results that are strong but not 99.9 %, so a change can move them either way. Walk the pipeline top to bottom, then land the four target numbers we have to match.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Reproduction. Left: we kept every setting the paper reports. Amber rows are where the paper is silent (augmentation details, epochs) or where we cut compute (3 of 10 folds on a free GPU). Right: paper vs. ours. We landed within 1 point on both headline numbers (mean fold −0.32 pp, ensemble −0.72 pp), so the reproduction counts as successful and this is our baseline. Recall is the one gap (−2 pp).</a:t>
            </a:r>
          </a:p>
          <a:p/>
          <a:p>
            <a:r>
              <a:t>Results (Kaggle run, 3 of 10 folds): mean single-fold accuracy 97.38 ± 0.74 % (SD across 3 folds). Ensemble of 3 fold models on the 2,756-image hold-out test set. MCC is shown as a coefficient (0–1). Ran on 2× Tesla T4 (MirroredStrategy), so the global batch was 128 (64 per GPU).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hypothesis. Two proposed changes, each changing exactly one thing. H1: switch to a slide-grouped split. We expect the reported accuracy to drop because the model can no longer recognise a slide it already saw in training. H2: keep the honest split and add Umer's YUV histogram-equalisation. We expect recall and MCC to recover, because stain colour stops being a shortcut. Close on the falsification rule: we say in advance what result would prove us wrong.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will test the hypothesis next milestone. A0 is done: that's the reproduction. A1 removes leakage (H1). A2 adds stain normalisation on top (H2). A3 is a control showing that any gain is about generalising to new slides, not a general boost. We report recall and MCC alongside accuracy, as mean ± SD over folds. All of these are already built into the notebook as on/off switches. Our A0 baseline already shows why recall comes first: 96.81 % vs. the paper's 98.82 %, i.e. 44 missed infected cells on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just the A0 results as pictures, so you can see them instead of reading the table.</a:t>
            </a:r>
          </a:p>
          <a:p>
            <a:r>
              <a:t>Left, paper vs. ours: light bars are what Marques et al. report, dark bars are our run. The axis starts at 94 %, so the gaps look bigger than they are. Mean fold accuracy is 0.32 pp lower and ensemble accuracy 0.72 pp lower, both inside our 1 pp target. Precision is actually a bit higher than the paper, ROC-AUC is the same (99.76 %). Recall is the one real gap: 96.81 % vs. 98.82 %.</a:t>
            </a:r>
          </a:p>
          <a:p>
            <a:r>
              <a:t>Right, first panel, training curves: accuracy per epoch for each of our 3 folds, dashed is training and solid is validation. Validation flattens out after a few epochs, which is why early stopping ended each fold after 9 or 10 epochs. Fold 1 (orange) sits lowest the whole time.</a:t>
            </a:r>
          </a:p>
          <a:p>
            <a:r>
              <a:t>Middle panel, confusion matrix of the 3-model ensemble on the 2,756 test cells: 1,334 infected cells caught (true positives), 1,355 healthy cells correctly cleared (true negatives), 23 false alarms and 44 infected cells missed. Those 44 misses are why recall is lower, and for diagnosis a miss is the worse mistake.</a:t>
            </a:r>
          </a:p>
          <a:p>
            <a:r>
              <a:t>Last panel, ROC curve, zoomed into the top-left corner: the curve hugs the top, ensemble AUC is 99.76 %, the same as the paper. So the model separates the two classes very well; the misses come from where the threshold sits, not from the model being bad at ranking.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E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9-2.png"/></Relationships>
</file>

<file path=ppt/slides/_rels/slide3.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9-2.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7-3.png"/><Relationship Id="rId4" Type="http://schemas.openxmlformats.org/officeDocument/2006/relationships/image" Target="../media/image-3-4.png"/><Relationship Id="rId5" Type="http://schemas.openxmlformats.org/officeDocument/2006/relationships/image" Target="../media/image-3-1.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1.png"/><Relationship Id="rId3" Type="http://schemas.openxmlformats.org/officeDocument/2006/relationships/image" Target="../media/image-9-2.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 Id="rId3" Type="http://schemas.openxmlformats.org/officeDocument/2006/relationships/image" Target="../media/image-12-1.png"/><Relationship Id="rId4" Type="http://schemas.openxmlformats.org/officeDocument/2006/relationships/image" Target="../media/image-4-1.png"/><Relationship Id="rId5"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652760" y="137160"/>
            <a:ext cx="1371600" cy="1371600"/>
          </a:xfrm>
          <a:prstGeom prst="ellipse">
            <a:avLst/>
          </a:prstGeom>
          <a:solidFill>
            <a:srgbClr val="137C8E">
              <a:alpha val="45000"/>
            </a:srgbClr>
          </a:solidFill>
          <a:ln/>
        </p:spPr>
        <p:txBody>
          <a:bodyPr/>
          <a:p/>
        </p:txBody>
      </p:sp>
      <p:sp>
        <p:nvSpPr>
          <p:cNvPr id="3" name="Shape 1"/>
          <p:cNvSpPr/>
          <p:nvPr/>
        </p:nvSpPr>
        <p:spPr>
          <a:xfrm>
            <a:off x="11411712" y="1444752"/>
            <a:ext cx="768096" cy="768096"/>
          </a:xfrm>
          <a:prstGeom prst="ellipse">
            <a:avLst/>
          </a:prstGeom>
          <a:solidFill>
            <a:srgbClr val="2EA79B">
              <a:alpha val="45000"/>
            </a:srgbClr>
          </a:solidFill>
          <a:ln/>
        </p:spPr>
        <p:txBody>
          <a:bodyPr/>
          <a:p/>
        </p:txBody>
      </p:sp>
      <p:sp>
        <p:nvSpPr>
          <p:cNvPr id="4" name="Shape 2"/>
          <p:cNvSpPr/>
          <p:nvPr/>
        </p:nvSpPr>
        <p:spPr>
          <a:xfrm>
            <a:off x="10442448" y="1298448"/>
            <a:ext cx="512064" cy="512064"/>
          </a:xfrm>
          <a:prstGeom prst="ellipse">
            <a:avLst/>
          </a:prstGeom>
          <a:solidFill>
            <a:srgbClr val="8A43B0">
              <a:alpha val="50000"/>
            </a:srgbClr>
          </a:solidFill>
          <a:ln/>
        </p:spPr>
        <p:txBody>
          <a:bodyPr/>
          <a:p/>
        </p:txBody>
      </p:sp>
      <p:sp>
        <p:nvSpPr>
          <p:cNvPr id="5" name="Shape 3"/>
          <p:cNvSpPr/>
          <p:nvPr/>
        </p:nvSpPr>
        <p:spPr>
          <a:xfrm>
            <a:off x="-182880" y="5303520"/>
            <a:ext cx="1645920" cy="1645920"/>
          </a:xfrm>
          <a:prstGeom prst="ellipse">
            <a:avLst/>
          </a:prstGeom>
          <a:solidFill>
            <a:srgbClr val="137C8E">
              <a:alpha val="40000"/>
            </a:srgbClr>
          </a:solidFill>
          <a:ln/>
        </p:spPr>
        <p:txBody>
          <a:bodyPr/>
          <a:p/>
        </p:txBody>
      </p:sp>
      <p:sp>
        <p:nvSpPr>
          <p:cNvPr id="6" name="Shape 4"/>
          <p:cNvSpPr/>
          <p:nvPr/>
        </p:nvSpPr>
        <p:spPr>
          <a:xfrm>
            <a:off x="1188720" y="5943600"/>
            <a:ext cx="731520" cy="731520"/>
          </a:xfrm>
          <a:prstGeom prst="ellipse">
            <a:avLst/>
          </a:prstGeom>
          <a:solidFill>
            <a:srgbClr val="8A43B0">
              <a:alpha val="45000"/>
            </a:srgbClr>
          </a:solidFill>
          <a:ln/>
        </p:spPr>
        <p:txBody>
          <a:bodyPr/>
          <a:p/>
        </p:txBody>
      </p:sp>
      <p:sp>
        <p:nvSpPr>
          <p:cNvPr id="7" name="Shape 5"/>
          <p:cNvSpPr/>
          <p:nvPr/>
        </p:nvSpPr>
        <p:spPr>
          <a:xfrm>
            <a:off x="182880" y="4846320"/>
            <a:ext cx="548640" cy="548640"/>
          </a:xfrm>
          <a:prstGeom prst="ellipse">
            <a:avLst/>
          </a:prstGeom>
          <a:solidFill>
            <a:srgbClr val="2EA79B">
              <a:alpha val="40000"/>
            </a:srgbClr>
          </a:solidFill>
          <a:ln/>
        </p:spPr>
        <p:txBody>
          <a:bodyPr/>
          <a:p/>
        </p:txBody>
      </p:sp>
      <p:sp>
        <p:nvSpPr>
          <p:cNvPr id="8" name="Shape 6"/>
          <p:cNvSpPr/>
          <p:nvPr/>
        </p:nvSpPr>
        <p:spPr>
          <a:xfrm>
            <a:off x="11109960" y="5440680"/>
            <a:ext cx="1005840" cy="1005840"/>
          </a:xfrm>
          <a:prstGeom prst="ellipse">
            <a:avLst/>
          </a:prstGeom>
          <a:solidFill>
            <a:srgbClr val="137C8E">
              <a:alpha val="40000"/>
            </a:srgbClr>
          </a:solidFill>
          <a:ln/>
        </p:spPr>
        <p:txBody>
          <a:bodyPr/>
          <a:p/>
        </p:txBody>
      </p:sp>
      <p:sp>
        <p:nvSpPr>
          <p:cNvPr id="9" name="Shape 7"/>
          <p:cNvSpPr/>
          <p:nvPr/>
        </p:nvSpPr>
        <p:spPr>
          <a:xfrm>
            <a:off x="10881360" y="6126480"/>
            <a:ext cx="548640" cy="548640"/>
          </a:xfrm>
          <a:prstGeom prst="ellipse">
            <a:avLst/>
          </a:prstGeom>
          <a:solidFill>
            <a:srgbClr val="2EA79B">
              <a:alpha val="45000"/>
            </a:srgbClr>
          </a:solidFill>
          <a:ln/>
        </p:spPr>
        <p:txBody>
          <a:bodyPr/>
          <a:p/>
        </p:txBody>
      </p:sp>
      <p:pic>
        <p:nvPicPr>
          <p:cNvPr id="10" name="Image 0" descr="/tmp/build/assets/cell_infected.png">    </p:cNvPr>
          <p:cNvPicPr>
            <a:picLocks noChangeAspect="1"/>
          </p:cNvPicPr>
          <p:nvPr/>
        </p:nvPicPr>
        <p:blipFill>
          <a:blip r:embed="rId1"/>
          <a:stretch>
            <a:fillRect/>
          </a:stretch>
        </p:blipFill>
        <p:spPr>
          <a:xfrm>
            <a:off x="10561320" y="411480"/>
            <a:ext cx="1371600" cy="1371600"/>
          </a:xfrm>
          <a:prstGeom prst="rect">
            <a:avLst/>
          </a:prstGeom>
        </p:spPr>
      </p:pic>
      <p:sp>
        <p:nvSpPr>
          <p:cNvPr id="11" name="Text 8"/>
          <p:cNvSpPr txBox="1"/>
          <p:nvPr/>
        </p:nvSpPr>
        <p:spPr>
          <a:xfrm>
            <a:off x="822960" y="1417320"/>
            <a:ext cx="10058400" cy="320040"/>
          </a:xfrm>
          <a:prstGeom prst="rect">
            <a:avLst/>
          </a:prstGeom>
          <a:noFill/>
          <a:ln/>
        </p:spPr>
        <p:txBody>
          <a:bodyPr wrap="square" lIns="0" tIns="0" rIns="0" bIns="0" rtlCol="0" anchor="ctr"/>
          <a:lstStyle/>
          <a:p>
            <a:pPr indent="0" marL="0">
              <a:buNone/>
            </a:pPr>
            <a:r>
              <a:rPr lang="en-US" sz="1400" b="1" spc="300" kern="0" dirty="0">
                <a:solidFill>
                  <a:srgbClr val="2EA79B"/>
                </a:solidFill>
                <a:latin typeface="Calibri" pitchFamily="34" charset="0"/>
                <a:ea typeface="Calibri" pitchFamily="34" charset="-122"/>
                <a:cs typeface="Calibri" pitchFamily="34" charset="-120"/>
              </a:rPr>
              <a:t>DEEP LEARNING · COMPUTER-AIDED DIAGNOSIS</a:t>
            </a:r>
            <a:endParaRPr lang="en-US" sz="1400" dirty="0"/>
          </a:p>
        </p:txBody>
      </p:sp>
      <p:sp>
        <p:nvSpPr>
          <p:cNvPr id="12" name="Text 9"/>
          <p:cNvSpPr txBox="1"/>
          <p:nvPr/>
        </p:nvSpPr>
        <p:spPr>
          <a:xfrm>
            <a:off x="777240" y="1810512"/>
            <a:ext cx="10607040" cy="914400"/>
          </a:xfrm>
          <a:prstGeom prst="rect">
            <a:avLst/>
          </a:prstGeom>
          <a:noFill/>
          <a:ln/>
        </p:spPr>
        <p:txBody>
          <a:bodyPr wrap="square" lIns="0" tIns="0" rIns="0" bIns="0" rtlCol="0" anchor="ctr"/>
          <a:lstStyle/>
          <a:p>
            <a:pPr indent="0" marL="0">
              <a:buNone/>
            </a:pPr>
            <a:r>
              <a:rPr lang="en-US" sz="4700" b="1" dirty="0">
                <a:solidFill>
                  <a:srgbClr val="FFFFFF"/>
                </a:solidFill>
                <a:latin typeface="Cambria" pitchFamily="34" charset="0"/>
                <a:ea typeface="Cambria" pitchFamily="34" charset="-122"/>
                <a:cs typeface="Cambria" pitchFamily="34" charset="-120"/>
              </a:rPr>
              <a:t>Automated Malaria Cell Detection</a:t>
            </a:r>
            <a:endParaRPr lang="en-US" sz="4700" dirty="0"/>
          </a:p>
        </p:txBody>
      </p:sp>
      <p:sp>
        <p:nvSpPr>
          <p:cNvPr id="13" name="Text 10"/>
          <p:cNvSpPr txBox="1"/>
          <p:nvPr/>
        </p:nvSpPr>
        <p:spPr>
          <a:xfrm>
            <a:off x="777240" y="2670048"/>
            <a:ext cx="10607040" cy="640080"/>
          </a:xfrm>
          <a:prstGeom prst="rect">
            <a:avLst/>
          </a:prstGeom>
          <a:noFill/>
          <a:ln/>
        </p:spPr>
        <p:txBody>
          <a:bodyPr wrap="square" lIns="0" tIns="0" rIns="0" bIns="0" rtlCol="0" anchor="ctr"/>
          <a:lstStyle/>
          <a:p>
            <a:pPr indent="0" marL="0">
              <a:buNone/>
            </a:pPr>
            <a:r>
              <a:rPr lang="en-US" sz="2700" i="1" dirty="0">
                <a:solidFill>
                  <a:srgbClr val="BFDCE3"/>
                </a:solidFill>
                <a:latin typeface="Cambria" pitchFamily="34" charset="0"/>
                <a:ea typeface="Cambria" pitchFamily="34" charset="-122"/>
                <a:cs typeface="Cambria" pitchFamily="34" charset="-120"/>
              </a:rPr>
              <a:t>using the NIH Malaria Cell Images Dataset</a:t>
            </a:r>
            <a:endParaRPr lang="en-US" sz="2700" dirty="0"/>
          </a:p>
        </p:txBody>
      </p:sp>
      <p:sp>
        <p:nvSpPr>
          <p:cNvPr id="14" name="Shape 11"/>
          <p:cNvSpPr/>
          <p:nvPr/>
        </p:nvSpPr>
        <p:spPr>
          <a:xfrm>
            <a:off x="822960" y="3529584"/>
            <a:ext cx="5486400" cy="457200"/>
          </a:xfrm>
          <a:prstGeom prst="roundRect">
            <a:avLst>
              <a:gd name="adj" fmla="val 50000"/>
            </a:avLst>
          </a:prstGeom>
          <a:solidFill>
            <a:srgbClr val="8A43B0"/>
          </a:solidFill>
          <a:ln/>
        </p:spPr>
        <p:txBody>
          <a:bodyPr/>
          <a:p/>
        </p:txBody>
      </p:sp>
      <p:sp>
        <p:nvSpPr>
          <p:cNvPr id="15" name="Text 12"/>
          <p:cNvSpPr txBox="1"/>
          <p:nvPr/>
        </p:nvSpPr>
        <p:spPr>
          <a:xfrm>
            <a:off x="822960" y="3529584"/>
            <a:ext cx="5486400" cy="457200"/>
          </a:xfrm>
          <a:prstGeom prst="rect">
            <a:avLst/>
          </a:prstGeom>
          <a:noFill/>
          <a:ln/>
        </p:spPr>
        <p:txBody>
          <a:bodyPr wrap="square" lIns="0" tIns="0" rIns="0" bIns="0" rtlCol="0" anchor="ctr"/>
          <a:lstStyle/>
          <a:p>
            <a:pPr algn="ctr" indent="0" marL="0">
              <a:buNone/>
            </a:pPr>
            <a:r>
              <a:rPr lang="en-US" sz="1350" b="1" spc="200" kern="0" dirty="0">
                <a:solidFill>
                  <a:srgbClr val="FFFFFF"/>
                </a:solidFill>
                <a:latin typeface="Calibri" pitchFamily="34" charset="0"/>
                <a:ea typeface="Calibri" pitchFamily="34" charset="-122"/>
                <a:cs typeface="Calibri" pitchFamily="34" charset="-120"/>
              </a:rPr>
              <a:t>LITERATURE REVIEW  →  BASELINE &amp; HYPOTHESIS</a:t>
            </a:r>
            <a:endParaRPr lang="en-US" sz="1350" dirty="0"/>
          </a:p>
        </p:txBody>
      </p:sp>
      <p:sp>
        <p:nvSpPr>
          <p:cNvPr id="16" name="Shape 13"/>
          <p:cNvSpPr/>
          <p:nvPr/>
        </p:nvSpPr>
        <p:spPr>
          <a:xfrm>
            <a:off x="822960" y="4526280"/>
            <a:ext cx="2606040" cy="932688"/>
          </a:xfrm>
          <a:prstGeom prst="roundRect">
            <a:avLst>
              <a:gd name="adj" fmla="val 7843"/>
            </a:avLst>
          </a:prstGeom>
          <a:solidFill>
            <a:srgbClr val="15455A"/>
          </a:solidFill>
          <a:ln w="12700">
            <a:solidFill>
              <a:srgbClr val="0E6274"/>
            </a:solidFill>
            <a:prstDash val="solid"/>
          </a:ln>
        </p:spPr>
        <p:txBody>
          <a:bodyPr/>
          <a:p/>
        </p:txBody>
      </p:sp>
      <p:sp>
        <p:nvSpPr>
          <p:cNvPr id="17" name="Text 14"/>
          <p:cNvSpPr txBox="1"/>
          <p:nvPr/>
        </p:nvSpPr>
        <p:spPr>
          <a:xfrm>
            <a:off x="987552" y="4690872"/>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Pugazhendhi J</a:t>
            </a:r>
            <a:endParaRPr lang="en-US" sz="1500" dirty="0"/>
          </a:p>
        </p:txBody>
      </p:sp>
      <p:sp>
        <p:nvSpPr>
          <p:cNvPr id="18" name="Text 15"/>
          <p:cNvSpPr txBox="1"/>
          <p:nvPr/>
        </p:nvSpPr>
        <p:spPr>
          <a:xfrm>
            <a:off x="987552" y="5056632"/>
            <a:ext cx="2276856" cy="274320"/>
          </a:xfrm>
          <a:prstGeom prst="rect">
            <a:avLst/>
          </a:prstGeom>
          <a:noFill/>
          <a:ln/>
        </p:spPr>
        <p:txBody>
          <a:bodyPr wrap="square" lIns="0" tIns="0" rIns="0" bIns="0" rtlCol="0" anchor="ctr"/>
          <a:lstStyle/>
          <a:p>
            <a:pPr indent="0" marL="0">
              <a:buNone/>
            </a:pPr>
            <a:r>
              <a:rPr lang="en-US" sz="1200" dirty="0">
                <a:solidFill>
                  <a:srgbClr val="9FC0C9"/>
                </a:solidFill>
                <a:latin typeface="Calibri" pitchFamily="34" charset="0"/>
                <a:ea typeface="Calibri" pitchFamily="34" charset="-122"/>
                <a:cs typeface="Calibri" pitchFamily="34" charset="-120"/>
              </a:rPr>
              <a:t>Roll No. 230066</a:t>
            </a:r>
            <a:endParaRPr lang="en-US" sz="1200" dirty="0"/>
          </a:p>
        </p:txBody>
      </p:sp>
      <p:sp>
        <p:nvSpPr>
          <p:cNvPr id="19" name="Shape 16"/>
          <p:cNvSpPr/>
          <p:nvPr/>
        </p:nvSpPr>
        <p:spPr>
          <a:xfrm>
            <a:off x="3547872" y="4526280"/>
            <a:ext cx="2606040" cy="932688"/>
          </a:xfrm>
          <a:prstGeom prst="roundRect">
            <a:avLst>
              <a:gd name="adj" fmla="val 7843"/>
            </a:avLst>
          </a:prstGeom>
          <a:solidFill>
            <a:srgbClr val="15455A"/>
          </a:solidFill>
          <a:ln w="12700">
            <a:solidFill>
              <a:srgbClr val="0E6274"/>
            </a:solidFill>
            <a:prstDash val="solid"/>
          </a:ln>
        </p:spPr>
        <p:txBody>
          <a:bodyPr/>
          <a:p/>
        </p:txBody>
      </p:sp>
      <p:sp>
        <p:nvSpPr>
          <p:cNvPr id="20" name="Text 17"/>
          <p:cNvSpPr txBox="1"/>
          <p:nvPr/>
        </p:nvSpPr>
        <p:spPr>
          <a:xfrm>
            <a:off x="3712464" y="4690872"/>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 Amathziah</a:t>
            </a:r>
            <a:endParaRPr lang="en-US" sz="1500" dirty="0"/>
          </a:p>
        </p:txBody>
      </p:sp>
      <p:sp>
        <p:nvSpPr>
          <p:cNvPr id="21" name="Text 18"/>
          <p:cNvSpPr txBox="1"/>
          <p:nvPr/>
        </p:nvSpPr>
        <p:spPr>
          <a:xfrm>
            <a:off x="3712464" y="5056632"/>
            <a:ext cx="2276856" cy="274320"/>
          </a:xfrm>
          <a:prstGeom prst="rect">
            <a:avLst/>
          </a:prstGeom>
          <a:noFill/>
          <a:ln/>
        </p:spPr>
        <p:txBody>
          <a:bodyPr wrap="square" lIns="0" tIns="0" rIns="0" bIns="0" rtlCol="0" anchor="ctr"/>
          <a:lstStyle/>
          <a:p>
            <a:pPr indent="0" marL="0">
              <a:buNone/>
            </a:pPr>
            <a:r>
              <a:rPr lang="en-US" sz="1200" dirty="0">
                <a:solidFill>
                  <a:srgbClr val="9FC0C9"/>
                </a:solidFill>
                <a:latin typeface="Calibri" pitchFamily="34" charset="0"/>
                <a:ea typeface="Calibri" pitchFamily="34" charset="-122"/>
                <a:cs typeface="Calibri" pitchFamily="34" charset="-120"/>
              </a:rPr>
              <a:t>Roll No. 230139</a:t>
            </a:r>
            <a:endParaRPr lang="en-US" sz="1200" dirty="0"/>
          </a:p>
        </p:txBody>
      </p:sp>
      <p:sp>
        <p:nvSpPr>
          <p:cNvPr id="22" name="Shape 19"/>
          <p:cNvSpPr/>
          <p:nvPr/>
        </p:nvSpPr>
        <p:spPr>
          <a:xfrm>
            <a:off x="6272784" y="4526280"/>
            <a:ext cx="2606040" cy="932688"/>
          </a:xfrm>
          <a:prstGeom prst="roundRect">
            <a:avLst>
              <a:gd name="adj" fmla="val 7843"/>
            </a:avLst>
          </a:prstGeom>
          <a:solidFill>
            <a:srgbClr val="15455A"/>
          </a:solidFill>
          <a:ln w="12700">
            <a:solidFill>
              <a:srgbClr val="0E6274"/>
            </a:solidFill>
            <a:prstDash val="solid"/>
          </a:ln>
        </p:spPr>
        <p:txBody>
          <a:bodyPr/>
          <a:p/>
        </p:txBody>
      </p:sp>
      <p:sp>
        <p:nvSpPr>
          <p:cNvPr id="23" name="Text 20"/>
          <p:cNvSpPr txBox="1"/>
          <p:nvPr/>
        </p:nvSpPr>
        <p:spPr>
          <a:xfrm>
            <a:off x="6437376" y="4690872"/>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 Murali Madhav</a:t>
            </a:r>
            <a:endParaRPr lang="en-US" sz="1500" dirty="0"/>
          </a:p>
        </p:txBody>
      </p:sp>
      <p:sp>
        <p:nvSpPr>
          <p:cNvPr id="24" name="Text 21"/>
          <p:cNvSpPr txBox="1"/>
          <p:nvPr/>
        </p:nvSpPr>
        <p:spPr>
          <a:xfrm>
            <a:off x="6437376" y="5056632"/>
            <a:ext cx="2276856" cy="274320"/>
          </a:xfrm>
          <a:prstGeom prst="rect">
            <a:avLst/>
          </a:prstGeom>
          <a:noFill/>
          <a:ln/>
        </p:spPr>
        <p:txBody>
          <a:bodyPr wrap="square" lIns="0" tIns="0" rIns="0" bIns="0" rtlCol="0" anchor="ctr"/>
          <a:lstStyle/>
          <a:p>
            <a:pPr indent="0" marL="0">
              <a:buNone/>
            </a:pPr>
            <a:r>
              <a:rPr lang="en-US" sz="1200" dirty="0">
                <a:solidFill>
                  <a:srgbClr val="9FC0C9"/>
                </a:solidFill>
                <a:latin typeface="Calibri" pitchFamily="34" charset="0"/>
                <a:ea typeface="Calibri" pitchFamily="34" charset="-122"/>
                <a:cs typeface="Calibri" pitchFamily="34" charset="-120"/>
              </a:rPr>
              <a:t>Roll No. 230115</a:t>
            </a:r>
            <a:endParaRPr lang="en-US" sz="1200" dirty="0"/>
          </a:p>
        </p:txBody>
      </p:sp>
      <p:sp>
        <p:nvSpPr>
          <p:cNvPr id="25" name="Shape 22"/>
          <p:cNvSpPr/>
          <p:nvPr/>
        </p:nvSpPr>
        <p:spPr>
          <a:xfrm>
            <a:off x="8997696" y="4526280"/>
            <a:ext cx="2606040" cy="932688"/>
          </a:xfrm>
          <a:prstGeom prst="roundRect">
            <a:avLst>
              <a:gd name="adj" fmla="val 7843"/>
            </a:avLst>
          </a:prstGeom>
          <a:solidFill>
            <a:srgbClr val="15455A"/>
          </a:solidFill>
          <a:ln w="12700">
            <a:solidFill>
              <a:srgbClr val="0E6274"/>
            </a:solidFill>
            <a:prstDash val="solid"/>
          </a:ln>
        </p:spPr>
        <p:txBody>
          <a:bodyPr/>
          <a:p/>
        </p:txBody>
      </p:sp>
      <p:sp>
        <p:nvSpPr>
          <p:cNvPr id="26" name="Text 23"/>
          <p:cNvSpPr txBox="1"/>
          <p:nvPr/>
        </p:nvSpPr>
        <p:spPr>
          <a:xfrm>
            <a:off x="9162288" y="4690872"/>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Ravi Yadav</a:t>
            </a:r>
            <a:endParaRPr lang="en-US" sz="1500" dirty="0"/>
          </a:p>
        </p:txBody>
      </p:sp>
      <p:sp>
        <p:nvSpPr>
          <p:cNvPr id="27" name="Text 24"/>
          <p:cNvSpPr txBox="1"/>
          <p:nvPr/>
        </p:nvSpPr>
        <p:spPr>
          <a:xfrm>
            <a:off x="9162288" y="5056632"/>
            <a:ext cx="2276856" cy="274320"/>
          </a:xfrm>
          <a:prstGeom prst="rect">
            <a:avLst/>
          </a:prstGeom>
          <a:noFill/>
          <a:ln/>
        </p:spPr>
        <p:txBody>
          <a:bodyPr wrap="square" lIns="0" tIns="0" rIns="0" bIns="0" rtlCol="0" anchor="ctr"/>
          <a:lstStyle/>
          <a:p>
            <a:pPr indent="0" marL="0">
              <a:buNone/>
            </a:pPr>
            <a:r>
              <a:rPr lang="en-US" sz="1200" dirty="0">
                <a:solidFill>
                  <a:srgbClr val="9FC0C9"/>
                </a:solidFill>
                <a:latin typeface="Calibri" pitchFamily="34" charset="0"/>
                <a:ea typeface="Calibri" pitchFamily="34" charset="-122"/>
                <a:cs typeface="Calibri" pitchFamily="34" charset="-120"/>
              </a:rPr>
              <a:t>Roll No. 230131</a:t>
            </a:r>
            <a:endParaRPr lang="en-US" sz="1200" dirty="0"/>
          </a:p>
        </p:txBody>
      </p:sp>
      <p:sp>
        <p:nvSpPr>
          <p:cNvPr id="28" name="Text 25"/>
          <p:cNvSpPr txBox="1"/>
          <p:nvPr/>
        </p:nvSpPr>
        <p:spPr>
          <a:xfrm>
            <a:off x="822960" y="5742432"/>
            <a:ext cx="10515600" cy="320040"/>
          </a:xfrm>
          <a:prstGeom prst="rect">
            <a:avLst/>
          </a:prstGeom>
          <a:noFill/>
          <a:ln/>
        </p:spPr>
        <p:txBody>
          <a:bodyPr wrap="square" lIns="0" tIns="0" rIns="0" bIns="0" rtlCol="0" anchor="ctr"/>
          <a:lstStyle/>
          <a:p>
            <a:pPr indent="0" marL="0">
              <a:buNone/>
            </a:pPr>
            <a:r>
              <a:rPr lang="en-US" sz="1350" dirty="0">
                <a:solidFill>
                  <a:srgbClr val="8FB0B9"/>
                </a:solidFill>
                <a:latin typeface="Calibri" pitchFamily="34" charset="0"/>
                <a:ea typeface="Calibri" pitchFamily="34" charset="-122"/>
                <a:cs typeface="Calibri" pitchFamily="34" charset="-120"/>
              </a:rPr>
              <a:t>Department of Computer Science · Rishihood University, Sonipat, India</a:t>
            </a:r>
            <a:endParaRPr lang="en-US" sz="135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Oval 1"/>
          <p:cNvSpPr/>
          <p:nvPr/>
        </p:nvSpPr>
        <p:spPr>
          <a:xfrm>
            <a:off x="10972800" y="5669280"/>
            <a:ext cx="1097280" cy="1097280"/>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2"/>
          <p:cNvSpPr/>
          <p:nvPr/>
        </p:nvSpPr>
        <p:spPr>
          <a:xfrm>
            <a:off x="11521440" y="1188720"/>
            <a:ext cx="548640" cy="54864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3"/>
          <p:cNvSpPr txBox="1"/>
          <p:nvPr/>
        </p:nvSpPr>
        <p:spPr>
          <a:xfrm>
            <a:off x="685800" y="548640"/>
            <a:ext cx="10058400" cy="320040"/>
          </a:xfrm>
          <a:prstGeom prst="rect">
            <a:avLst/>
          </a:prstGeom>
          <a:noFill/>
        </p:spPr>
        <p:txBody>
          <a:bodyPr wrap="square" lIns="0" rIns="0" tIns="0" bIns="0" anchor="t">
            <a:spAutoFit/>
          </a:bodyPr>
          <a:lstStyle/>
          <a:p>
            <a:pPr algn="l"/>
            <a:r>
              <a:rPr sz="1300" b="1" i="0">
                <a:solidFill>
                  <a:srgbClr val="2EA79B"/>
                </a:solidFill>
                <a:latin typeface="Calibri"/>
              </a:rPr>
              <a:t>OUR TEAM</a:t>
            </a:r>
          </a:p>
        </p:txBody>
      </p:sp>
      <p:sp>
        <p:nvSpPr>
          <p:cNvPr id="6" name="TextBox 4"/>
          <p:cNvSpPr txBox="1"/>
          <p:nvPr/>
        </p:nvSpPr>
        <p:spPr>
          <a:xfrm>
            <a:off x="685800" y="896112"/>
            <a:ext cx="10972800" cy="640080"/>
          </a:xfrm>
          <a:prstGeom prst="rect">
            <a:avLst/>
          </a:prstGeom>
          <a:noFill/>
        </p:spPr>
        <p:txBody>
          <a:bodyPr wrap="square" lIns="0" rIns="0" tIns="0" bIns="0" anchor="t">
            <a:spAutoFit/>
          </a:bodyPr>
          <a:lstStyle/>
          <a:p>
            <a:pPr algn="l"/>
            <a:r>
              <a:rPr sz="3000" b="1" i="0">
                <a:solidFill>
                  <a:srgbClr val="FFFFFF"/>
                </a:solidFill>
                <a:latin typeface="Cambria"/>
              </a:rPr>
              <a:t>Four people, four jobs</a:t>
            </a:r>
          </a:p>
        </p:txBody>
      </p:sp>
      <p:sp>
        <p:nvSpPr>
          <p:cNvPr id="7" name="Rounded Rectangle 8"/>
          <p:cNvSpPr/>
          <p:nvPr/>
        </p:nvSpPr>
        <p:spPr>
          <a:xfrm>
            <a:off x="685800" y="2011680"/>
            <a:ext cx="2571750" cy="2743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9"/>
          <p:cNvSpPr/>
          <p:nvPr/>
        </p:nvSpPr>
        <p:spPr>
          <a:xfrm>
            <a:off x="960120" y="2331720"/>
            <a:ext cx="822960" cy="822960"/>
          </a:xfrm>
          <a:prstGeom prst="ellipse">
            <a:avLst/>
          </a:prstGeom>
          <a:solidFill>
            <a:srgbClr val="CC4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AJ</a:t>
            </a:r>
          </a:p>
        </p:txBody>
      </p:sp>
      <p:sp>
        <p:nvSpPr>
          <p:cNvPr id="9" name="TextBox 11"/>
          <p:cNvSpPr txBox="1"/>
          <p:nvPr/>
        </p:nvSpPr>
        <p:spPr>
          <a:xfrm>
            <a:off x="960120" y="3383280"/>
            <a:ext cx="2023110" cy="365760"/>
          </a:xfrm>
          <a:prstGeom prst="rect">
            <a:avLst/>
          </a:prstGeom>
          <a:noFill/>
        </p:spPr>
        <p:txBody>
          <a:bodyPr wrap="square" lIns="0" rIns="0" tIns="0" bIns="0" anchor="t">
            <a:spAutoFit/>
          </a:bodyPr>
          <a:lstStyle/>
          <a:p>
            <a:pPr algn="l"/>
            <a:r>
              <a:rPr sz="1600" b="1" i="0">
                <a:solidFill>
                  <a:srgbClr val="FFFFFF"/>
                </a:solidFill>
                <a:latin typeface="Cambria"/>
              </a:rPr>
              <a:t>Amathziah J</a:t>
            </a:r>
          </a:p>
        </p:txBody>
      </p:sp>
      <p:sp>
        <p:nvSpPr>
          <p:cNvPr id="10" name="TextBox 23"/>
          <p:cNvSpPr txBox="1"/>
          <p:nvPr/>
        </p:nvSpPr>
        <p:spPr>
          <a:xfrm>
            <a:off x="960120" y="3886200"/>
            <a:ext cx="2023110" cy="228600"/>
          </a:xfrm>
          <a:prstGeom prst="rect">
            <a:avLst/>
          </a:prstGeom>
          <a:noFill/>
        </p:spPr>
        <p:txBody>
          <a:bodyPr wrap="square" lIns="0" rIns="0" tIns="0" bIns="0" anchor="t">
            <a:spAutoFit/>
          </a:bodyPr>
          <a:lstStyle/>
          <a:p>
            <a:pPr algn="l"/>
            <a:r>
              <a:rPr sz="1100" b="1" i="0">
                <a:solidFill>
                  <a:srgbClr val="2EA79B"/>
                </a:solidFill>
                <a:latin typeface="Calibri"/>
              </a:rPr>
              <a:t>ROLE</a:t>
            </a:r>
          </a:p>
        </p:txBody>
      </p:sp>
      <p:sp>
        <p:nvSpPr>
          <p:cNvPr id="11" name="TextBox 12"/>
          <p:cNvSpPr txBox="1"/>
          <p:nvPr/>
        </p:nvSpPr>
        <p:spPr>
          <a:xfrm>
            <a:off x="960120" y="4160520"/>
            <a:ext cx="2023110" cy="457200"/>
          </a:xfrm>
          <a:prstGeom prst="rect">
            <a:avLst/>
          </a:prstGeom>
          <a:noFill/>
        </p:spPr>
        <p:txBody>
          <a:bodyPr wrap="square" lIns="0" rIns="0" tIns="0" bIns="0" anchor="t">
            <a:spAutoFit/>
          </a:bodyPr>
          <a:lstStyle/>
          <a:p>
            <a:pPr algn="l"/>
            <a:r>
              <a:rPr sz="1400" b="0" i="0">
                <a:solidFill>
                  <a:srgbClr val="D5E6EA"/>
                </a:solidFill>
                <a:latin typeface="Calibri"/>
              </a:rPr>
              <a:t>Kaggle experiments, repository</a:t>
            </a:r>
          </a:p>
        </p:txBody>
      </p:sp>
      <p:sp>
        <p:nvSpPr>
          <p:cNvPr id="12" name="Rounded Rectangle 8"/>
          <p:cNvSpPr/>
          <p:nvPr/>
        </p:nvSpPr>
        <p:spPr>
          <a:xfrm>
            <a:off x="3440430" y="2011680"/>
            <a:ext cx="2571750" cy="2743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9"/>
          <p:cNvSpPr/>
          <p:nvPr/>
        </p:nvSpPr>
        <p:spPr>
          <a:xfrm>
            <a:off x="3714750" y="2331720"/>
            <a:ext cx="822960" cy="822960"/>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MM</a:t>
            </a:r>
          </a:p>
        </p:txBody>
      </p:sp>
      <p:sp>
        <p:nvSpPr>
          <p:cNvPr id="14" name="TextBox 11"/>
          <p:cNvSpPr txBox="1"/>
          <p:nvPr/>
        </p:nvSpPr>
        <p:spPr>
          <a:xfrm>
            <a:off x="3714750" y="3383280"/>
            <a:ext cx="2023110" cy="365760"/>
          </a:xfrm>
          <a:prstGeom prst="rect">
            <a:avLst/>
          </a:prstGeom>
          <a:noFill/>
        </p:spPr>
        <p:txBody>
          <a:bodyPr wrap="square" lIns="0" rIns="0" tIns="0" bIns="0" anchor="t">
            <a:spAutoFit/>
          </a:bodyPr>
          <a:lstStyle/>
          <a:p>
            <a:pPr algn="l"/>
            <a:r>
              <a:rPr sz="1600" b="1" i="0">
                <a:solidFill>
                  <a:srgbClr val="FFFFFF"/>
                </a:solidFill>
                <a:latin typeface="Cambria"/>
              </a:rPr>
              <a:t>Murali Madhav C</a:t>
            </a:r>
          </a:p>
        </p:txBody>
      </p:sp>
      <p:sp>
        <p:nvSpPr>
          <p:cNvPr id="15" name="TextBox 23"/>
          <p:cNvSpPr txBox="1"/>
          <p:nvPr/>
        </p:nvSpPr>
        <p:spPr>
          <a:xfrm>
            <a:off x="3714750" y="3886200"/>
            <a:ext cx="2023110" cy="228600"/>
          </a:xfrm>
          <a:prstGeom prst="rect">
            <a:avLst/>
          </a:prstGeom>
          <a:noFill/>
        </p:spPr>
        <p:txBody>
          <a:bodyPr wrap="square" lIns="0" rIns="0" tIns="0" bIns="0" anchor="t">
            <a:spAutoFit/>
          </a:bodyPr>
          <a:lstStyle/>
          <a:p>
            <a:pPr algn="l"/>
            <a:r>
              <a:rPr sz="1100" b="1" i="0">
                <a:solidFill>
                  <a:srgbClr val="2EA79B"/>
                </a:solidFill>
                <a:latin typeface="Calibri"/>
              </a:rPr>
              <a:t>ROLE</a:t>
            </a:r>
          </a:p>
        </p:txBody>
      </p:sp>
      <p:sp>
        <p:nvSpPr>
          <p:cNvPr id="16" name="TextBox 12"/>
          <p:cNvSpPr txBox="1"/>
          <p:nvPr/>
        </p:nvSpPr>
        <p:spPr>
          <a:xfrm>
            <a:off x="3714750" y="4160520"/>
            <a:ext cx="2023110" cy="457200"/>
          </a:xfrm>
          <a:prstGeom prst="rect">
            <a:avLst/>
          </a:prstGeom>
          <a:noFill/>
        </p:spPr>
        <p:txBody>
          <a:bodyPr wrap="square" lIns="0" rIns="0" tIns="0" bIns="0" anchor="t">
            <a:spAutoFit/>
          </a:bodyPr>
          <a:lstStyle/>
          <a:p>
            <a:pPr algn="l"/>
            <a:r>
              <a:rPr sz="1400" b="0" i="0">
                <a:solidFill>
                  <a:srgbClr val="D5E6EA"/>
                </a:solidFill>
                <a:latin typeface="Calibri"/>
              </a:rPr>
              <a:t>Code (notebook, scripts)</a:t>
            </a:r>
          </a:p>
        </p:txBody>
      </p:sp>
      <p:sp>
        <p:nvSpPr>
          <p:cNvPr id="17" name="Rounded Rectangle 8"/>
          <p:cNvSpPr/>
          <p:nvPr/>
        </p:nvSpPr>
        <p:spPr>
          <a:xfrm>
            <a:off x="6195060" y="2011680"/>
            <a:ext cx="2571750" cy="2743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9"/>
          <p:cNvSpPr/>
          <p:nvPr/>
        </p:nvSpPr>
        <p:spPr>
          <a:xfrm>
            <a:off x="6469380" y="2331720"/>
            <a:ext cx="822960" cy="822960"/>
          </a:xfrm>
          <a:prstGeom prst="ellipse">
            <a:avLst/>
          </a:prstGeom>
          <a:solidFill>
            <a:srgbClr val="D99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RY</a:t>
            </a:r>
          </a:p>
        </p:txBody>
      </p:sp>
      <p:sp>
        <p:nvSpPr>
          <p:cNvPr id="19" name="TextBox 11"/>
          <p:cNvSpPr txBox="1"/>
          <p:nvPr/>
        </p:nvSpPr>
        <p:spPr>
          <a:xfrm>
            <a:off x="6469380" y="3383280"/>
            <a:ext cx="2023110" cy="365760"/>
          </a:xfrm>
          <a:prstGeom prst="rect">
            <a:avLst/>
          </a:prstGeom>
          <a:noFill/>
        </p:spPr>
        <p:txBody>
          <a:bodyPr wrap="square" lIns="0" rIns="0" tIns="0" bIns="0" anchor="t">
            <a:spAutoFit/>
          </a:bodyPr>
          <a:lstStyle/>
          <a:p>
            <a:pPr algn="l"/>
            <a:r>
              <a:rPr sz="1600" b="1" i="0">
                <a:solidFill>
                  <a:srgbClr val="FFFFFF"/>
                </a:solidFill>
                <a:latin typeface="Cambria"/>
              </a:rPr>
              <a:t>Ravi Yadav</a:t>
            </a:r>
          </a:p>
        </p:txBody>
      </p:sp>
      <p:sp>
        <p:nvSpPr>
          <p:cNvPr id="20" name="TextBox 23"/>
          <p:cNvSpPr txBox="1"/>
          <p:nvPr/>
        </p:nvSpPr>
        <p:spPr>
          <a:xfrm>
            <a:off x="6469380" y="3886200"/>
            <a:ext cx="2023110" cy="228600"/>
          </a:xfrm>
          <a:prstGeom prst="rect">
            <a:avLst/>
          </a:prstGeom>
          <a:noFill/>
        </p:spPr>
        <p:txBody>
          <a:bodyPr wrap="square" lIns="0" rIns="0" tIns="0" bIns="0" anchor="t">
            <a:spAutoFit/>
          </a:bodyPr>
          <a:lstStyle/>
          <a:p>
            <a:pPr algn="l"/>
            <a:r>
              <a:rPr sz="1100" b="1" i="0">
                <a:solidFill>
                  <a:srgbClr val="2EA79B"/>
                </a:solidFill>
                <a:latin typeface="Calibri"/>
              </a:rPr>
              <a:t>ROLE</a:t>
            </a:r>
          </a:p>
        </p:txBody>
      </p:sp>
      <p:sp>
        <p:nvSpPr>
          <p:cNvPr id="21" name="TextBox 12"/>
          <p:cNvSpPr txBox="1"/>
          <p:nvPr/>
        </p:nvSpPr>
        <p:spPr>
          <a:xfrm>
            <a:off x="6469380" y="4160520"/>
            <a:ext cx="2023110" cy="457200"/>
          </a:xfrm>
          <a:prstGeom prst="rect">
            <a:avLst/>
          </a:prstGeom>
          <a:noFill/>
        </p:spPr>
        <p:txBody>
          <a:bodyPr wrap="square" lIns="0" rIns="0" tIns="0" bIns="0" anchor="t">
            <a:spAutoFit/>
          </a:bodyPr>
          <a:lstStyle/>
          <a:p>
            <a:pPr algn="l"/>
            <a:r>
              <a:rPr sz="1400" b="0" i="0">
                <a:solidFill>
                  <a:srgbClr val="D5E6EA"/>
                </a:solidFill>
                <a:latin typeface="Calibri"/>
              </a:rPr>
              <a:t>Slides</a:t>
            </a:r>
          </a:p>
        </p:txBody>
      </p:sp>
      <p:sp>
        <p:nvSpPr>
          <p:cNvPr id="22" name="Rounded Rectangle 8"/>
          <p:cNvSpPr/>
          <p:nvPr/>
        </p:nvSpPr>
        <p:spPr>
          <a:xfrm>
            <a:off x="8949690" y="2011680"/>
            <a:ext cx="2571750" cy="2743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9"/>
          <p:cNvSpPr/>
          <p:nvPr/>
        </p:nvSpPr>
        <p:spPr>
          <a:xfrm>
            <a:off x="9224010" y="2331720"/>
            <a:ext cx="822960" cy="82296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PJ</a:t>
            </a:r>
          </a:p>
        </p:txBody>
      </p:sp>
      <p:sp>
        <p:nvSpPr>
          <p:cNvPr id="24" name="TextBox 11"/>
          <p:cNvSpPr txBox="1"/>
          <p:nvPr/>
        </p:nvSpPr>
        <p:spPr>
          <a:xfrm>
            <a:off x="9224010" y="3383280"/>
            <a:ext cx="2023110" cy="365760"/>
          </a:xfrm>
          <a:prstGeom prst="rect">
            <a:avLst/>
          </a:prstGeom>
          <a:noFill/>
        </p:spPr>
        <p:txBody>
          <a:bodyPr wrap="square" lIns="0" rIns="0" tIns="0" bIns="0" anchor="t">
            <a:spAutoFit/>
          </a:bodyPr>
          <a:lstStyle/>
          <a:p>
            <a:pPr algn="l"/>
            <a:r>
              <a:rPr sz="1600" b="1" i="0">
                <a:solidFill>
                  <a:srgbClr val="FFFFFF"/>
                </a:solidFill>
                <a:latin typeface="Cambria"/>
              </a:rPr>
              <a:t>Pugazhendhi J</a:t>
            </a:r>
          </a:p>
        </p:txBody>
      </p:sp>
      <p:sp>
        <p:nvSpPr>
          <p:cNvPr id="25" name="TextBox 23"/>
          <p:cNvSpPr txBox="1"/>
          <p:nvPr/>
        </p:nvSpPr>
        <p:spPr>
          <a:xfrm>
            <a:off x="9224010" y="3886200"/>
            <a:ext cx="2023110" cy="228600"/>
          </a:xfrm>
          <a:prstGeom prst="rect">
            <a:avLst/>
          </a:prstGeom>
          <a:noFill/>
        </p:spPr>
        <p:txBody>
          <a:bodyPr wrap="square" lIns="0" rIns="0" tIns="0" bIns="0" anchor="t">
            <a:spAutoFit/>
          </a:bodyPr>
          <a:lstStyle/>
          <a:p>
            <a:pPr algn="l"/>
            <a:r>
              <a:rPr sz="1100" b="1" i="0">
                <a:solidFill>
                  <a:srgbClr val="2EA79B"/>
                </a:solidFill>
                <a:latin typeface="Calibri"/>
              </a:rPr>
              <a:t>ROLE</a:t>
            </a:r>
          </a:p>
        </p:txBody>
      </p:sp>
      <p:sp>
        <p:nvSpPr>
          <p:cNvPr id="26" name="TextBox 12"/>
          <p:cNvSpPr txBox="1"/>
          <p:nvPr/>
        </p:nvSpPr>
        <p:spPr>
          <a:xfrm>
            <a:off x="9224010" y="4160520"/>
            <a:ext cx="2023110" cy="457200"/>
          </a:xfrm>
          <a:prstGeom prst="rect">
            <a:avLst/>
          </a:prstGeom>
          <a:noFill/>
        </p:spPr>
        <p:txBody>
          <a:bodyPr wrap="square" lIns="0" rIns="0" tIns="0" bIns="0" anchor="t">
            <a:spAutoFit/>
          </a:bodyPr>
          <a:lstStyle/>
          <a:p>
            <a:pPr algn="l"/>
            <a:r>
              <a:rPr sz="1400" b="0" i="0">
                <a:solidFill>
                  <a:srgbClr val="D5E6EA"/>
                </a:solidFill>
                <a:latin typeface="Calibri"/>
              </a:rPr>
              <a:t>Report</a:t>
            </a:r>
          </a:p>
        </p:txBody>
      </p:sp>
      <p:sp>
        <p:nvSpPr>
          <p:cNvPr id="27" name="TextBox 23"/>
          <p:cNvSpPr txBox="1"/>
          <p:nvPr/>
        </p:nvSpPr>
        <p:spPr>
          <a:xfrm>
            <a:off x="685800" y="5212080"/>
            <a:ext cx="10058400" cy="365760"/>
          </a:xfrm>
          <a:prstGeom prst="rect">
            <a:avLst/>
          </a:prstGeom>
          <a:noFill/>
        </p:spPr>
        <p:txBody>
          <a:bodyPr wrap="square" lIns="0" rIns="0" tIns="0" bIns="0" anchor="t">
            <a:spAutoFit/>
          </a:bodyPr>
          <a:lstStyle/>
          <a:p>
            <a:pPr algn="l"/>
            <a:r>
              <a:rPr sz="1400" b="1" i="0">
                <a:solidFill>
                  <a:srgbClr val="2EA79B"/>
                </a:solidFill>
                <a:latin typeface="Calibri"/>
              </a:rPr>
              <a:t>Code, results &amp; slides:  </a:t>
            </a:r>
            <a:r>
              <a:rPr sz="1400" b="0" i="0">
                <a:solidFill>
                  <a:srgbClr val="CFE3E8"/>
                </a:solidFill>
                <a:latin typeface="Calibri"/>
              </a:rPr>
              <a:t>github.com/amathziah/malaria-detection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MOTIVATION</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Why does malaria diagnosis need automation?</a:t>
            </a:r>
            <a:endParaRPr lang="en-US" sz="3000" dirty="0"/>
          </a:p>
        </p:txBody>
      </p:sp>
      <p:sp>
        <p:nvSpPr>
          <p:cNvPr id="4" name="Text 2"/>
          <p:cNvSpPr txBox="1"/>
          <p:nvPr/>
        </p:nvSpPr>
        <p:spPr>
          <a:xfrm>
            <a:off x="548640" y="1481328"/>
            <a:ext cx="11064240" cy="640080"/>
          </a:xfrm>
          <a:prstGeom prst="rect">
            <a:avLst/>
          </a:prstGeom>
          <a:noFill/>
          <a:ln/>
        </p:spPr>
        <p:txBody>
          <a:bodyPr wrap="square" lIns="0" tIns="0" rIns="0" bIns="0" rtlCol="0" anchor="ctr"/>
          <a:lstStyle/>
          <a:p>
            <a:pPr indent="0" marL="0">
              <a:lnSpc>
                <a:spcPct val="108000"/>
              </a:lnSpc>
              <a:buNone/>
            </a:pPr>
            <a:r>
              <a:rPr lang="en-US" sz="1650" dirty="0">
                <a:solidFill>
                  <a:srgbClr val="41525B"/>
                </a:solidFill>
                <a:latin typeface="Calibri" pitchFamily="34" charset="0"/>
                <a:ea typeface="Calibri" pitchFamily="34" charset="-122"/>
                <a:cs typeface="Calibri" pitchFamily="34" charset="-120"/>
              </a:rPr>
              <a:t>The clinical gold standard is manual microscopy of </a:t>
            </a:r>
            <a:pPr indent="0" marL="0">
              <a:lnSpc>
                <a:spcPct val="108000"/>
              </a:lnSpc>
              <a:buNone/>
            </a:pPr>
            <a:r>
              <a:rPr lang="en-US" sz="1650" b="1" dirty="0">
                <a:solidFill>
                  <a:srgbClr val="6C2D8F"/>
                </a:solidFill>
                <a:latin typeface="Calibri" pitchFamily="34" charset="0"/>
                <a:ea typeface="Calibri" pitchFamily="34" charset="-122"/>
                <a:cs typeface="Calibri" pitchFamily="34" charset="-120"/>
              </a:rPr>
              <a:t>Giemsa-stained blood smears</a:t>
            </a:r>
            <a:pPr indent="0" marL="0">
              <a:lnSpc>
                <a:spcPct val="108000"/>
              </a:lnSpc>
              <a:buNone/>
            </a:pPr>
            <a:r>
              <a:rPr lang="en-US" sz="1650" dirty="0">
                <a:solidFill>
                  <a:srgbClr val="41525B"/>
                </a:solidFill>
                <a:latin typeface="Calibri" pitchFamily="34" charset="0"/>
                <a:ea typeface="Calibri" pitchFamily="34" charset="-122"/>
                <a:cs typeface="Calibri" pitchFamily="34" charset="-120"/>
              </a:rPr>
              <a:t> — a technician visually inspects each cell for parasites. It works, but it doesn't scale.</a:t>
            </a:r>
            <a:endParaRPr lang="en-US" sz="1650" dirty="0"/>
          </a:p>
        </p:txBody>
      </p:sp>
      <p:sp>
        <p:nvSpPr>
          <p:cNvPr id="5" name="Shape 3"/>
          <p:cNvSpPr/>
          <p:nvPr/>
        </p:nvSpPr>
        <p:spPr>
          <a:xfrm>
            <a:off x="548640" y="2286000"/>
            <a:ext cx="3520440" cy="2788920"/>
          </a:xfrm>
          <a:prstGeom prst="roundRect">
            <a:avLst>
              <a:gd name="adj" fmla="val 2951"/>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Shape 4"/>
          <p:cNvSpPr/>
          <p:nvPr/>
        </p:nvSpPr>
        <p:spPr>
          <a:xfrm>
            <a:off x="822960" y="2606040"/>
            <a:ext cx="1005840" cy="1005840"/>
          </a:xfrm>
          <a:prstGeom prst="ellipse">
            <a:avLst/>
          </a:prstGeom>
          <a:solidFill>
            <a:srgbClr val="137C8E"/>
          </a:solidFill>
          <a:ln/>
        </p:spPr>
        <p:txBody>
          <a:bodyPr/>
          <a:p/>
        </p:txBody>
      </p:sp>
      <p:pic>
        <p:nvPicPr>
          <p:cNvPr id="7" name="Image 0" descr="/tmp/build/assets/ic_clock.png">    </p:cNvPr>
          <p:cNvPicPr>
            <a:picLocks noChangeAspect="1"/>
          </p:cNvPicPr>
          <p:nvPr/>
        </p:nvPicPr>
        <p:blipFill>
          <a:blip r:embed="rId1"/>
          <a:stretch>
            <a:fillRect/>
          </a:stretch>
        </p:blipFill>
        <p:spPr>
          <a:xfrm>
            <a:off x="1064362" y="2847442"/>
            <a:ext cx="523037" cy="523037"/>
          </a:xfrm>
          <a:prstGeom prst="rect">
            <a:avLst/>
          </a:prstGeom>
        </p:spPr>
      </p:pic>
      <p:sp>
        <p:nvSpPr>
          <p:cNvPr id="8" name="Text 5"/>
          <p:cNvSpPr txBox="1"/>
          <p:nvPr/>
        </p:nvSpPr>
        <p:spPr>
          <a:xfrm>
            <a:off x="868680" y="3767328"/>
            <a:ext cx="2880360" cy="457200"/>
          </a:xfrm>
          <a:prstGeom prst="rect">
            <a:avLst/>
          </a:prstGeom>
          <a:noFill/>
          <a:ln/>
        </p:spPr>
        <p:txBody>
          <a:bodyPr wrap="square" lIns="0" tIns="0" rIns="0" bIns="0" rtlCol="0" anchor="ctr"/>
          <a:lstStyle/>
          <a:p>
            <a:pPr indent="0" marL="0">
              <a:buNone/>
            </a:pPr>
            <a:r>
              <a:rPr lang="en-US" sz="1900" b="1" dirty="0">
                <a:solidFill>
                  <a:srgbClr val="17262E"/>
                </a:solidFill>
                <a:latin typeface="Cambria" pitchFamily="34" charset="0"/>
                <a:ea typeface="Cambria" pitchFamily="34" charset="-122"/>
                <a:cs typeface="Cambria" pitchFamily="34" charset="-120"/>
              </a:rPr>
              <a:t>Slow &amp; laborious</a:t>
            </a:r>
            <a:endParaRPr lang="en-US" sz="1900" dirty="0"/>
          </a:p>
        </p:txBody>
      </p:sp>
      <p:sp>
        <p:nvSpPr>
          <p:cNvPr id="9" name="Text 6"/>
          <p:cNvSpPr txBox="1"/>
          <p:nvPr/>
        </p:nvSpPr>
        <p:spPr>
          <a:xfrm>
            <a:off x="868680" y="4224528"/>
            <a:ext cx="2880360" cy="777240"/>
          </a:xfrm>
          <a:prstGeom prst="rect">
            <a:avLst/>
          </a:prstGeom>
          <a:noFill/>
          <a:ln/>
        </p:spPr>
        <p:txBody>
          <a:bodyPr wrap="square" lIns="0" tIns="0" rIns="0" bIns="0" rtlCol="0" anchor="ctr"/>
          <a:lstStyle/>
          <a:p>
            <a:pPr indent="0" marL="0">
              <a:lnSpc>
                <a:spcPct val="105000"/>
              </a:lnSpc>
              <a:buNone/>
            </a:pPr>
            <a:r>
              <a:rPr lang="en-US" sz="1350" dirty="0">
                <a:solidFill>
                  <a:srgbClr val="41525B"/>
                </a:solidFill>
                <a:latin typeface="Calibri" pitchFamily="34" charset="0"/>
                <a:ea typeface="Calibri" pitchFamily="34" charset="-122"/>
                <a:cs typeface="Calibri" pitchFamily="34" charset="-120"/>
              </a:rPr>
              <a:t>Each slide holds hundreds of cells; a microscopist counts them one by one, limiting large-scale screening.</a:t>
            </a:r>
            <a:endParaRPr lang="en-US" sz="1350" dirty="0"/>
          </a:p>
        </p:txBody>
      </p:sp>
      <p:sp>
        <p:nvSpPr>
          <p:cNvPr id="10" name="Shape 7"/>
          <p:cNvSpPr/>
          <p:nvPr/>
        </p:nvSpPr>
        <p:spPr>
          <a:xfrm>
            <a:off x="4325112" y="2286000"/>
            <a:ext cx="3520440" cy="2788920"/>
          </a:xfrm>
          <a:prstGeom prst="roundRect">
            <a:avLst>
              <a:gd name="adj" fmla="val 2951"/>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1" name="Shape 8"/>
          <p:cNvSpPr/>
          <p:nvPr/>
        </p:nvSpPr>
        <p:spPr>
          <a:xfrm>
            <a:off x="4599432" y="2606040"/>
            <a:ext cx="1005840" cy="1005840"/>
          </a:xfrm>
          <a:prstGeom prst="ellipse">
            <a:avLst/>
          </a:prstGeom>
          <a:solidFill>
            <a:srgbClr val="8A43B0"/>
          </a:solidFill>
          <a:ln/>
        </p:spPr>
        <p:txBody>
          <a:bodyPr/>
          <a:p/>
        </p:txBody>
      </p:sp>
      <p:pic>
        <p:nvPicPr>
          <p:cNvPr id="12" name="Image 1" descr="/tmp/build/assets/ic_doctor.png">    </p:cNvPr>
          <p:cNvPicPr>
            <a:picLocks noChangeAspect="1"/>
          </p:cNvPicPr>
          <p:nvPr/>
        </p:nvPicPr>
        <p:blipFill>
          <a:blip r:embed="rId2"/>
          <a:stretch>
            <a:fillRect/>
          </a:stretch>
        </p:blipFill>
        <p:spPr>
          <a:xfrm>
            <a:off x="4840834" y="2847442"/>
            <a:ext cx="523037" cy="523037"/>
          </a:xfrm>
          <a:prstGeom prst="rect">
            <a:avLst/>
          </a:prstGeom>
        </p:spPr>
      </p:pic>
      <p:sp>
        <p:nvSpPr>
          <p:cNvPr id="13" name="Text 9"/>
          <p:cNvSpPr txBox="1"/>
          <p:nvPr/>
        </p:nvSpPr>
        <p:spPr>
          <a:xfrm>
            <a:off x="4645152" y="3767328"/>
            <a:ext cx="2880360" cy="457200"/>
          </a:xfrm>
          <a:prstGeom prst="rect">
            <a:avLst/>
          </a:prstGeom>
          <a:noFill/>
          <a:ln/>
        </p:spPr>
        <p:txBody>
          <a:bodyPr wrap="square" lIns="0" tIns="0" rIns="0" bIns="0" rtlCol="0" anchor="ctr"/>
          <a:lstStyle/>
          <a:p>
            <a:pPr indent="0" marL="0">
              <a:buNone/>
            </a:pPr>
            <a:r>
              <a:rPr lang="en-US" sz="1900" b="1" dirty="0">
                <a:solidFill>
                  <a:srgbClr val="17262E"/>
                </a:solidFill>
                <a:latin typeface="Cambria" pitchFamily="34" charset="0"/>
                <a:ea typeface="Cambria" pitchFamily="34" charset="-122"/>
                <a:cs typeface="Cambria" pitchFamily="34" charset="-120"/>
              </a:rPr>
              <a:t>Expert-dependent</a:t>
            </a:r>
            <a:endParaRPr lang="en-US" sz="1900" dirty="0"/>
          </a:p>
        </p:txBody>
      </p:sp>
      <p:sp>
        <p:nvSpPr>
          <p:cNvPr id="14" name="Text 10"/>
          <p:cNvSpPr txBox="1"/>
          <p:nvPr/>
        </p:nvSpPr>
        <p:spPr>
          <a:xfrm>
            <a:off x="4645152" y="4224528"/>
            <a:ext cx="2880360" cy="777240"/>
          </a:xfrm>
          <a:prstGeom prst="rect">
            <a:avLst/>
          </a:prstGeom>
          <a:noFill/>
          <a:ln/>
        </p:spPr>
        <p:txBody>
          <a:bodyPr wrap="square" lIns="0" tIns="0" rIns="0" bIns="0" rtlCol="0" anchor="ctr"/>
          <a:lstStyle/>
          <a:p>
            <a:pPr indent="0" marL="0">
              <a:lnSpc>
                <a:spcPct val="105000"/>
              </a:lnSpc>
              <a:buNone/>
            </a:pPr>
            <a:r>
              <a:rPr lang="en-US" sz="1350" dirty="0">
                <a:solidFill>
                  <a:srgbClr val="41525B"/>
                </a:solidFill>
                <a:latin typeface="Calibri" pitchFamily="34" charset="0"/>
                <a:ea typeface="Calibri" pitchFamily="34" charset="-122"/>
                <a:cs typeface="Calibri" pitchFamily="34" charset="-120"/>
              </a:rPr>
              <a:t>Accuracy hinges on a trained microscopist's skill — scarce in the rural, endemic regions that need it most.</a:t>
            </a:r>
            <a:endParaRPr lang="en-US" sz="1350" dirty="0"/>
          </a:p>
        </p:txBody>
      </p:sp>
      <p:sp>
        <p:nvSpPr>
          <p:cNvPr id="15" name="Shape 11"/>
          <p:cNvSpPr/>
          <p:nvPr/>
        </p:nvSpPr>
        <p:spPr>
          <a:xfrm>
            <a:off x="8101584" y="2286000"/>
            <a:ext cx="3520440" cy="2788920"/>
          </a:xfrm>
          <a:prstGeom prst="roundRect">
            <a:avLst>
              <a:gd name="adj" fmla="val 2951"/>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6" name="Shape 12"/>
          <p:cNvSpPr/>
          <p:nvPr/>
        </p:nvSpPr>
        <p:spPr>
          <a:xfrm>
            <a:off x="8375904" y="2606040"/>
            <a:ext cx="1005840" cy="1005840"/>
          </a:xfrm>
          <a:prstGeom prst="ellipse">
            <a:avLst/>
          </a:prstGeom>
          <a:solidFill>
            <a:srgbClr val="CC4A3F"/>
          </a:solidFill>
          <a:ln/>
        </p:spPr>
        <p:txBody>
          <a:bodyPr/>
          <a:p/>
        </p:txBody>
      </p:sp>
      <p:pic>
        <p:nvPicPr>
          <p:cNvPr id="17" name="Image 2" descr="/tmp/build/assets/ic_swap.png">    </p:cNvPr>
          <p:cNvPicPr>
            <a:picLocks noChangeAspect="1"/>
          </p:cNvPicPr>
          <p:nvPr/>
        </p:nvPicPr>
        <p:blipFill>
          <a:blip r:embed="rId3"/>
          <a:stretch>
            <a:fillRect/>
          </a:stretch>
        </p:blipFill>
        <p:spPr>
          <a:xfrm>
            <a:off x="8617306" y="2847442"/>
            <a:ext cx="523037" cy="523037"/>
          </a:xfrm>
          <a:prstGeom prst="rect">
            <a:avLst/>
          </a:prstGeom>
        </p:spPr>
      </p:pic>
      <p:sp>
        <p:nvSpPr>
          <p:cNvPr id="18" name="Text 13"/>
          <p:cNvSpPr txBox="1"/>
          <p:nvPr/>
        </p:nvSpPr>
        <p:spPr>
          <a:xfrm>
            <a:off x="8421624" y="3767328"/>
            <a:ext cx="2880360" cy="457200"/>
          </a:xfrm>
          <a:prstGeom prst="rect">
            <a:avLst/>
          </a:prstGeom>
          <a:noFill/>
          <a:ln/>
        </p:spPr>
        <p:txBody>
          <a:bodyPr wrap="square" lIns="0" tIns="0" rIns="0" bIns="0" rtlCol="0" anchor="ctr"/>
          <a:lstStyle/>
          <a:p>
            <a:pPr indent="0" marL="0">
              <a:buNone/>
            </a:pPr>
            <a:r>
              <a:rPr lang="en-US" sz="1900" b="1" dirty="0">
                <a:solidFill>
                  <a:srgbClr val="17262E"/>
                </a:solidFill>
                <a:latin typeface="Cambria" pitchFamily="34" charset="0"/>
                <a:ea typeface="Cambria" pitchFamily="34" charset="-122"/>
                <a:cs typeface="Cambria" pitchFamily="34" charset="-120"/>
              </a:rPr>
              <a:t>Subjective &amp; inconsistent</a:t>
            </a:r>
            <a:endParaRPr lang="en-US" sz="1900" dirty="0"/>
          </a:p>
        </p:txBody>
      </p:sp>
      <p:sp>
        <p:nvSpPr>
          <p:cNvPr id="19" name="Text 14"/>
          <p:cNvSpPr txBox="1"/>
          <p:nvPr/>
        </p:nvSpPr>
        <p:spPr>
          <a:xfrm>
            <a:off x="8421624" y="4224528"/>
            <a:ext cx="2880360" cy="777240"/>
          </a:xfrm>
          <a:prstGeom prst="rect">
            <a:avLst/>
          </a:prstGeom>
          <a:noFill/>
          <a:ln/>
        </p:spPr>
        <p:txBody>
          <a:bodyPr wrap="square" lIns="0" tIns="0" rIns="0" bIns="0" rtlCol="0" anchor="ctr"/>
          <a:lstStyle/>
          <a:p>
            <a:pPr indent="0" marL="0">
              <a:lnSpc>
                <a:spcPct val="105000"/>
              </a:lnSpc>
              <a:buNone/>
            </a:pPr>
            <a:r>
              <a:rPr lang="en-US" sz="1350" dirty="0">
                <a:solidFill>
                  <a:srgbClr val="41525B"/>
                </a:solidFill>
                <a:latin typeface="Calibri" pitchFamily="34" charset="0"/>
                <a:ea typeface="Calibri" pitchFamily="34" charset="-122"/>
                <a:cs typeface="Calibri" pitchFamily="34" charset="-120"/>
              </a:rPr>
              <a:t>Results vary between (and within) observers and across labs, so the same smear can yield different diagnoses.</a:t>
            </a:r>
            <a:endParaRPr lang="en-US" sz="1350" dirty="0"/>
          </a:p>
        </p:txBody>
      </p:sp>
      <p:sp>
        <p:nvSpPr>
          <p:cNvPr id="20" name="Shape 15"/>
          <p:cNvSpPr/>
          <p:nvPr/>
        </p:nvSpPr>
        <p:spPr>
          <a:xfrm>
            <a:off x="548640" y="5349240"/>
            <a:ext cx="11091672" cy="868680"/>
          </a:xfrm>
          <a:prstGeom prst="roundRect">
            <a:avLst>
              <a:gd name="adj" fmla="val 10526"/>
            </a:avLst>
          </a:prstGeom>
          <a:solidFill>
            <a:srgbClr val="0F2E3D"/>
          </a:solidFill>
          <a:ln/>
        </p:spPr>
        <p:txBody>
          <a:bodyPr/>
          <a:p/>
        </p:txBody>
      </p:sp>
      <p:sp>
        <p:nvSpPr>
          <p:cNvPr id="21" name="Shape 16"/>
          <p:cNvSpPr/>
          <p:nvPr/>
        </p:nvSpPr>
        <p:spPr>
          <a:xfrm>
            <a:off x="905256" y="5449824"/>
            <a:ext cx="658368" cy="658368"/>
          </a:xfrm>
          <a:prstGeom prst="ellipse">
            <a:avLst/>
          </a:prstGeom>
          <a:solidFill>
            <a:srgbClr val="2EA79B"/>
          </a:solidFill>
          <a:ln/>
        </p:spPr>
        <p:txBody>
          <a:bodyPr/>
          <a:p/>
        </p:txBody>
      </p:sp>
      <p:pic>
        <p:nvPicPr>
          <p:cNvPr id="22" name="Image 3" descr="/tmp/build/assets/ic_bolt.png">    </p:cNvPr>
          <p:cNvPicPr>
            <a:picLocks noChangeAspect="1"/>
          </p:cNvPicPr>
          <p:nvPr/>
        </p:nvPicPr>
        <p:blipFill>
          <a:blip r:embed="rId4"/>
          <a:stretch>
            <a:fillRect/>
          </a:stretch>
        </p:blipFill>
        <p:spPr>
          <a:xfrm>
            <a:off x="1069848" y="5614416"/>
            <a:ext cx="329184" cy="329184"/>
          </a:xfrm>
          <a:prstGeom prst="rect">
            <a:avLst/>
          </a:prstGeom>
        </p:spPr>
      </p:pic>
      <p:sp>
        <p:nvSpPr>
          <p:cNvPr id="23" name="Text 17"/>
          <p:cNvSpPr txBox="1"/>
          <p:nvPr/>
        </p:nvSpPr>
        <p:spPr>
          <a:xfrm>
            <a:off x="1783080" y="5349240"/>
            <a:ext cx="9601200" cy="868680"/>
          </a:xfrm>
          <a:prstGeom prst="rect">
            <a:avLst/>
          </a:prstGeom>
          <a:noFill/>
          <a:ln/>
        </p:spPr>
        <p:txBody>
          <a:bodyPr wrap="square" lIns="0" tIns="0" rIns="0" bIns="0" rtlCol="0" anchor="ctr"/>
          <a:lstStyle/>
          <a:p>
            <a:pPr indent="0" marL="0">
              <a:lnSpc>
                <a:spcPct val="105000"/>
              </a:lnSpc>
              <a:buNone/>
            </a:pPr>
            <a:r>
              <a:rPr lang="en-US" sz="1550" b="1" dirty="0">
                <a:solidFill>
                  <a:srgbClr val="2EA79B"/>
                </a:solidFill>
                <a:latin typeface="Calibri" pitchFamily="34" charset="0"/>
                <a:ea typeface="Calibri" pitchFamily="34" charset="-122"/>
                <a:cs typeface="Calibri" pitchFamily="34" charset="-120"/>
              </a:rPr>
              <a:t>The opportunity:  </a:t>
            </a:r>
            <a:pPr indent="0" marL="0">
              <a:lnSpc>
                <a:spcPct val="105000"/>
              </a:lnSpc>
              <a:buNone/>
            </a:pPr>
            <a:r>
              <a:rPr lang="en-US" sz="1550" dirty="0">
                <a:solidFill>
                  <a:srgbClr val="E8F2F4"/>
                </a:solidFill>
                <a:latin typeface="Calibri" pitchFamily="34" charset="0"/>
                <a:ea typeface="Calibri" pitchFamily="34" charset="-122"/>
                <a:cs typeface="Calibri" pitchFamily="34" charset="-120"/>
              </a:rPr>
              <a:t>a deep-learning system that screens cells automatically — fast, consistent, and deployable where experts are not.</a:t>
            </a:r>
            <a:endParaRPr lang="en-US" sz="1550" dirty="0"/>
          </a:p>
        </p:txBody>
      </p:sp>
      <p:sp>
        <p:nvSpPr>
          <p:cNvPr id="24" name="Text 18"/>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5" name="Text 19"/>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PROBLEM STATEMENT</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What we set out to build</a:t>
            </a:r>
            <a:endParaRPr lang="en-US" sz="3000" dirty="0"/>
          </a:p>
        </p:txBody>
      </p:sp>
      <p:sp>
        <p:nvSpPr>
          <p:cNvPr id="4" name="Shape 2"/>
          <p:cNvSpPr/>
          <p:nvPr/>
        </p:nvSpPr>
        <p:spPr>
          <a:xfrm>
            <a:off x="548640" y="1508760"/>
            <a:ext cx="11091672" cy="1737360"/>
          </a:xfrm>
          <a:prstGeom prst="roundRect">
            <a:avLst>
              <a:gd name="adj" fmla="val 4737"/>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5" name="Shape 3"/>
          <p:cNvSpPr/>
          <p:nvPr/>
        </p:nvSpPr>
        <p:spPr>
          <a:xfrm>
            <a:off x="800100" y="1851660"/>
            <a:ext cx="1051560" cy="1051560"/>
          </a:xfrm>
          <a:prstGeom prst="ellipse">
            <a:avLst/>
          </a:prstGeom>
          <a:solidFill>
            <a:srgbClr val="137C8E"/>
          </a:solidFill>
          <a:ln/>
        </p:spPr>
        <p:txBody>
          <a:bodyPr/>
          <a:p/>
        </p:txBody>
      </p:sp>
      <p:pic>
        <p:nvPicPr>
          <p:cNvPr id="6" name="Image 0" descr="/tmp/build/assets/ic_target.png">    </p:cNvPr>
          <p:cNvPicPr>
            <a:picLocks noChangeAspect="1"/>
          </p:cNvPicPr>
          <p:nvPr/>
        </p:nvPicPr>
        <p:blipFill>
          <a:blip r:embed="rId1"/>
          <a:stretch>
            <a:fillRect/>
          </a:stretch>
        </p:blipFill>
        <p:spPr>
          <a:xfrm>
            <a:off x="1062990" y="2114550"/>
            <a:ext cx="525780" cy="525780"/>
          </a:xfrm>
          <a:prstGeom prst="rect">
            <a:avLst/>
          </a:prstGeom>
        </p:spPr>
      </p:pic>
      <p:sp>
        <p:nvSpPr>
          <p:cNvPr id="7" name="Text 4"/>
          <p:cNvSpPr txBox="1"/>
          <p:nvPr/>
        </p:nvSpPr>
        <p:spPr>
          <a:xfrm>
            <a:off x="2148840" y="1737360"/>
            <a:ext cx="9235440" cy="1280160"/>
          </a:xfrm>
          <a:prstGeom prst="rect">
            <a:avLst/>
          </a:prstGeom>
          <a:noFill/>
          <a:ln/>
        </p:spPr>
        <p:txBody>
          <a:bodyPr wrap="square" lIns="0" tIns="0" rIns="0" bIns="0" rtlCol="0" anchor="ctr"/>
          <a:lstStyle/>
          <a:p>
            <a:pPr indent="0" marL="0">
              <a:lnSpc>
                <a:spcPct val="112000"/>
              </a:lnSpc>
              <a:buNone/>
            </a:pPr>
            <a:r>
              <a:rPr lang="en-US" sz="2000" b="1" dirty="0">
                <a:solidFill>
                  <a:srgbClr val="17262E"/>
                </a:solidFill>
                <a:latin typeface="Cambria" pitchFamily="34" charset="0"/>
                <a:ea typeface="Cambria" pitchFamily="34" charset="-122"/>
                <a:cs typeface="Cambria" pitchFamily="34" charset="-120"/>
              </a:rPr>
              <a:t>Develop an automated deep-learning system that detects malaria parasites in red-blood-cell images</a:t>
            </a:r>
            <a:pPr indent="0" marL="0">
              <a:lnSpc>
                <a:spcPct val="112000"/>
              </a:lnSpc>
              <a:buNone/>
            </a:pPr>
            <a:r>
              <a:rPr lang="en-US" sz="2000" dirty="0">
                <a:solidFill>
                  <a:srgbClr val="41525B"/>
                </a:solidFill>
                <a:latin typeface="Cambria" pitchFamily="34" charset="0"/>
                <a:ea typeface="Cambria" pitchFamily="34" charset="-122"/>
                <a:cs typeface="Cambria" pitchFamily="34" charset="-120"/>
              </a:rPr>
              <a:t>, making screening more </a:t>
            </a:r>
            <a:pPr indent="0" marL="0">
              <a:lnSpc>
                <a:spcPct val="112000"/>
              </a:lnSpc>
              <a:buNone/>
            </a:pPr>
            <a:r>
              <a:rPr lang="en-US" sz="2000" b="1" dirty="0">
                <a:solidFill>
                  <a:srgbClr val="6C2D8F"/>
                </a:solidFill>
                <a:latin typeface="Cambria" pitchFamily="34" charset="0"/>
                <a:ea typeface="Cambria" pitchFamily="34" charset="-122"/>
                <a:cs typeface="Cambria" pitchFamily="34" charset="-120"/>
              </a:rPr>
              <a:t>accurate, consistent, fast</a:t>
            </a:r>
            <a:pPr indent="0" marL="0">
              <a:lnSpc>
                <a:spcPct val="112000"/>
              </a:lnSpc>
              <a:buNone/>
            </a:pPr>
            <a:r>
              <a:rPr lang="en-US" sz="2000" dirty="0">
                <a:solidFill>
                  <a:srgbClr val="41525B"/>
                </a:solidFill>
                <a:latin typeface="Cambria" pitchFamily="34" charset="0"/>
                <a:ea typeface="Cambria" pitchFamily="34" charset="-122"/>
                <a:cs typeface="Cambria" pitchFamily="34" charset="-120"/>
              </a:rPr>
              <a:t>, and potentially deployable on low-resource / mobile devices.</a:t>
            </a:r>
            <a:endParaRPr lang="en-US" sz="2000" dirty="0"/>
          </a:p>
        </p:txBody>
      </p:sp>
      <p:sp>
        <p:nvSpPr>
          <p:cNvPr id="8" name="Shape 5"/>
          <p:cNvSpPr/>
          <p:nvPr/>
        </p:nvSpPr>
        <p:spPr>
          <a:xfrm>
            <a:off x="548640" y="3520440"/>
            <a:ext cx="3520440" cy="1554480"/>
          </a:xfrm>
          <a:prstGeom prst="roundRect">
            <a:avLst>
              <a:gd name="adj" fmla="val 5294"/>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9" name="Shape 6"/>
          <p:cNvSpPr/>
          <p:nvPr/>
        </p:nvSpPr>
        <p:spPr>
          <a:xfrm>
            <a:off x="749808" y="3721608"/>
            <a:ext cx="731520" cy="731520"/>
          </a:xfrm>
          <a:prstGeom prst="ellipse">
            <a:avLst/>
          </a:prstGeom>
          <a:solidFill>
            <a:srgbClr val="137C8E"/>
          </a:solidFill>
          <a:ln/>
        </p:spPr>
        <p:txBody>
          <a:bodyPr/>
          <a:p/>
        </p:txBody>
      </p:sp>
      <p:pic>
        <p:nvPicPr>
          <p:cNvPr id="10" name="Image 1" descr="/tmp/build/assets/ic_magnify.png">    </p:cNvPr>
          <p:cNvPicPr>
            <a:picLocks noChangeAspect="1"/>
          </p:cNvPicPr>
          <p:nvPr/>
        </p:nvPicPr>
        <p:blipFill>
          <a:blip r:embed="rId2"/>
          <a:stretch>
            <a:fillRect/>
          </a:stretch>
        </p:blipFill>
        <p:spPr>
          <a:xfrm>
            <a:off x="925373" y="3897173"/>
            <a:ext cx="380390" cy="380390"/>
          </a:xfrm>
          <a:prstGeom prst="rect">
            <a:avLst/>
          </a:prstGeom>
        </p:spPr>
      </p:pic>
      <p:sp>
        <p:nvSpPr>
          <p:cNvPr id="11" name="Text 7"/>
          <p:cNvSpPr txBox="1"/>
          <p:nvPr/>
        </p:nvSpPr>
        <p:spPr>
          <a:xfrm>
            <a:off x="1600200" y="3776472"/>
            <a:ext cx="2331720" cy="365760"/>
          </a:xfrm>
          <a:prstGeom prst="rect">
            <a:avLst/>
          </a:prstGeom>
          <a:noFill/>
          <a:ln/>
        </p:spPr>
        <p:txBody>
          <a:bodyPr wrap="square" lIns="0" tIns="0" rIns="0" bIns="0" rtlCol="0" anchor="ctr"/>
          <a:lstStyle/>
          <a:p>
            <a:pPr indent="0" marL="0">
              <a:buNone/>
            </a:pPr>
            <a:r>
              <a:rPr lang="en-US" sz="1500" b="1" dirty="0">
                <a:solidFill>
                  <a:srgbClr val="17262E"/>
                </a:solidFill>
                <a:latin typeface="Calibri" pitchFamily="34" charset="0"/>
                <a:ea typeface="Calibri" pitchFamily="34" charset="-122"/>
                <a:cs typeface="Calibri" pitchFamily="34" charset="-120"/>
              </a:rPr>
              <a:t>Task</a:t>
            </a:r>
            <a:endParaRPr lang="en-US" sz="1500" dirty="0"/>
          </a:p>
        </p:txBody>
      </p:sp>
      <p:sp>
        <p:nvSpPr>
          <p:cNvPr id="12" name="Text 8"/>
          <p:cNvSpPr txBox="1"/>
          <p:nvPr/>
        </p:nvSpPr>
        <p:spPr>
          <a:xfrm>
            <a:off x="868680" y="4453128"/>
            <a:ext cx="2880360" cy="548640"/>
          </a:xfrm>
          <a:prstGeom prst="rect">
            <a:avLst/>
          </a:prstGeom>
          <a:noFill/>
          <a:ln/>
        </p:spPr>
        <p:txBody>
          <a:bodyPr wrap="square" lIns="0" tIns="0" rIns="0" bIns="0" rtlCol="0" anchor="ctr"/>
          <a:lstStyle/>
          <a:p>
            <a:pPr indent="0" marL="0">
              <a:lnSpc>
                <a:spcPct val="104000"/>
              </a:lnSpc>
              <a:buNone/>
            </a:pPr>
            <a:r>
              <a:rPr lang="en-US" sz="1250" dirty="0">
                <a:solidFill>
                  <a:srgbClr val="41525B"/>
                </a:solidFill>
                <a:latin typeface="Calibri" pitchFamily="34" charset="0"/>
                <a:ea typeface="Calibri" pitchFamily="34" charset="-122"/>
                <a:cs typeface="Calibri" pitchFamily="34" charset="-120"/>
              </a:rPr>
              <a:t>Binary classification of single RBC crops: parasitized vs. uninfected</a:t>
            </a:r>
            <a:endParaRPr lang="en-US" sz="1250" dirty="0"/>
          </a:p>
        </p:txBody>
      </p:sp>
      <p:sp>
        <p:nvSpPr>
          <p:cNvPr id="13" name="Shape 9"/>
          <p:cNvSpPr/>
          <p:nvPr/>
        </p:nvSpPr>
        <p:spPr>
          <a:xfrm>
            <a:off x="4325112" y="3520440"/>
            <a:ext cx="3520440" cy="1554480"/>
          </a:xfrm>
          <a:prstGeom prst="roundRect">
            <a:avLst>
              <a:gd name="adj" fmla="val 5294"/>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4" name="Shape 10"/>
          <p:cNvSpPr/>
          <p:nvPr/>
        </p:nvSpPr>
        <p:spPr>
          <a:xfrm>
            <a:off x="4526280" y="3721608"/>
            <a:ext cx="731520" cy="731520"/>
          </a:xfrm>
          <a:prstGeom prst="ellipse">
            <a:avLst/>
          </a:prstGeom>
          <a:solidFill>
            <a:srgbClr val="8A43B0"/>
          </a:solidFill>
          <a:ln/>
        </p:spPr>
        <p:txBody>
          <a:bodyPr/>
          <a:p/>
        </p:txBody>
      </p:sp>
      <p:pic>
        <p:nvPicPr>
          <p:cNvPr id="15" name="Image 2" descr="/tmp/build/assets/ic_gears.png">    </p:cNvPr>
          <p:cNvPicPr>
            <a:picLocks noChangeAspect="1"/>
          </p:cNvPicPr>
          <p:nvPr/>
        </p:nvPicPr>
        <p:blipFill>
          <a:blip r:embed="rId3"/>
          <a:stretch>
            <a:fillRect/>
          </a:stretch>
        </p:blipFill>
        <p:spPr>
          <a:xfrm>
            <a:off x="4701845" y="3897173"/>
            <a:ext cx="380390" cy="380390"/>
          </a:xfrm>
          <a:prstGeom prst="rect">
            <a:avLst/>
          </a:prstGeom>
        </p:spPr>
      </p:pic>
      <p:sp>
        <p:nvSpPr>
          <p:cNvPr id="16" name="Text 11"/>
          <p:cNvSpPr txBox="1"/>
          <p:nvPr/>
        </p:nvSpPr>
        <p:spPr>
          <a:xfrm>
            <a:off x="5376672" y="3776472"/>
            <a:ext cx="2331720" cy="365760"/>
          </a:xfrm>
          <a:prstGeom prst="rect">
            <a:avLst/>
          </a:prstGeom>
          <a:noFill/>
          <a:ln/>
        </p:spPr>
        <p:txBody>
          <a:bodyPr wrap="square" lIns="0" tIns="0" rIns="0" bIns="0" rtlCol="0" anchor="ctr"/>
          <a:lstStyle/>
          <a:p>
            <a:pPr indent="0" marL="0">
              <a:buNone/>
            </a:pPr>
            <a:r>
              <a:rPr lang="en-US" sz="1500" b="1" dirty="0">
                <a:solidFill>
                  <a:srgbClr val="17262E"/>
                </a:solidFill>
                <a:latin typeface="Calibri" pitchFamily="34" charset="0"/>
                <a:ea typeface="Calibri" pitchFamily="34" charset="-122"/>
                <a:cs typeface="Calibri" pitchFamily="34" charset="-120"/>
              </a:rPr>
              <a:t>Method</a:t>
            </a:r>
            <a:endParaRPr lang="en-US" sz="1500" dirty="0"/>
          </a:p>
        </p:txBody>
      </p:sp>
      <p:sp>
        <p:nvSpPr>
          <p:cNvPr id="17" name="Text 12"/>
          <p:cNvSpPr txBox="1"/>
          <p:nvPr/>
        </p:nvSpPr>
        <p:spPr>
          <a:xfrm>
            <a:off x="4645152" y="4453128"/>
            <a:ext cx="2880360" cy="548640"/>
          </a:xfrm>
          <a:prstGeom prst="rect">
            <a:avLst/>
          </a:prstGeom>
          <a:noFill/>
          <a:ln/>
        </p:spPr>
        <p:txBody>
          <a:bodyPr wrap="square" lIns="0" tIns="0" rIns="0" bIns="0" rtlCol="0" anchor="ctr"/>
          <a:lstStyle/>
          <a:p>
            <a:pPr indent="0" marL="0">
              <a:lnSpc>
                <a:spcPct val="104000"/>
              </a:lnSpc>
              <a:buNone/>
            </a:pPr>
            <a:r>
              <a:rPr lang="en-US" sz="1250" dirty="0">
                <a:solidFill>
                  <a:srgbClr val="41525B"/>
                </a:solidFill>
                <a:latin typeface="Calibri" pitchFamily="34" charset="0"/>
                <a:ea typeface="Calibri" pitchFamily="34" charset="-122"/>
                <a:cs typeface="Calibri" pitchFamily="34" charset="-120"/>
              </a:rPr>
              <a:t>Convolutional / capsule deep networks — no hand-crafted features</a:t>
            </a:r>
            <a:endParaRPr lang="en-US" sz="1250" dirty="0"/>
          </a:p>
        </p:txBody>
      </p:sp>
      <p:sp>
        <p:nvSpPr>
          <p:cNvPr id="18" name="Shape 13"/>
          <p:cNvSpPr/>
          <p:nvPr/>
        </p:nvSpPr>
        <p:spPr>
          <a:xfrm>
            <a:off x="8101584" y="3520440"/>
            <a:ext cx="3520440" cy="1554480"/>
          </a:xfrm>
          <a:prstGeom prst="roundRect">
            <a:avLst>
              <a:gd name="adj" fmla="val 5294"/>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9" name="Shape 14"/>
          <p:cNvSpPr/>
          <p:nvPr/>
        </p:nvSpPr>
        <p:spPr>
          <a:xfrm>
            <a:off x="8302752" y="3721608"/>
            <a:ext cx="731520" cy="731520"/>
          </a:xfrm>
          <a:prstGeom prst="ellipse">
            <a:avLst/>
          </a:prstGeom>
          <a:solidFill>
            <a:srgbClr val="2EA79B"/>
          </a:solidFill>
          <a:ln/>
        </p:spPr>
        <p:txBody>
          <a:bodyPr/>
          <a:p/>
        </p:txBody>
      </p:sp>
      <p:pic>
        <p:nvPicPr>
          <p:cNvPr id="20" name="Image 3" descr="/tmp/build/assets/ic_mobile.png">    </p:cNvPr>
          <p:cNvPicPr>
            <a:picLocks noChangeAspect="1"/>
          </p:cNvPicPr>
          <p:nvPr/>
        </p:nvPicPr>
        <p:blipFill>
          <a:blip r:embed="rId4"/>
          <a:stretch>
            <a:fillRect/>
          </a:stretch>
        </p:blipFill>
        <p:spPr>
          <a:xfrm>
            <a:off x="8478317" y="3897173"/>
            <a:ext cx="380390" cy="380390"/>
          </a:xfrm>
          <a:prstGeom prst="rect">
            <a:avLst/>
          </a:prstGeom>
        </p:spPr>
      </p:pic>
      <p:sp>
        <p:nvSpPr>
          <p:cNvPr id="21" name="Text 15"/>
          <p:cNvSpPr txBox="1"/>
          <p:nvPr/>
        </p:nvSpPr>
        <p:spPr>
          <a:xfrm>
            <a:off x="9153144" y="3776472"/>
            <a:ext cx="2331720" cy="365760"/>
          </a:xfrm>
          <a:prstGeom prst="rect">
            <a:avLst/>
          </a:prstGeom>
          <a:noFill/>
          <a:ln/>
        </p:spPr>
        <p:txBody>
          <a:bodyPr wrap="square" lIns="0" tIns="0" rIns="0" bIns="0" rtlCol="0" anchor="ctr"/>
          <a:lstStyle/>
          <a:p>
            <a:pPr indent="0" marL="0">
              <a:buNone/>
            </a:pPr>
            <a:r>
              <a:rPr lang="en-US" sz="1500" b="1" dirty="0">
                <a:solidFill>
                  <a:srgbClr val="17262E"/>
                </a:solidFill>
                <a:latin typeface="Calibri" pitchFamily="34" charset="0"/>
                <a:ea typeface="Calibri" pitchFamily="34" charset="-122"/>
                <a:cs typeface="Calibri" pitchFamily="34" charset="-120"/>
              </a:rPr>
              <a:t>Goal</a:t>
            </a:r>
            <a:endParaRPr lang="en-US" sz="1500" dirty="0"/>
          </a:p>
        </p:txBody>
      </p:sp>
      <p:sp>
        <p:nvSpPr>
          <p:cNvPr id="22" name="Text 16"/>
          <p:cNvSpPr txBox="1"/>
          <p:nvPr/>
        </p:nvSpPr>
        <p:spPr>
          <a:xfrm>
            <a:off x="8421624" y="4453128"/>
            <a:ext cx="2880360" cy="548640"/>
          </a:xfrm>
          <a:prstGeom prst="rect">
            <a:avLst/>
          </a:prstGeom>
          <a:noFill/>
          <a:ln/>
        </p:spPr>
        <p:txBody>
          <a:bodyPr wrap="square" lIns="0" tIns="0" rIns="0" bIns="0" rtlCol="0" anchor="ctr"/>
          <a:lstStyle/>
          <a:p>
            <a:pPr indent="0" marL="0">
              <a:lnSpc>
                <a:spcPct val="104000"/>
              </a:lnSpc>
              <a:buNone/>
            </a:pPr>
            <a:r>
              <a:rPr lang="en-US" sz="1250" dirty="0">
                <a:solidFill>
                  <a:srgbClr val="41525B"/>
                </a:solidFill>
                <a:latin typeface="Calibri" pitchFamily="34" charset="0"/>
                <a:ea typeface="Calibri" pitchFamily="34" charset="-122"/>
                <a:cs typeface="Calibri" pitchFamily="34" charset="-120"/>
              </a:rPr>
              <a:t>Clinically reliable and light enough for point-of-care use</a:t>
            </a:r>
            <a:endParaRPr lang="en-US" sz="1250" dirty="0"/>
          </a:p>
        </p:txBody>
      </p:sp>
      <p:sp>
        <p:nvSpPr>
          <p:cNvPr id="23" name="Text 17"/>
          <p:cNvSpPr txBox="1"/>
          <p:nvPr/>
        </p:nvSpPr>
        <p:spPr>
          <a:xfrm>
            <a:off x="548640" y="5321808"/>
            <a:ext cx="11064240" cy="548640"/>
          </a:xfrm>
          <a:prstGeom prst="rect">
            <a:avLst/>
          </a:prstGeom>
          <a:noFill/>
          <a:ln/>
        </p:spPr>
        <p:txBody>
          <a:bodyPr wrap="square" lIns="0" tIns="0" rIns="0" bIns="0" rtlCol="0" anchor="ctr"/>
          <a:lstStyle/>
          <a:p>
            <a:pPr indent="0" marL="0">
              <a:buNone/>
            </a:pPr>
            <a:r>
              <a:rPr lang="en-US" sz="1400" b="1" dirty="0">
                <a:solidFill>
                  <a:srgbClr val="137C8E"/>
                </a:solidFill>
                <a:latin typeface="Calibri" pitchFamily="34" charset="0"/>
                <a:ea typeface="Calibri" pitchFamily="34" charset="-122"/>
                <a:cs typeface="Calibri" pitchFamily="34" charset="-120"/>
              </a:rPr>
              <a:t>Scope:  </a:t>
            </a:r>
            <a:pPr indent="0" marL="0">
              <a:buNone/>
            </a:pPr>
            <a:r>
              <a:rPr lang="en-US" sz="1400" dirty="0">
                <a:solidFill>
                  <a:srgbClr val="41525B"/>
                </a:solidFill>
                <a:latin typeface="Calibri" pitchFamily="34" charset="0"/>
                <a:ea typeface="Calibri" pitchFamily="34" charset="-122"/>
                <a:cs typeface="Calibri" pitchFamily="34" charset="-120"/>
              </a:rPr>
              <a:t>Stage 1 — literature survey of 11 studies (slides 5–16).  Stage 2 — reproduce the base paper and state our hypothesis (slides 17–23).</a:t>
            </a:r>
            <a:endParaRPr lang="en-US" sz="1400" dirty="0"/>
          </a:p>
        </p:txBody>
      </p:sp>
      <p:sp>
        <p:nvSpPr>
          <p:cNvPr id="24" name="Text 18"/>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5" name="Text 19"/>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THE DATASET</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NIH Malaria Cell Images Dataset</a:t>
            </a:r>
            <a:endParaRPr lang="en-US" sz="3000" dirty="0"/>
          </a:p>
        </p:txBody>
      </p:sp>
      <p:sp>
        <p:nvSpPr>
          <p:cNvPr id="4" name="Text 2"/>
          <p:cNvSpPr txBox="1"/>
          <p:nvPr/>
        </p:nvSpPr>
        <p:spPr>
          <a:xfrm>
            <a:off x="548640" y="1481328"/>
            <a:ext cx="6766560" cy="914400"/>
          </a:xfrm>
          <a:prstGeom prst="rect">
            <a:avLst/>
          </a:prstGeom>
          <a:noFill/>
          <a:ln/>
        </p:spPr>
        <p:txBody>
          <a:bodyPr wrap="square" lIns="0" tIns="0" rIns="0" bIns="0" rtlCol="0" anchor="ctr"/>
          <a:lstStyle/>
          <a:p>
            <a:pPr indent="0" marL="0">
              <a:lnSpc>
                <a:spcPct val="110000"/>
              </a:lnSpc>
              <a:buNone/>
            </a:pPr>
            <a:r>
              <a:rPr lang="en-US" sz="1550" dirty="0">
                <a:solidFill>
                  <a:srgbClr val="41525B"/>
                </a:solidFill>
                <a:latin typeface="Calibri" pitchFamily="34" charset="0"/>
                <a:ea typeface="Calibri" pitchFamily="34" charset="-122"/>
                <a:cs typeface="Calibri" pitchFamily="34" charset="-120"/>
              </a:rPr>
              <a:t>The common benchmark across </a:t>
            </a:r>
            <a:pPr indent="0" marL="0">
              <a:lnSpc>
                <a:spcPct val="110000"/>
              </a:lnSpc>
              <a:buNone/>
            </a:pPr>
            <a:r>
              <a:rPr lang="en-US" sz="1550" b="1" dirty="0">
                <a:solidFill>
                  <a:srgbClr val="6C2D8F"/>
                </a:solidFill>
                <a:latin typeface="Calibri" pitchFamily="34" charset="0"/>
                <a:ea typeface="Calibri" pitchFamily="34" charset="-122"/>
                <a:cs typeface="Calibri" pitchFamily="34" charset="-120"/>
              </a:rPr>
              <a:t>all 11 studies</a:t>
            </a:r>
            <a:pPr indent="0" marL="0">
              <a:lnSpc>
                <a:spcPct val="110000"/>
              </a:lnSpc>
              <a:buNone/>
            </a:pPr>
            <a:r>
              <a:rPr lang="en-US" sz="1550" dirty="0">
                <a:solidFill>
                  <a:srgbClr val="41525B"/>
                </a:solidFill>
                <a:latin typeface="Calibri" pitchFamily="34" charset="0"/>
                <a:ea typeface="Calibri" pitchFamily="34" charset="-122"/>
                <a:cs typeface="Calibri" pitchFamily="34" charset="-120"/>
              </a:rPr>
              <a:t>. Built from Giemsa-stained thin blood smears at Chittagong Medical College Hospital, Bangladesh, and segmented into single cells.</a:t>
            </a:r>
            <a:endParaRPr lang="en-US" sz="1550" dirty="0"/>
          </a:p>
        </p:txBody>
      </p:sp>
      <p:sp>
        <p:nvSpPr>
          <p:cNvPr id="5" name="Shape 3"/>
          <p:cNvSpPr/>
          <p:nvPr/>
        </p:nvSpPr>
        <p:spPr>
          <a:xfrm>
            <a:off x="548640" y="2514600"/>
            <a:ext cx="2148840" cy="1371600"/>
          </a:xfrm>
          <a:prstGeom prst="roundRect">
            <a:avLst>
              <a:gd name="adj" fmla="val 6000"/>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Text 4"/>
          <p:cNvSpPr txBox="1"/>
          <p:nvPr/>
        </p:nvSpPr>
        <p:spPr>
          <a:xfrm>
            <a:off x="658368" y="2697480"/>
            <a:ext cx="1929384" cy="640080"/>
          </a:xfrm>
          <a:prstGeom prst="rect">
            <a:avLst/>
          </a:prstGeom>
          <a:noFill/>
          <a:ln/>
        </p:spPr>
        <p:txBody>
          <a:bodyPr wrap="square" lIns="0" tIns="0" rIns="0" bIns="0" rtlCol="0" anchor="ctr"/>
          <a:lstStyle/>
          <a:p>
            <a:pPr algn="ctr" indent="0" marL="0">
              <a:buNone/>
            </a:pPr>
            <a:r>
              <a:rPr lang="en-US" sz="3300" b="1" dirty="0">
                <a:solidFill>
                  <a:srgbClr val="137C8E"/>
                </a:solidFill>
                <a:latin typeface="Cambria" pitchFamily="34" charset="0"/>
                <a:ea typeface="Cambria" pitchFamily="34" charset="-122"/>
                <a:cs typeface="Cambria" pitchFamily="34" charset="-120"/>
              </a:rPr>
              <a:t>27,558</a:t>
            </a:r>
            <a:endParaRPr lang="en-US" sz="3300" dirty="0"/>
          </a:p>
        </p:txBody>
      </p:sp>
      <p:sp>
        <p:nvSpPr>
          <p:cNvPr id="7" name="Text 5"/>
          <p:cNvSpPr txBox="1"/>
          <p:nvPr/>
        </p:nvSpPr>
        <p:spPr>
          <a:xfrm>
            <a:off x="685800" y="3355848"/>
            <a:ext cx="1874520" cy="457200"/>
          </a:xfrm>
          <a:prstGeom prst="rect">
            <a:avLst/>
          </a:prstGeom>
          <a:noFill/>
          <a:ln/>
        </p:spPr>
        <p:txBody>
          <a:bodyPr wrap="square" lIns="0" tIns="0" rIns="0" bIns="0" rtlCol="0" anchor="ctr"/>
          <a:lstStyle/>
          <a:p>
            <a:pPr algn="ctr" indent="0" marL="0">
              <a:lnSpc>
                <a:spcPct val="100000"/>
              </a:lnSpc>
              <a:buNone/>
            </a:pPr>
            <a:r>
              <a:rPr lang="en-US" sz="1150" dirty="0">
                <a:solidFill>
                  <a:srgbClr val="41525B"/>
                </a:solidFill>
                <a:latin typeface="Calibri" pitchFamily="34" charset="0"/>
                <a:ea typeface="Calibri" pitchFamily="34" charset="-122"/>
                <a:cs typeface="Calibri" pitchFamily="34" charset="-120"/>
              </a:rPr>
              <a:t>segmented single-cell images</a:t>
            </a:r>
            <a:endParaRPr lang="en-US" sz="1150" dirty="0"/>
          </a:p>
        </p:txBody>
      </p:sp>
      <p:sp>
        <p:nvSpPr>
          <p:cNvPr id="8" name="Shape 6"/>
          <p:cNvSpPr/>
          <p:nvPr/>
        </p:nvSpPr>
        <p:spPr>
          <a:xfrm>
            <a:off x="2880360" y="2514600"/>
            <a:ext cx="2148840" cy="1371600"/>
          </a:xfrm>
          <a:prstGeom prst="roundRect">
            <a:avLst>
              <a:gd name="adj" fmla="val 6000"/>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9" name="Text 7"/>
          <p:cNvSpPr txBox="1"/>
          <p:nvPr/>
        </p:nvSpPr>
        <p:spPr>
          <a:xfrm>
            <a:off x="2990088" y="2697480"/>
            <a:ext cx="1929384" cy="640080"/>
          </a:xfrm>
          <a:prstGeom prst="rect">
            <a:avLst/>
          </a:prstGeom>
          <a:noFill/>
          <a:ln/>
        </p:spPr>
        <p:txBody>
          <a:bodyPr wrap="square" lIns="0" tIns="0" rIns="0" bIns="0" rtlCol="0" anchor="ctr"/>
          <a:lstStyle/>
          <a:p>
            <a:pPr algn="ctr" indent="0" marL="0">
              <a:buNone/>
            </a:pPr>
            <a:r>
              <a:rPr lang="en-US" sz="3300" b="1" dirty="0">
                <a:solidFill>
                  <a:srgbClr val="137C8E"/>
                </a:solidFill>
                <a:latin typeface="Cambria" pitchFamily="34" charset="0"/>
                <a:ea typeface="Cambria" pitchFamily="34" charset="-122"/>
                <a:cs typeface="Cambria" pitchFamily="34" charset="-120"/>
              </a:rPr>
              <a:t>50 / 50</a:t>
            </a:r>
            <a:endParaRPr lang="en-US" sz="3300" dirty="0"/>
          </a:p>
        </p:txBody>
      </p:sp>
      <p:sp>
        <p:nvSpPr>
          <p:cNvPr id="10" name="Text 8"/>
          <p:cNvSpPr txBox="1"/>
          <p:nvPr/>
        </p:nvSpPr>
        <p:spPr>
          <a:xfrm>
            <a:off x="3017520" y="3355848"/>
            <a:ext cx="1874520" cy="457200"/>
          </a:xfrm>
          <a:prstGeom prst="rect">
            <a:avLst/>
          </a:prstGeom>
          <a:noFill/>
          <a:ln/>
        </p:spPr>
        <p:txBody>
          <a:bodyPr wrap="square" lIns="0" tIns="0" rIns="0" bIns="0" rtlCol="0" anchor="ctr"/>
          <a:lstStyle/>
          <a:p>
            <a:pPr algn="ctr" indent="0" marL="0">
              <a:lnSpc>
                <a:spcPct val="100000"/>
              </a:lnSpc>
              <a:buNone/>
            </a:pPr>
            <a:r>
              <a:rPr lang="en-US" sz="1150" dirty="0">
                <a:solidFill>
                  <a:srgbClr val="41525B"/>
                </a:solidFill>
                <a:latin typeface="Calibri" pitchFamily="34" charset="0"/>
                <a:ea typeface="Calibri" pitchFamily="34" charset="-122"/>
                <a:cs typeface="Calibri" pitchFamily="34" charset="-120"/>
              </a:rPr>
              <a:t>infected vs. uninfected — balanced</a:t>
            </a:r>
            <a:endParaRPr lang="en-US" sz="1150" dirty="0"/>
          </a:p>
        </p:txBody>
      </p:sp>
      <p:sp>
        <p:nvSpPr>
          <p:cNvPr id="11" name="Shape 9"/>
          <p:cNvSpPr/>
          <p:nvPr/>
        </p:nvSpPr>
        <p:spPr>
          <a:xfrm>
            <a:off x="5212080" y="2514600"/>
            <a:ext cx="2148840" cy="1371600"/>
          </a:xfrm>
          <a:prstGeom prst="roundRect">
            <a:avLst>
              <a:gd name="adj" fmla="val 6000"/>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2" name="Text 10"/>
          <p:cNvSpPr txBox="1"/>
          <p:nvPr/>
        </p:nvSpPr>
        <p:spPr>
          <a:xfrm>
            <a:off x="5321808" y="2697480"/>
            <a:ext cx="1929384" cy="640080"/>
          </a:xfrm>
          <a:prstGeom prst="rect">
            <a:avLst/>
          </a:prstGeom>
          <a:noFill/>
          <a:ln/>
        </p:spPr>
        <p:txBody>
          <a:bodyPr wrap="square" lIns="0" tIns="0" rIns="0" bIns="0" rtlCol="0" anchor="ctr"/>
          <a:lstStyle/>
          <a:p>
            <a:pPr algn="ctr" indent="0" marL="0">
              <a:buNone/>
            </a:pPr>
            <a:r>
              <a:rPr lang="en-US" sz="3300" b="1" dirty="0">
                <a:solidFill>
                  <a:srgbClr val="137C8E"/>
                </a:solidFill>
                <a:latin typeface="Cambria" pitchFamily="34" charset="0"/>
                <a:ea typeface="Cambria" pitchFamily="34" charset="-122"/>
                <a:cs typeface="Cambria" pitchFamily="34" charset="-120"/>
              </a:rPr>
              <a:t>200</a:t>
            </a:r>
            <a:endParaRPr lang="en-US" sz="3300" dirty="0"/>
          </a:p>
        </p:txBody>
      </p:sp>
      <p:sp>
        <p:nvSpPr>
          <p:cNvPr id="13" name="Text 11"/>
          <p:cNvSpPr txBox="1"/>
          <p:nvPr/>
        </p:nvSpPr>
        <p:spPr>
          <a:xfrm>
            <a:off x="5349240" y="3355848"/>
            <a:ext cx="1874520" cy="457200"/>
          </a:xfrm>
          <a:prstGeom prst="rect">
            <a:avLst/>
          </a:prstGeom>
          <a:noFill/>
          <a:ln/>
        </p:spPr>
        <p:txBody>
          <a:bodyPr wrap="square" lIns="0" tIns="0" rIns="0" bIns="0" rtlCol="0" anchor="ctr"/>
          <a:lstStyle/>
          <a:p>
            <a:pPr algn="ctr" indent="0" marL="0">
              <a:lnSpc>
                <a:spcPct val="100000"/>
              </a:lnSpc>
              <a:buNone/>
            </a:pPr>
            <a:r>
              <a:rPr lang="en-US" sz="1150" dirty="0">
                <a:solidFill>
                  <a:srgbClr val="41525B"/>
                </a:solidFill>
                <a:latin typeface="Calibri" pitchFamily="34" charset="0"/>
                <a:ea typeface="Calibri" pitchFamily="34" charset="-122"/>
                <a:cs typeface="Calibri" pitchFamily="34" charset="-120"/>
              </a:rPr>
              <a:t>patients (150 infected, 50 healthy)</a:t>
            </a:r>
            <a:endParaRPr lang="en-US" sz="1150" dirty="0"/>
          </a:p>
        </p:txBody>
      </p:sp>
      <p:sp>
        <p:nvSpPr>
          <p:cNvPr id="14" name="Shape 12"/>
          <p:cNvSpPr/>
          <p:nvPr/>
        </p:nvSpPr>
        <p:spPr>
          <a:xfrm>
            <a:off x="548640" y="4114800"/>
            <a:ext cx="6537960" cy="2057400"/>
          </a:xfrm>
          <a:prstGeom prst="roundRect">
            <a:avLst>
              <a:gd name="adj" fmla="val 4444"/>
            </a:avLst>
          </a:prstGeom>
          <a:solidFill>
            <a:srgbClr val="F5F9FA"/>
          </a:solidFill>
          <a:ln w="12700">
            <a:solidFill>
              <a:srgbClr val="D3E1E6"/>
            </a:solidFill>
            <a:prstDash val="solid"/>
          </a:ln>
        </p:spPr>
        <p:txBody>
          <a:bodyPr/>
          <a:p/>
        </p:txBody>
      </p:sp>
      <p:sp>
        <p:nvSpPr>
          <p:cNvPr id="15" name="Shape 13"/>
          <p:cNvSpPr/>
          <p:nvPr/>
        </p:nvSpPr>
        <p:spPr>
          <a:xfrm>
            <a:off x="877824" y="4425696"/>
            <a:ext cx="658368" cy="658368"/>
          </a:xfrm>
          <a:prstGeom prst="ellipse">
            <a:avLst/>
          </a:prstGeom>
          <a:solidFill>
            <a:srgbClr val="8A43B0"/>
          </a:solidFill>
          <a:ln/>
        </p:spPr>
        <p:txBody>
          <a:bodyPr/>
          <a:p/>
        </p:txBody>
      </p:sp>
      <p:pic>
        <p:nvPicPr>
          <p:cNvPr id="16" name="Image 0" descr="/tmp/build/assets/ic_check.png">    </p:cNvPr>
          <p:cNvPicPr>
            <a:picLocks noChangeAspect="1"/>
          </p:cNvPicPr>
          <p:nvPr/>
        </p:nvPicPr>
        <p:blipFill>
          <a:blip r:embed="rId1"/>
          <a:stretch>
            <a:fillRect/>
          </a:stretch>
        </p:blipFill>
        <p:spPr>
          <a:xfrm>
            <a:off x="1042416" y="4590288"/>
            <a:ext cx="329184" cy="329184"/>
          </a:xfrm>
          <a:prstGeom prst="rect">
            <a:avLst/>
          </a:prstGeom>
        </p:spPr>
      </p:pic>
      <p:sp>
        <p:nvSpPr>
          <p:cNvPr id="17" name="Text 14"/>
          <p:cNvSpPr txBox="1"/>
          <p:nvPr/>
        </p:nvSpPr>
        <p:spPr>
          <a:xfrm>
            <a:off x="1737360" y="4315968"/>
            <a:ext cx="5212080" cy="365760"/>
          </a:xfrm>
          <a:prstGeom prst="rect">
            <a:avLst/>
          </a:prstGeom>
          <a:noFill/>
          <a:ln/>
        </p:spPr>
        <p:txBody>
          <a:bodyPr wrap="square" lIns="0" tIns="0" rIns="0" bIns="0" rtlCol="0" anchor="ctr"/>
          <a:lstStyle/>
          <a:p>
            <a:pPr indent="0" marL="0">
              <a:buNone/>
            </a:pPr>
            <a:r>
              <a:rPr lang="en-US" sz="1650" b="1" dirty="0">
                <a:solidFill>
                  <a:srgbClr val="17262E"/>
                </a:solidFill>
                <a:latin typeface="Cambria" pitchFamily="34" charset="0"/>
                <a:ea typeface="Cambria" pitchFamily="34" charset="-122"/>
                <a:cs typeface="Cambria" pitchFamily="34" charset="-120"/>
              </a:rPr>
              <a:t>A hidden problem — noisy labels</a:t>
            </a:r>
            <a:endParaRPr lang="en-US" sz="1650" dirty="0"/>
          </a:p>
        </p:txBody>
      </p:sp>
      <p:sp>
        <p:nvSpPr>
          <p:cNvPr id="18" name="Text 15"/>
          <p:cNvSpPr txBox="1"/>
          <p:nvPr/>
        </p:nvSpPr>
        <p:spPr>
          <a:xfrm>
            <a:off x="1737360" y="4736592"/>
            <a:ext cx="5074920" cy="1325880"/>
          </a:xfrm>
          <a:prstGeom prst="rect">
            <a:avLst/>
          </a:prstGeom>
          <a:noFill/>
          <a:ln/>
        </p:spPr>
        <p:txBody>
          <a:bodyPr wrap="square" lIns="0" tIns="0" rIns="0" bIns="0" rtlCol="0" anchor="ctr"/>
          <a:lstStyle/>
          <a:p>
            <a:pPr indent="0" marL="0">
              <a:lnSpc>
                <a:spcPct val="108000"/>
              </a:lnSpc>
              <a:buNone/>
            </a:pPr>
            <a:r>
              <a:rPr lang="en-US" sz="1350" b="1" dirty="0">
                <a:solidFill>
                  <a:srgbClr val="6C2D8F"/>
                </a:solidFill>
                <a:latin typeface="Calibri" pitchFamily="34" charset="0"/>
                <a:ea typeface="Calibri" pitchFamily="34" charset="-122"/>
                <a:cs typeface="Calibri" pitchFamily="34" charset="-120"/>
              </a:rPr>
              <a:t>Fuhad et al. [5] </a:t>
            </a:r>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found staining artifacts mislabeled as parasites and manually cleaned the set to </a:t>
            </a:r>
            <a:pPr indent="0" marL="0">
              <a:lnSpc>
                <a:spcPct val="108000"/>
              </a:lnSpc>
              <a:buNone/>
            </a:pPr>
            <a:r>
              <a:rPr lang="en-US" sz="1350" b="1" dirty="0">
                <a:solidFill>
                  <a:srgbClr val="17262E"/>
                </a:solidFill>
                <a:latin typeface="Calibri" pitchFamily="34" charset="0"/>
                <a:ea typeface="Calibri" pitchFamily="34" charset="-122"/>
                <a:cs typeface="Calibri" pitchFamily="34" charset="-120"/>
              </a:rPr>
              <a:t>26,161 verified images</a:t>
            </a:r>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 (13,132 parasitized · 13,029 uninfected) — a cleaner, more trustworthy benchmark.</a:t>
            </a:r>
            <a:endParaRPr lang="en-US" sz="1350" dirty="0"/>
          </a:p>
        </p:txBody>
      </p:sp>
      <p:sp>
        <p:nvSpPr>
          <p:cNvPr id="19" name="Shape 16"/>
          <p:cNvSpPr/>
          <p:nvPr/>
        </p:nvSpPr>
        <p:spPr>
          <a:xfrm>
            <a:off x="7452360" y="1481328"/>
            <a:ext cx="4206240" cy="4690872"/>
          </a:xfrm>
          <a:prstGeom prst="roundRect">
            <a:avLst>
              <a:gd name="adj" fmla="val 1957"/>
            </a:avLst>
          </a:prstGeom>
          <a:solidFill>
            <a:srgbClr val="0F2E3D"/>
          </a:solidFill>
          <a:ln w="12700">
            <a:solidFill>
              <a:srgbClr val="0F2E3D"/>
            </a:solidFill>
            <a:prstDash val="solid"/>
          </a:ln>
          <a:effectLst>
            <a:outerShdw sx="100000" sy="100000" kx="0" ky="0" algn="bl" rotWithShape="0" blurRad="76200" dist="25400" dir="5400000">
              <a:srgbClr val="9FB4BC">
                <a:alpha val="28000"/>
              </a:srgbClr>
            </a:outerShdw>
          </a:effectLst>
        </p:spPr>
        <p:txBody>
          <a:bodyPr/>
          <a:p/>
        </p:txBody>
      </p:sp>
      <p:sp>
        <p:nvSpPr>
          <p:cNvPr id="20" name="Text 17"/>
          <p:cNvSpPr txBox="1"/>
          <p:nvPr/>
        </p:nvSpPr>
        <p:spPr>
          <a:xfrm>
            <a:off x="7680960" y="1691640"/>
            <a:ext cx="3749040" cy="365760"/>
          </a:xfrm>
          <a:prstGeom prst="rect">
            <a:avLst/>
          </a:prstGeom>
          <a:noFill/>
          <a:ln/>
        </p:spPr>
        <p:txBody>
          <a:bodyPr wrap="square" lIns="0" tIns="0" rIns="0" bIns="0" rtlCol="0" anchor="ctr"/>
          <a:lstStyle/>
          <a:p>
            <a:pPr algn="ctr" indent="0" marL="0">
              <a:buNone/>
            </a:pPr>
            <a:r>
              <a:rPr lang="en-US" sz="1650" b="1" dirty="0">
                <a:solidFill>
                  <a:srgbClr val="FFFFFF"/>
                </a:solidFill>
                <a:latin typeface="Cambria" pitchFamily="34" charset="0"/>
                <a:ea typeface="Cambria" pitchFamily="34" charset="-122"/>
                <a:cs typeface="Cambria" pitchFamily="34" charset="-120"/>
              </a:rPr>
              <a:t>What one cell looks like</a:t>
            </a:r>
            <a:endParaRPr lang="en-US" sz="1650" dirty="0"/>
          </a:p>
        </p:txBody>
      </p:sp>
      <p:pic>
        <p:nvPicPr>
          <p:cNvPr id="21" name="Image 1" descr="/tmp/build/assets/cell_uninfected.png">    </p:cNvPr>
          <p:cNvPicPr>
            <a:picLocks noChangeAspect="1"/>
          </p:cNvPicPr>
          <p:nvPr/>
        </p:nvPicPr>
        <p:blipFill>
          <a:blip r:embed="rId2"/>
          <a:stretch>
            <a:fillRect/>
          </a:stretch>
        </p:blipFill>
        <p:spPr>
          <a:xfrm>
            <a:off x="8001000" y="2240280"/>
            <a:ext cx="1508760" cy="1508760"/>
          </a:xfrm>
          <a:prstGeom prst="rect">
            <a:avLst/>
          </a:prstGeom>
        </p:spPr>
      </p:pic>
      <p:pic>
        <p:nvPicPr>
          <p:cNvPr id="22" name="Image 2" descr="/tmp/build/assets/cell_infected.png">    </p:cNvPr>
          <p:cNvPicPr>
            <a:picLocks noChangeAspect="1"/>
          </p:cNvPicPr>
          <p:nvPr/>
        </p:nvPicPr>
        <p:blipFill>
          <a:blip r:embed="rId3"/>
          <a:stretch>
            <a:fillRect/>
          </a:stretch>
        </p:blipFill>
        <p:spPr>
          <a:xfrm>
            <a:off x="9601200" y="2240280"/>
            <a:ext cx="1508760" cy="1508760"/>
          </a:xfrm>
          <a:prstGeom prst="rect">
            <a:avLst/>
          </a:prstGeom>
        </p:spPr>
      </p:pic>
      <p:sp>
        <p:nvSpPr>
          <p:cNvPr id="23" name="Text 18"/>
          <p:cNvSpPr txBox="1"/>
          <p:nvPr/>
        </p:nvSpPr>
        <p:spPr>
          <a:xfrm>
            <a:off x="7818120" y="3785616"/>
            <a:ext cx="1874520" cy="274320"/>
          </a:xfrm>
          <a:prstGeom prst="rect">
            <a:avLst/>
          </a:prstGeom>
          <a:noFill/>
          <a:ln/>
        </p:spPr>
        <p:txBody>
          <a:bodyPr wrap="square" lIns="0" tIns="0" rIns="0" bIns="0" rtlCol="0" anchor="ctr"/>
          <a:lstStyle/>
          <a:p>
            <a:pPr algn="ctr" indent="0" marL="0">
              <a:buNone/>
            </a:pPr>
            <a:r>
              <a:rPr lang="en-US" sz="1300" b="1" dirty="0">
                <a:solidFill>
                  <a:srgbClr val="CFE3E8"/>
                </a:solidFill>
                <a:latin typeface="Calibri" pitchFamily="34" charset="0"/>
                <a:ea typeface="Calibri" pitchFamily="34" charset="-122"/>
                <a:cs typeface="Calibri" pitchFamily="34" charset="-120"/>
              </a:rPr>
              <a:t>Uninfected</a:t>
            </a:r>
            <a:endParaRPr lang="en-US" sz="1300" dirty="0"/>
          </a:p>
        </p:txBody>
      </p:sp>
      <p:sp>
        <p:nvSpPr>
          <p:cNvPr id="24" name="Text 19"/>
          <p:cNvSpPr txBox="1"/>
          <p:nvPr/>
        </p:nvSpPr>
        <p:spPr>
          <a:xfrm>
            <a:off x="9418320" y="3785616"/>
            <a:ext cx="1874520" cy="274320"/>
          </a:xfrm>
          <a:prstGeom prst="rect">
            <a:avLst/>
          </a:prstGeom>
          <a:noFill/>
          <a:ln/>
        </p:spPr>
        <p:txBody>
          <a:bodyPr wrap="square" lIns="0" tIns="0" rIns="0" bIns="0" rtlCol="0" anchor="ctr"/>
          <a:lstStyle/>
          <a:p>
            <a:pPr algn="ctr" indent="0" marL="0">
              <a:buNone/>
            </a:pPr>
            <a:r>
              <a:rPr lang="en-US" sz="1300" b="1" dirty="0">
                <a:solidFill>
                  <a:srgbClr val="E6C7EE"/>
                </a:solidFill>
                <a:latin typeface="Calibri" pitchFamily="34" charset="0"/>
                <a:ea typeface="Calibri" pitchFamily="34" charset="-122"/>
                <a:cs typeface="Calibri" pitchFamily="34" charset="-120"/>
              </a:rPr>
              <a:t>Parasitized</a:t>
            </a:r>
            <a:endParaRPr lang="en-US" sz="1300" dirty="0"/>
          </a:p>
        </p:txBody>
      </p:sp>
      <p:sp>
        <p:nvSpPr>
          <p:cNvPr id="25" name="Shape 20"/>
          <p:cNvSpPr/>
          <p:nvPr/>
        </p:nvSpPr>
        <p:spPr>
          <a:xfrm>
            <a:off x="7818120" y="4224528"/>
            <a:ext cx="3520440" cy="0"/>
          </a:xfrm>
          <a:prstGeom prst="line">
            <a:avLst/>
          </a:prstGeom>
          <a:noFill/>
          <a:ln w="12700">
            <a:solidFill>
              <a:srgbClr val="0E6274"/>
            </a:solidFill>
            <a:prstDash val="solid"/>
          </a:ln>
        </p:spPr>
        <p:txBody>
          <a:bodyPr/>
          <a:p/>
        </p:txBody>
      </p:sp>
      <p:sp>
        <p:nvSpPr>
          <p:cNvPr id="26" name="Text 21"/>
          <p:cNvSpPr txBox="1"/>
          <p:nvPr/>
        </p:nvSpPr>
        <p:spPr>
          <a:xfrm>
            <a:off x="7772400" y="4389120"/>
            <a:ext cx="3611880" cy="1600200"/>
          </a:xfrm>
          <a:prstGeom prst="rect">
            <a:avLst/>
          </a:prstGeom>
          <a:noFill/>
          <a:ln/>
        </p:spPr>
        <p:txBody>
          <a:bodyPr wrap="square" lIns="0" tIns="0" rIns="0" bIns="0" rtlCol="0" anchor="ctr"/>
          <a:lstStyle/>
          <a:p>
            <a:pPr algn="ctr" indent="0" marL="0">
              <a:lnSpc>
                <a:spcPct val="108000"/>
              </a:lnSpc>
              <a:buNone/>
            </a:pPr>
            <a:r>
              <a:rPr lang="en-US" sz="1250" dirty="0">
                <a:solidFill>
                  <a:srgbClr val="D7E7EB"/>
                </a:solidFill>
                <a:latin typeface="Calibri" pitchFamily="34" charset="0"/>
                <a:ea typeface="Calibri" pitchFamily="34" charset="-122"/>
                <a:cs typeface="Calibri" pitchFamily="34" charset="-120"/>
              </a:rPr>
              <a:t>The parasite appears as </a:t>
            </a:r>
            <a:pPr algn="ctr" indent="0" marL="0">
              <a:lnSpc>
                <a:spcPct val="108000"/>
              </a:lnSpc>
              <a:buNone/>
            </a:pPr>
            <a:r>
              <a:rPr lang="en-US" sz="1250" b="1" dirty="0">
                <a:solidFill>
                  <a:srgbClr val="D9A9EC"/>
                </a:solidFill>
                <a:latin typeface="Calibri" pitchFamily="34" charset="0"/>
                <a:ea typeface="Calibri" pitchFamily="34" charset="-122"/>
                <a:cs typeface="Calibri" pitchFamily="34" charset="-120"/>
              </a:rPr>
              <a:t>dark violet specks</a:t>
            </a:r>
            <a:pPr algn="ctr" indent="0" marL="0">
              <a:lnSpc>
                <a:spcPct val="108000"/>
              </a:lnSpc>
              <a:buNone/>
            </a:pPr>
            <a:r>
              <a:rPr lang="en-US" sz="1250" dirty="0">
                <a:solidFill>
                  <a:srgbClr val="D7E7EB"/>
                </a:solidFill>
                <a:latin typeface="Calibri" pitchFamily="34" charset="0"/>
                <a:ea typeface="Calibri" pitchFamily="34" charset="-122"/>
                <a:cs typeface="Calibri" pitchFamily="34" charset="-120"/>
              </a:rPr>
              <a:t> inside the cell (the Giemsa stain). The model must learn this cue — and ignore staining noise.</a:t>
            </a:r>
            <a:endParaRPr lang="en-US" sz="1250" dirty="0"/>
          </a:p>
        </p:txBody>
      </p:sp>
      <p:sp>
        <p:nvSpPr>
          <p:cNvPr id="27" name="Text 22"/>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8" name="Text 23"/>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0972800" y="137160"/>
            <a:ext cx="1097280" cy="1097280"/>
          </a:xfrm>
          <a:prstGeom prst="ellipse">
            <a:avLst/>
          </a:prstGeom>
          <a:solidFill>
            <a:srgbClr val="137C8E">
              <a:alpha val="40000"/>
            </a:srgbClr>
          </a:solidFill>
          <a:ln/>
        </p:spPr>
        <p:txBody>
          <a:bodyPr/>
          <a:p/>
        </p:txBody>
      </p:sp>
      <p:sp>
        <p:nvSpPr>
          <p:cNvPr id="3" name="Shape 1"/>
          <p:cNvSpPr/>
          <p:nvPr/>
        </p:nvSpPr>
        <p:spPr>
          <a:xfrm>
            <a:off x="11338560" y="5760720"/>
            <a:ext cx="914400" cy="914400"/>
          </a:xfrm>
          <a:prstGeom prst="ellipse">
            <a:avLst/>
          </a:prstGeom>
          <a:solidFill>
            <a:srgbClr val="2EA79B">
              <a:alpha val="40000"/>
            </a:srgbClr>
          </a:solidFill>
          <a:ln/>
        </p:spPr>
        <p:txBody>
          <a:bodyPr/>
          <a:p/>
        </p:txBody>
      </p:sp>
      <p:sp>
        <p:nvSpPr>
          <p:cNvPr id="4" name="Shape 2"/>
          <p:cNvSpPr/>
          <p:nvPr/>
        </p:nvSpPr>
        <p:spPr>
          <a:xfrm>
            <a:off x="0" y="5760720"/>
            <a:ext cx="1005840" cy="1005840"/>
          </a:xfrm>
          <a:prstGeom prst="ellipse">
            <a:avLst/>
          </a:prstGeom>
          <a:solidFill>
            <a:srgbClr val="8A43B0">
              <a:alpha val="40000"/>
            </a:srgbClr>
          </a:solidFill>
          <a:ln/>
        </p:spPr>
        <p:txBody>
          <a:bodyPr/>
          <a:p/>
        </p:txBody>
      </p:sp>
      <p:sp>
        <p:nvSpPr>
          <p:cNvPr id="5" name="Text 3"/>
          <p:cNvSpPr txBox="1"/>
          <p:nvPr/>
        </p:nvSpPr>
        <p:spPr>
          <a:xfrm>
            <a:off x="640080" y="548640"/>
            <a:ext cx="10058400" cy="320040"/>
          </a:xfrm>
          <a:prstGeom prst="rect">
            <a:avLst/>
          </a:prstGeom>
          <a:noFill/>
          <a:ln/>
        </p:spPr>
        <p:txBody>
          <a:bodyPr wrap="square" lIns="0" tIns="0" rIns="0" bIns="0" rtlCol="0" anchor="ctr"/>
          <a:lstStyle/>
          <a:p>
            <a:pPr indent="0" marL="0">
              <a:buNone/>
            </a:pPr>
            <a:r>
              <a:rPr lang="en-US" sz="1300" b="1" spc="300" kern="0" dirty="0">
                <a:solidFill>
                  <a:srgbClr val="2EA79B"/>
                </a:solidFill>
                <a:latin typeface="Calibri" pitchFamily="34" charset="0"/>
                <a:ea typeface="Calibri" pitchFamily="34" charset="-122"/>
                <a:cs typeface="Calibri" pitchFamily="34" charset="-120"/>
              </a:rPr>
              <a:t>THE STORY OF THE FIELD</a:t>
            </a:r>
            <a:endParaRPr lang="en-US" sz="1300" dirty="0"/>
          </a:p>
        </p:txBody>
      </p:sp>
      <p:sp>
        <p:nvSpPr>
          <p:cNvPr id="6" name="Text 4"/>
          <p:cNvSpPr txBox="1"/>
          <p:nvPr/>
        </p:nvSpPr>
        <p:spPr>
          <a:xfrm>
            <a:off x="640080" y="86868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malaria CNNs evolved, 2016 → 2024</a:t>
            </a:r>
            <a:endParaRPr lang="en-US" sz="3000" dirty="0"/>
          </a:p>
        </p:txBody>
      </p:sp>
      <p:sp>
        <p:nvSpPr>
          <p:cNvPr id="7" name="Shape 5"/>
          <p:cNvSpPr/>
          <p:nvPr/>
        </p:nvSpPr>
        <p:spPr>
          <a:xfrm>
            <a:off x="1234440" y="3429000"/>
            <a:ext cx="9720072" cy="0"/>
          </a:xfrm>
          <a:prstGeom prst="line">
            <a:avLst/>
          </a:prstGeom>
          <a:noFill/>
          <a:ln w="31750">
            <a:solidFill>
              <a:srgbClr val="0E6274"/>
            </a:solidFill>
            <a:prstDash val="solid"/>
          </a:ln>
        </p:spPr>
        <p:txBody>
          <a:bodyPr/>
          <a:p/>
        </p:txBody>
      </p:sp>
      <p:sp>
        <p:nvSpPr>
          <p:cNvPr id="8" name="Text 6"/>
          <p:cNvSpPr txBox="1"/>
          <p:nvPr/>
        </p:nvSpPr>
        <p:spPr>
          <a:xfrm>
            <a:off x="411480"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2016</a:t>
            </a:r>
            <a:endParaRPr lang="en-US" sz="2200" dirty="0"/>
          </a:p>
        </p:txBody>
      </p:sp>
      <p:sp>
        <p:nvSpPr>
          <p:cNvPr id="9" name="Text 7"/>
          <p:cNvSpPr txBox="1"/>
          <p:nvPr/>
        </p:nvSpPr>
        <p:spPr>
          <a:xfrm>
            <a:off x="274320"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Custom CNN</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beats transfer</a:t>
            </a:r>
            <a:endParaRPr lang="en-US" sz="1250" dirty="0"/>
          </a:p>
        </p:txBody>
      </p:sp>
      <p:sp>
        <p:nvSpPr>
          <p:cNvPr id="10" name="Shape 8"/>
          <p:cNvSpPr/>
          <p:nvPr/>
        </p:nvSpPr>
        <p:spPr>
          <a:xfrm>
            <a:off x="813816" y="3008376"/>
            <a:ext cx="841248" cy="841248"/>
          </a:xfrm>
          <a:prstGeom prst="ellipse">
            <a:avLst/>
          </a:prstGeom>
          <a:solidFill>
            <a:srgbClr val="137C8E"/>
          </a:solidFill>
          <a:ln/>
        </p:spPr>
        <p:txBody>
          <a:bodyPr/>
          <a:p/>
        </p:txBody>
      </p:sp>
      <p:pic>
        <p:nvPicPr>
          <p:cNvPr id="11" name="Image 0" descr="/tmp/build/assets/ic_layers.png">    </p:cNvPr>
          <p:cNvPicPr>
            <a:picLocks noChangeAspect="1"/>
          </p:cNvPicPr>
          <p:nvPr/>
        </p:nvPicPr>
        <p:blipFill>
          <a:blip r:embed="rId1"/>
          <a:stretch>
            <a:fillRect/>
          </a:stretch>
        </p:blipFill>
        <p:spPr>
          <a:xfrm>
            <a:off x="1024128" y="3218688"/>
            <a:ext cx="420624" cy="420624"/>
          </a:xfrm>
          <a:prstGeom prst="rect">
            <a:avLst/>
          </a:prstGeom>
        </p:spPr>
      </p:pic>
      <p:sp>
        <p:nvSpPr>
          <p:cNvPr id="12" name="Shape 9"/>
          <p:cNvSpPr/>
          <p:nvPr/>
        </p:nvSpPr>
        <p:spPr>
          <a:xfrm>
            <a:off x="713232" y="2907792"/>
            <a:ext cx="1042416" cy="1042416"/>
          </a:xfrm>
          <a:prstGeom prst="ellipse">
            <a:avLst/>
          </a:prstGeom>
          <a:ln w="12700">
            <a:solidFill>
              <a:srgbClr val="FFFFFF"/>
            </a:solidFill>
            <a:prstDash val="solid"/>
          </a:ln>
        </p:spPr>
        <p:txBody>
          <a:bodyPr/>
          <a:p/>
        </p:txBody>
      </p:sp>
      <p:sp>
        <p:nvSpPr>
          <p:cNvPr id="13" name="Text 10"/>
          <p:cNvSpPr txBox="1"/>
          <p:nvPr/>
        </p:nvSpPr>
        <p:spPr>
          <a:xfrm>
            <a:off x="182880"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Liang [1]</a:t>
            </a:r>
            <a:endParaRPr lang="en-US" sz="1150" dirty="0"/>
          </a:p>
        </p:txBody>
      </p:sp>
      <p:sp>
        <p:nvSpPr>
          <p:cNvPr id="14" name="Text 11"/>
          <p:cNvSpPr txBox="1"/>
          <p:nvPr/>
        </p:nvSpPr>
        <p:spPr>
          <a:xfrm>
            <a:off x="2841498"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2018</a:t>
            </a:r>
            <a:endParaRPr lang="en-US" sz="2200" dirty="0"/>
          </a:p>
        </p:txBody>
      </p:sp>
      <p:sp>
        <p:nvSpPr>
          <p:cNvPr id="15" name="Text 12"/>
          <p:cNvSpPr txBox="1"/>
          <p:nvPr/>
        </p:nvSpPr>
        <p:spPr>
          <a:xfrm>
            <a:off x="2704338"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Feature-extraction</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mapping</a:t>
            </a:r>
            <a:endParaRPr lang="en-US" sz="1250" dirty="0"/>
          </a:p>
        </p:txBody>
      </p:sp>
      <p:sp>
        <p:nvSpPr>
          <p:cNvPr id="16" name="Shape 13"/>
          <p:cNvSpPr/>
          <p:nvPr/>
        </p:nvSpPr>
        <p:spPr>
          <a:xfrm>
            <a:off x="3243834" y="3008376"/>
            <a:ext cx="841248" cy="841248"/>
          </a:xfrm>
          <a:prstGeom prst="ellipse">
            <a:avLst/>
          </a:prstGeom>
          <a:solidFill>
            <a:srgbClr val="2EA79B"/>
          </a:solidFill>
          <a:ln/>
        </p:spPr>
        <p:txBody>
          <a:bodyPr/>
          <a:p/>
        </p:txBody>
      </p:sp>
      <p:pic>
        <p:nvPicPr>
          <p:cNvPr id="17" name="Image 1" descr="/tmp/build/assets/ic_swap.png">    </p:cNvPr>
          <p:cNvPicPr>
            <a:picLocks noChangeAspect="1"/>
          </p:cNvPicPr>
          <p:nvPr/>
        </p:nvPicPr>
        <p:blipFill>
          <a:blip r:embed="rId2"/>
          <a:stretch>
            <a:fillRect/>
          </a:stretch>
        </p:blipFill>
        <p:spPr>
          <a:xfrm>
            <a:off x="3454146" y="3218688"/>
            <a:ext cx="420624" cy="420624"/>
          </a:xfrm>
          <a:prstGeom prst="rect">
            <a:avLst/>
          </a:prstGeom>
        </p:spPr>
      </p:pic>
      <p:sp>
        <p:nvSpPr>
          <p:cNvPr id="18" name="Shape 14"/>
          <p:cNvSpPr/>
          <p:nvPr/>
        </p:nvSpPr>
        <p:spPr>
          <a:xfrm>
            <a:off x="3143250" y="2907792"/>
            <a:ext cx="1042416" cy="1042416"/>
          </a:xfrm>
          <a:prstGeom prst="ellipse">
            <a:avLst/>
          </a:prstGeom>
          <a:ln w="12700">
            <a:solidFill>
              <a:srgbClr val="FFFFFF"/>
            </a:solidFill>
            <a:prstDash val="solid"/>
          </a:ln>
        </p:spPr>
        <p:txBody>
          <a:bodyPr/>
          <a:p/>
        </p:txBody>
      </p:sp>
      <p:sp>
        <p:nvSpPr>
          <p:cNvPr id="19" name="Text 15"/>
          <p:cNvSpPr txBox="1"/>
          <p:nvPr/>
        </p:nvSpPr>
        <p:spPr>
          <a:xfrm>
            <a:off x="2612898"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Rajaraman [2]</a:t>
            </a:r>
            <a:endParaRPr lang="en-US" sz="1150" dirty="0"/>
          </a:p>
        </p:txBody>
      </p:sp>
      <p:sp>
        <p:nvSpPr>
          <p:cNvPr id="20" name="Text 16"/>
          <p:cNvSpPr txBox="1"/>
          <p:nvPr/>
        </p:nvSpPr>
        <p:spPr>
          <a:xfrm>
            <a:off x="5271516"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2019</a:t>
            </a:r>
            <a:endParaRPr lang="en-US" sz="2200" dirty="0"/>
          </a:p>
        </p:txBody>
      </p:sp>
      <p:sp>
        <p:nvSpPr>
          <p:cNvPr id="21" name="Text 17"/>
          <p:cNvSpPr txBox="1"/>
          <p:nvPr/>
        </p:nvSpPr>
        <p:spPr>
          <a:xfrm>
            <a:off x="5134356"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Model</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ensembles</a:t>
            </a:r>
            <a:endParaRPr lang="en-US" sz="1250" dirty="0"/>
          </a:p>
        </p:txBody>
      </p:sp>
      <p:sp>
        <p:nvSpPr>
          <p:cNvPr id="22" name="Shape 18"/>
          <p:cNvSpPr/>
          <p:nvPr/>
        </p:nvSpPr>
        <p:spPr>
          <a:xfrm>
            <a:off x="5673852" y="3008376"/>
            <a:ext cx="841248" cy="841248"/>
          </a:xfrm>
          <a:prstGeom prst="ellipse">
            <a:avLst/>
          </a:prstGeom>
          <a:solidFill>
            <a:srgbClr val="8A43B0"/>
          </a:solidFill>
          <a:ln/>
        </p:spPr>
        <p:txBody>
          <a:bodyPr/>
          <a:p/>
        </p:txBody>
      </p:sp>
      <p:pic>
        <p:nvPicPr>
          <p:cNvPr id="23" name="Image 2" descr="/tmp/build/assets/ic_group.png">    </p:cNvPr>
          <p:cNvPicPr>
            <a:picLocks noChangeAspect="1"/>
          </p:cNvPicPr>
          <p:nvPr/>
        </p:nvPicPr>
        <p:blipFill>
          <a:blip r:embed="rId3"/>
          <a:stretch>
            <a:fillRect/>
          </a:stretch>
        </p:blipFill>
        <p:spPr>
          <a:xfrm>
            <a:off x="5884164" y="3218688"/>
            <a:ext cx="420624" cy="420624"/>
          </a:xfrm>
          <a:prstGeom prst="rect">
            <a:avLst/>
          </a:prstGeom>
        </p:spPr>
      </p:pic>
      <p:sp>
        <p:nvSpPr>
          <p:cNvPr id="24" name="Shape 19"/>
          <p:cNvSpPr/>
          <p:nvPr/>
        </p:nvSpPr>
        <p:spPr>
          <a:xfrm>
            <a:off x="5573268" y="2907792"/>
            <a:ext cx="1042416" cy="1042416"/>
          </a:xfrm>
          <a:prstGeom prst="ellipse">
            <a:avLst/>
          </a:prstGeom>
          <a:ln w="12700">
            <a:solidFill>
              <a:srgbClr val="FFFFFF"/>
            </a:solidFill>
            <a:prstDash val="solid"/>
          </a:ln>
        </p:spPr>
        <p:txBody>
          <a:bodyPr/>
          <a:p/>
        </p:txBody>
      </p:sp>
      <p:sp>
        <p:nvSpPr>
          <p:cNvPr id="25" name="Text 20"/>
          <p:cNvSpPr txBox="1"/>
          <p:nvPr/>
        </p:nvSpPr>
        <p:spPr>
          <a:xfrm>
            <a:off x="5042916"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Rajaraman [3]</a:t>
            </a:r>
            <a:endParaRPr lang="en-US" sz="1150" dirty="0"/>
          </a:p>
        </p:txBody>
      </p:sp>
      <p:sp>
        <p:nvSpPr>
          <p:cNvPr id="26" name="Text 21"/>
          <p:cNvSpPr txBox="1"/>
          <p:nvPr/>
        </p:nvSpPr>
        <p:spPr>
          <a:xfrm>
            <a:off x="7701534"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2020</a:t>
            </a:r>
            <a:endParaRPr lang="en-US" sz="2200" dirty="0"/>
          </a:p>
        </p:txBody>
      </p:sp>
      <p:sp>
        <p:nvSpPr>
          <p:cNvPr id="27" name="Text 22"/>
          <p:cNvSpPr txBox="1"/>
          <p:nvPr/>
        </p:nvSpPr>
        <p:spPr>
          <a:xfrm>
            <a:off x="7564374"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Lightweight &amp;</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on-device</a:t>
            </a:r>
            <a:endParaRPr lang="en-US" sz="1250" dirty="0"/>
          </a:p>
        </p:txBody>
      </p:sp>
      <p:sp>
        <p:nvSpPr>
          <p:cNvPr id="28" name="Shape 23"/>
          <p:cNvSpPr/>
          <p:nvPr/>
        </p:nvSpPr>
        <p:spPr>
          <a:xfrm>
            <a:off x="8103870" y="3008376"/>
            <a:ext cx="841248" cy="841248"/>
          </a:xfrm>
          <a:prstGeom prst="ellipse">
            <a:avLst/>
          </a:prstGeom>
          <a:solidFill>
            <a:srgbClr val="137C8E"/>
          </a:solidFill>
          <a:ln/>
        </p:spPr>
        <p:txBody>
          <a:bodyPr/>
          <a:p/>
        </p:txBody>
      </p:sp>
      <p:pic>
        <p:nvPicPr>
          <p:cNvPr id="29" name="Image 3" descr="/tmp/build/assets/ic_mobile.png">    </p:cNvPr>
          <p:cNvPicPr>
            <a:picLocks noChangeAspect="1"/>
          </p:cNvPicPr>
          <p:nvPr/>
        </p:nvPicPr>
        <p:blipFill>
          <a:blip r:embed="rId4"/>
          <a:stretch>
            <a:fillRect/>
          </a:stretch>
        </p:blipFill>
        <p:spPr>
          <a:xfrm>
            <a:off x="8314182" y="3218688"/>
            <a:ext cx="420624" cy="420624"/>
          </a:xfrm>
          <a:prstGeom prst="rect">
            <a:avLst/>
          </a:prstGeom>
        </p:spPr>
      </p:pic>
      <p:sp>
        <p:nvSpPr>
          <p:cNvPr id="30" name="Shape 24"/>
          <p:cNvSpPr/>
          <p:nvPr/>
        </p:nvSpPr>
        <p:spPr>
          <a:xfrm>
            <a:off x="8003286" y="2907792"/>
            <a:ext cx="1042416" cy="1042416"/>
          </a:xfrm>
          <a:prstGeom prst="ellipse">
            <a:avLst/>
          </a:prstGeom>
          <a:ln w="12700">
            <a:solidFill>
              <a:srgbClr val="FFFFFF"/>
            </a:solidFill>
            <a:prstDash val="solid"/>
          </a:ln>
        </p:spPr>
        <p:txBody>
          <a:bodyPr/>
          <a:p/>
        </p:txBody>
      </p:sp>
      <p:sp>
        <p:nvSpPr>
          <p:cNvPr id="31" name="Text 25"/>
          <p:cNvSpPr txBox="1"/>
          <p:nvPr/>
        </p:nvSpPr>
        <p:spPr>
          <a:xfrm>
            <a:off x="7472934"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Fuhad · Zhao · Masud · Umer</a:t>
            </a:r>
            <a:endParaRPr lang="en-US" sz="1150" dirty="0"/>
          </a:p>
        </p:txBody>
      </p:sp>
      <p:sp>
        <p:nvSpPr>
          <p:cNvPr id="32" name="Text 26"/>
          <p:cNvSpPr txBox="1"/>
          <p:nvPr/>
        </p:nvSpPr>
        <p:spPr>
          <a:xfrm>
            <a:off x="10131552" y="1874520"/>
            <a:ext cx="1645920" cy="411480"/>
          </a:xfrm>
          <a:prstGeom prst="rect">
            <a:avLst/>
          </a:prstGeom>
          <a:noFill/>
          <a:ln/>
        </p:spPr>
        <p:txBody>
          <a:bodyPr wrap="square" lIns="0" tIns="0" rIns="0" bIns="0" rtlCol="0" anchor="ctr"/>
          <a:lstStyle/>
          <a:p>
            <a:pPr algn="ctr" indent="0" marL="0">
              <a:buNone/>
            </a:pPr>
            <a:r>
              <a:rPr lang="en-US" sz="2200" b="1" dirty="0">
                <a:solidFill>
                  <a:srgbClr val="CFE3E8"/>
                </a:solidFill>
                <a:latin typeface="Cambria" pitchFamily="34" charset="0"/>
                <a:ea typeface="Cambria" pitchFamily="34" charset="-122"/>
                <a:cs typeface="Cambria" pitchFamily="34" charset="-120"/>
              </a:rPr>
              <a:t>’22–’24</a:t>
            </a:r>
            <a:endParaRPr lang="en-US" sz="2200" dirty="0"/>
          </a:p>
        </p:txBody>
      </p:sp>
      <p:sp>
        <p:nvSpPr>
          <p:cNvPr id="33" name="Text 27"/>
          <p:cNvSpPr txBox="1"/>
          <p:nvPr/>
        </p:nvSpPr>
        <p:spPr>
          <a:xfrm>
            <a:off x="9994392" y="2258568"/>
            <a:ext cx="1920240" cy="566928"/>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Capsules &amp;</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benchmarking</a:t>
            </a:r>
            <a:endParaRPr lang="en-US" sz="1250" dirty="0"/>
          </a:p>
        </p:txBody>
      </p:sp>
      <p:sp>
        <p:nvSpPr>
          <p:cNvPr id="34" name="Shape 28"/>
          <p:cNvSpPr/>
          <p:nvPr/>
        </p:nvSpPr>
        <p:spPr>
          <a:xfrm>
            <a:off x="10533888" y="3008376"/>
            <a:ext cx="841248" cy="841248"/>
          </a:xfrm>
          <a:prstGeom prst="ellipse">
            <a:avLst/>
          </a:prstGeom>
          <a:solidFill>
            <a:srgbClr val="8A43B0"/>
          </a:solidFill>
          <a:ln/>
        </p:spPr>
        <p:txBody>
          <a:bodyPr/>
          <a:p/>
        </p:txBody>
      </p:sp>
      <p:pic>
        <p:nvPicPr>
          <p:cNvPr id="35" name="Image 4" descr="/tmp/build/assets/ic_brain.png">    </p:cNvPr>
          <p:cNvPicPr>
            <a:picLocks noChangeAspect="1"/>
          </p:cNvPicPr>
          <p:nvPr/>
        </p:nvPicPr>
        <p:blipFill>
          <a:blip r:embed="rId5"/>
          <a:stretch>
            <a:fillRect/>
          </a:stretch>
        </p:blipFill>
        <p:spPr>
          <a:xfrm>
            <a:off x="10744200" y="3218688"/>
            <a:ext cx="420624" cy="420624"/>
          </a:xfrm>
          <a:prstGeom prst="rect">
            <a:avLst/>
          </a:prstGeom>
        </p:spPr>
      </p:pic>
      <p:sp>
        <p:nvSpPr>
          <p:cNvPr id="36" name="Shape 29"/>
          <p:cNvSpPr/>
          <p:nvPr/>
        </p:nvSpPr>
        <p:spPr>
          <a:xfrm>
            <a:off x="10433304" y="2907792"/>
            <a:ext cx="1042416" cy="1042416"/>
          </a:xfrm>
          <a:prstGeom prst="ellipse">
            <a:avLst/>
          </a:prstGeom>
          <a:ln w="12700">
            <a:solidFill>
              <a:srgbClr val="FFFFFF"/>
            </a:solidFill>
            <a:prstDash val="solid"/>
          </a:ln>
        </p:spPr>
        <p:txBody>
          <a:bodyPr/>
          <a:p/>
        </p:txBody>
      </p:sp>
      <p:sp>
        <p:nvSpPr>
          <p:cNvPr id="37" name="Text 30"/>
          <p:cNvSpPr txBox="1"/>
          <p:nvPr/>
        </p:nvSpPr>
        <p:spPr>
          <a:xfrm>
            <a:off x="9902952" y="4087368"/>
            <a:ext cx="2103120" cy="548640"/>
          </a:xfrm>
          <a:prstGeom prst="rect">
            <a:avLst/>
          </a:prstGeom>
          <a:noFill/>
          <a:ln/>
        </p:spPr>
        <p:txBody>
          <a:bodyPr wrap="square" lIns="0" tIns="0" rIns="0" bIns="0" rtlCol="0" anchor="ctr"/>
          <a:lstStyle/>
          <a:p>
            <a:pPr algn="ctr" indent="0" marL="0">
              <a:lnSpc>
                <a:spcPct val="95000"/>
              </a:lnSpc>
              <a:buNone/>
            </a:pPr>
            <a:r>
              <a:rPr lang="en-US" sz="1150" i="1" dirty="0">
                <a:solidFill>
                  <a:srgbClr val="9FC0C9"/>
                </a:solidFill>
                <a:latin typeface="Calibri" pitchFamily="34" charset="0"/>
                <a:ea typeface="Calibri" pitchFamily="34" charset="-122"/>
                <a:cs typeface="Calibri" pitchFamily="34" charset="-120"/>
              </a:rPr>
              <a:t>Madhu · Marques · others</a:t>
            </a:r>
            <a:endParaRPr lang="en-US" sz="1150" dirty="0"/>
          </a:p>
        </p:txBody>
      </p:sp>
      <p:sp>
        <p:nvSpPr>
          <p:cNvPr id="38" name="Text 31"/>
          <p:cNvSpPr txBox="1"/>
          <p:nvPr/>
        </p:nvSpPr>
        <p:spPr>
          <a:xfrm>
            <a:off x="914400" y="5623560"/>
            <a:ext cx="10332720" cy="822960"/>
          </a:xfrm>
          <a:prstGeom prst="rect">
            <a:avLst/>
          </a:prstGeom>
          <a:noFill/>
          <a:ln/>
        </p:spPr>
        <p:txBody>
          <a:bodyPr wrap="square" lIns="0" tIns="0" rIns="0" bIns="0" rtlCol="0" anchor="ctr"/>
          <a:lstStyle/>
          <a:p>
            <a:pPr algn="ctr" indent="0" marL="0">
              <a:lnSpc>
                <a:spcPct val="105000"/>
              </a:lnSpc>
              <a:buNone/>
            </a:pPr>
            <a:r>
              <a:rPr lang="en-US" sz="1450" b="1" dirty="0">
                <a:solidFill>
                  <a:srgbClr val="2EA79B"/>
                </a:solidFill>
                <a:latin typeface="Calibri" pitchFamily="34" charset="0"/>
                <a:ea typeface="Calibri" pitchFamily="34" charset="-122"/>
                <a:cs typeface="Calibri" pitchFamily="34" charset="-120"/>
              </a:rPr>
              <a:t>The arc:  </a:t>
            </a:r>
            <a:pPr algn="ctr" indent="0" marL="0">
              <a:lnSpc>
                <a:spcPct val="105000"/>
              </a:lnSpc>
              <a:buNone/>
            </a:pPr>
            <a:r>
              <a:rPr lang="en-US" sz="1450" dirty="0">
                <a:solidFill>
                  <a:srgbClr val="DCECEF"/>
                </a:solidFill>
                <a:latin typeface="Calibri" pitchFamily="34" charset="0"/>
                <a:ea typeface="Calibri" pitchFamily="34" charset="-122"/>
                <a:cs typeface="Calibri" pitchFamily="34" charset="-120"/>
              </a:rPr>
              <a:t>from “can a CNN even do this?” → squeezing accuracy from big models → shrinking them to run on a phone → preserving cell structure and benchmarking rigorously.</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1 · 2016–2018</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Custom CNNs vs. transfer learning</a:t>
            </a:r>
            <a:endParaRPr lang="en-US" sz="3000" dirty="0"/>
          </a:p>
        </p:txBody>
      </p:sp>
      <p:sp>
        <p:nvSpPr>
          <p:cNvPr id="4" name="Shape 2"/>
          <p:cNvSpPr/>
          <p:nvPr/>
        </p:nvSpPr>
        <p:spPr>
          <a:xfrm>
            <a:off x="548640" y="1554480"/>
            <a:ext cx="5486400" cy="2880360"/>
          </a:xfrm>
          <a:prstGeom prst="roundRect">
            <a:avLst>
              <a:gd name="adj" fmla="val 2857"/>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5" name="Shape 3"/>
          <p:cNvSpPr/>
          <p:nvPr/>
        </p:nvSpPr>
        <p:spPr>
          <a:xfrm>
            <a:off x="877824" y="1929384"/>
            <a:ext cx="713232" cy="713232"/>
          </a:xfrm>
          <a:prstGeom prst="ellipse">
            <a:avLst/>
          </a:prstGeom>
          <a:solidFill>
            <a:srgbClr val="137C8E"/>
          </a:solidFill>
          <a:ln/>
        </p:spPr>
        <p:txBody>
          <a:bodyPr/>
          <a:p/>
        </p:txBody>
      </p:sp>
      <p:pic>
        <p:nvPicPr>
          <p:cNvPr id="6" name="Image 0" descr="/tmp/build/assets/ic_layers.png">    </p:cNvPr>
          <p:cNvPicPr>
            <a:picLocks noChangeAspect="1"/>
          </p:cNvPicPr>
          <p:nvPr/>
        </p:nvPicPr>
        <p:blipFill>
          <a:blip r:embed="rId1"/>
          <a:stretch>
            <a:fillRect/>
          </a:stretch>
        </p:blipFill>
        <p:spPr>
          <a:xfrm>
            <a:off x="1049000" y="2100560"/>
            <a:ext cx="370881" cy="370881"/>
          </a:xfrm>
          <a:prstGeom prst="rect">
            <a:avLst/>
          </a:prstGeom>
        </p:spPr>
      </p:pic>
      <p:sp>
        <p:nvSpPr>
          <p:cNvPr id="7" name="Text 4"/>
          <p:cNvSpPr txBox="1"/>
          <p:nvPr/>
        </p:nvSpPr>
        <p:spPr>
          <a:xfrm>
            <a:off x="1783080" y="1810512"/>
            <a:ext cx="4114800" cy="320040"/>
          </a:xfrm>
          <a:prstGeom prst="rect">
            <a:avLst/>
          </a:prstGeom>
          <a:noFill/>
          <a:ln/>
        </p:spPr>
        <p:txBody>
          <a:bodyPr wrap="square" lIns="0" tIns="0" rIns="0" bIns="0" rtlCol="0" anchor="ctr"/>
          <a:lstStyle/>
          <a:p>
            <a:pPr indent="0" marL="0">
              <a:buNone/>
            </a:pPr>
            <a:r>
              <a:rPr lang="en-US" sz="1700" b="1" dirty="0">
                <a:solidFill>
                  <a:srgbClr val="17262E"/>
                </a:solidFill>
                <a:latin typeface="Cambria" pitchFamily="34" charset="0"/>
                <a:ea typeface="Cambria" pitchFamily="34" charset="-122"/>
                <a:cs typeface="Cambria" pitchFamily="34" charset="-120"/>
              </a:rPr>
              <a:t>Liang et al. [1] — 2016</a:t>
            </a:r>
            <a:endParaRPr lang="en-US" sz="1700" dirty="0"/>
          </a:p>
        </p:txBody>
      </p:sp>
      <p:sp>
        <p:nvSpPr>
          <p:cNvPr id="8" name="Text 5"/>
          <p:cNvSpPr txBox="1"/>
          <p:nvPr/>
        </p:nvSpPr>
        <p:spPr>
          <a:xfrm>
            <a:off x="1783080" y="2157984"/>
            <a:ext cx="4160520" cy="548640"/>
          </a:xfrm>
          <a:prstGeom prst="rect">
            <a:avLst/>
          </a:prstGeom>
          <a:noFill/>
          <a:ln/>
        </p:spPr>
        <p:txBody>
          <a:bodyPr wrap="square" lIns="0" tIns="0" rIns="0" bIns="0" rtlCol="0" anchor="ctr"/>
          <a:lstStyle/>
          <a:p>
            <a:pPr indent="0" marL="0">
              <a:lnSpc>
                <a:spcPct val="103000"/>
              </a:lnSpc>
              <a:buNone/>
            </a:pPr>
            <a:r>
              <a:rPr lang="en-US" sz="1250" dirty="0">
                <a:solidFill>
                  <a:srgbClr val="41525B"/>
                </a:solidFill>
                <a:latin typeface="Calibri" pitchFamily="34" charset="0"/>
                <a:ea typeface="Calibri" pitchFamily="34" charset="-122"/>
                <a:cs typeface="Calibri" pitchFamily="34" charset="-120"/>
              </a:rPr>
              <a:t>A custom 16-layer CNN trained from scratch vs. off-the-shelf AlexNet features.</a:t>
            </a:r>
            <a:endParaRPr lang="en-US" sz="1250" dirty="0"/>
          </a:p>
        </p:txBody>
      </p:sp>
      <p:sp>
        <p:nvSpPr>
          <p:cNvPr id="9" name="Shape 6"/>
          <p:cNvSpPr/>
          <p:nvPr/>
        </p:nvSpPr>
        <p:spPr>
          <a:xfrm>
            <a:off x="868680" y="2926080"/>
            <a:ext cx="2331720" cy="1280160"/>
          </a:xfrm>
          <a:prstGeom prst="roundRect">
            <a:avLst>
              <a:gd name="adj" fmla="val 5714"/>
            </a:avLst>
          </a:prstGeom>
          <a:solidFill>
            <a:srgbClr val="FFFFFF"/>
          </a:solidFill>
          <a:ln w="19050">
            <a:solidFill>
              <a:srgbClr val="137C8E"/>
            </a:solidFill>
            <a:prstDash val="solid"/>
          </a:ln>
        </p:spPr>
        <p:txBody>
          <a:bodyPr/>
          <a:p/>
        </p:txBody>
      </p:sp>
      <p:sp>
        <p:nvSpPr>
          <p:cNvPr id="10" name="Text 7"/>
          <p:cNvSpPr txBox="1"/>
          <p:nvPr/>
        </p:nvSpPr>
        <p:spPr>
          <a:xfrm>
            <a:off x="868680" y="3063240"/>
            <a:ext cx="2331720" cy="548640"/>
          </a:xfrm>
          <a:prstGeom prst="rect">
            <a:avLst/>
          </a:prstGeom>
          <a:noFill/>
          <a:ln/>
        </p:spPr>
        <p:txBody>
          <a:bodyPr wrap="square" lIns="0" tIns="0" rIns="0" bIns="0" rtlCol="0" anchor="ctr"/>
          <a:lstStyle/>
          <a:p>
            <a:pPr algn="ctr" indent="0" marL="0">
              <a:buNone/>
            </a:pPr>
            <a:r>
              <a:rPr lang="en-US" sz="3000" b="1" dirty="0">
                <a:solidFill>
                  <a:srgbClr val="137C8E"/>
                </a:solidFill>
                <a:latin typeface="Cambria" pitchFamily="34" charset="0"/>
                <a:ea typeface="Cambria" pitchFamily="34" charset="-122"/>
                <a:cs typeface="Cambria" pitchFamily="34" charset="-120"/>
              </a:rPr>
              <a:t>97.37%</a:t>
            </a:r>
            <a:endParaRPr lang="en-US" sz="3000" dirty="0"/>
          </a:p>
        </p:txBody>
      </p:sp>
      <p:sp>
        <p:nvSpPr>
          <p:cNvPr id="11" name="Text 8"/>
          <p:cNvSpPr txBox="1"/>
          <p:nvPr/>
        </p:nvSpPr>
        <p:spPr>
          <a:xfrm>
            <a:off x="868680" y="3639312"/>
            <a:ext cx="2331720" cy="457200"/>
          </a:xfrm>
          <a:prstGeom prst="rect">
            <a:avLst/>
          </a:prstGeom>
          <a:noFill/>
          <a:ln/>
        </p:spPr>
        <p:txBody>
          <a:bodyPr wrap="square" lIns="0" tIns="0" rIns="0" bIns="0" rtlCol="0" anchor="ctr"/>
          <a:lstStyle/>
          <a:p>
            <a:pPr algn="ctr" indent="0" marL="0">
              <a:buNone/>
            </a:pPr>
            <a:r>
              <a:rPr lang="en-US" sz="1200" dirty="0">
                <a:solidFill>
                  <a:srgbClr val="41525B"/>
                </a:solidFill>
                <a:latin typeface="Calibri" pitchFamily="34" charset="0"/>
                <a:ea typeface="Calibri" pitchFamily="34" charset="-122"/>
                <a:cs typeface="Calibri" pitchFamily="34" charset="-120"/>
              </a:rPr>
              <a:t>Custom 16-layer CNN</a:t>
            </a:r>
            <a:endParaRPr lang="en-US" sz="1200" dirty="0"/>
          </a:p>
        </p:txBody>
      </p:sp>
      <p:sp>
        <p:nvSpPr>
          <p:cNvPr id="12" name="Shape 9"/>
          <p:cNvSpPr/>
          <p:nvPr/>
        </p:nvSpPr>
        <p:spPr>
          <a:xfrm>
            <a:off x="3383280" y="2926080"/>
            <a:ext cx="2331720" cy="1280160"/>
          </a:xfrm>
          <a:prstGeom prst="roundRect">
            <a:avLst>
              <a:gd name="adj" fmla="val 5714"/>
            </a:avLst>
          </a:prstGeom>
          <a:solidFill>
            <a:srgbClr val="FFFFFF"/>
          </a:solidFill>
          <a:ln w="12700">
            <a:solidFill>
              <a:srgbClr val="7C8B93"/>
            </a:solidFill>
            <a:prstDash val="solid"/>
          </a:ln>
        </p:spPr>
        <p:txBody>
          <a:bodyPr/>
          <a:p/>
        </p:txBody>
      </p:sp>
      <p:sp>
        <p:nvSpPr>
          <p:cNvPr id="13" name="Text 10"/>
          <p:cNvSpPr txBox="1"/>
          <p:nvPr/>
        </p:nvSpPr>
        <p:spPr>
          <a:xfrm>
            <a:off x="3383280" y="3063240"/>
            <a:ext cx="2331720" cy="548640"/>
          </a:xfrm>
          <a:prstGeom prst="rect">
            <a:avLst/>
          </a:prstGeom>
          <a:noFill/>
          <a:ln/>
        </p:spPr>
        <p:txBody>
          <a:bodyPr wrap="square" lIns="0" tIns="0" rIns="0" bIns="0" rtlCol="0" anchor="ctr"/>
          <a:lstStyle/>
          <a:p>
            <a:pPr algn="ctr" indent="0" marL="0">
              <a:buNone/>
            </a:pPr>
            <a:r>
              <a:rPr lang="en-US" sz="3000" b="1" dirty="0">
                <a:solidFill>
                  <a:srgbClr val="7C8B93"/>
                </a:solidFill>
                <a:latin typeface="Cambria" pitchFamily="34" charset="0"/>
                <a:ea typeface="Cambria" pitchFamily="34" charset="-122"/>
                <a:cs typeface="Cambria" pitchFamily="34" charset="-120"/>
              </a:rPr>
              <a:t>91.99%</a:t>
            </a:r>
            <a:endParaRPr lang="en-US" sz="3000" dirty="0"/>
          </a:p>
        </p:txBody>
      </p:sp>
      <p:sp>
        <p:nvSpPr>
          <p:cNvPr id="14" name="Text 11"/>
          <p:cNvSpPr txBox="1"/>
          <p:nvPr/>
        </p:nvSpPr>
        <p:spPr>
          <a:xfrm>
            <a:off x="3383280" y="3639312"/>
            <a:ext cx="2331720" cy="457200"/>
          </a:xfrm>
          <a:prstGeom prst="rect">
            <a:avLst/>
          </a:prstGeom>
          <a:noFill/>
          <a:ln/>
        </p:spPr>
        <p:txBody>
          <a:bodyPr wrap="square" lIns="0" tIns="0" rIns="0" bIns="0" rtlCol="0" anchor="ctr"/>
          <a:lstStyle/>
          <a:p>
            <a:pPr algn="ctr" indent="0" marL="0">
              <a:buNone/>
            </a:pPr>
            <a:r>
              <a:rPr lang="en-US" sz="1200" dirty="0">
                <a:solidFill>
                  <a:srgbClr val="41525B"/>
                </a:solidFill>
                <a:latin typeface="Calibri" pitchFamily="34" charset="0"/>
                <a:ea typeface="Calibri" pitchFamily="34" charset="-122"/>
                <a:cs typeface="Calibri" pitchFamily="34" charset="-120"/>
              </a:rPr>
              <a:t>AlexNet features</a:t>
            </a:r>
            <a:endParaRPr lang="en-US" sz="1200" dirty="0"/>
          </a:p>
        </p:txBody>
      </p:sp>
      <p:sp>
        <p:nvSpPr>
          <p:cNvPr id="15" name="Shape 12"/>
          <p:cNvSpPr/>
          <p:nvPr/>
        </p:nvSpPr>
        <p:spPr>
          <a:xfrm>
            <a:off x="6172200" y="1554480"/>
            <a:ext cx="5468112" cy="2880360"/>
          </a:xfrm>
          <a:prstGeom prst="roundRect">
            <a:avLst>
              <a:gd name="adj" fmla="val 2857"/>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6" name="Shape 13"/>
          <p:cNvSpPr/>
          <p:nvPr/>
        </p:nvSpPr>
        <p:spPr>
          <a:xfrm>
            <a:off x="6501384" y="1929384"/>
            <a:ext cx="713232" cy="713232"/>
          </a:xfrm>
          <a:prstGeom prst="ellipse">
            <a:avLst/>
          </a:prstGeom>
          <a:solidFill>
            <a:srgbClr val="2EA79B"/>
          </a:solidFill>
          <a:ln/>
        </p:spPr>
        <p:txBody>
          <a:bodyPr/>
          <a:p/>
        </p:txBody>
      </p:sp>
      <p:pic>
        <p:nvPicPr>
          <p:cNvPr id="17" name="Image 1" descr="/tmp/build/assets/ic_swap.png">    </p:cNvPr>
          <p:cNvPicPr>
            <a:picLocks noChangeAspect="1"/>
          </p:cNvPicPr>
          <p:nvPr/>
        </p:nvPicPr>
        <p:blipFill>
          <a:blip r:embed="rId2"/>
          <a:stretch>
            <a:fillRect/>
          </a:stretch>
        </p:blipFill>
        <p:spPr>
          <a:xfrm>
            <a:off x="6672560" y="2100560"/>
            <a:ext cx="370881" cy="370881"/>
          </a:xfrm>
          <a:prstGeom prst="rect">
            <a:avLst/>
          </a:prstGeom>
        </p:spPr>
      </p:pic>
      <p:sp>
        <p:nvSpPr>
          <p:cNvPr id="18" name="Text 14"/>
          <p:cNvSpPr txBox="1"/>
          <p:nvPr/>
        </p:nvSpPr>
        <p:spPr>
          <a:xfrm>
            <a:off x="7406640" y="1810512"/>
            <a:ext cx="4023360" cy="320040"/>
          </a:xfrm>
          <a:prstGeom prst="rect">
            <a:avLst/>
          </a:prstGeom>
          <a:noFill/>
          <a:ln/>
        </p:spPr>
        <p:txBody>
          <a:bodyPr wrap="square" lIns="0" tIns="0" rIns="0" bIns="0" rtlCol="0" anchor="ctr"/>
          <a:lstStyle/>
          <a:p>
            <a:pPr indent="0" marL="0">
              <a:buNone/>
            </a:pPr>
            <a:r>
              <a:rPr lang="en-US" sz="1700" b="1" dirty="0">
                <a:solidFill>
                  <a:srgbClr val="17262E"/>
                </a:solidFill>
                <a:latin typeface="Cambria" pitchFamily="34" charset="0"/>
                <a:ea typeface="Cambria" pitchFamily="34" charset="-122"/>
                <a:cs typeface="Cambria" pitchFamily="34" charset="-120"/>
              </a:rPr>
              <a:t>Rajaraman et al. [2] — 2018</a:t>
            </a:r>
            <a:endParaRPr lang="en-US" sz="1700" dirty="0"/>
          </a:p>
        </p:txBody>
      </p:sp>
      <p:sp>
        <p:nvSpPr>
          <p:cNvPr id="19" name="Text 15"/>
          <p:cNvSpPr txBox="1"/>
          <p:nvPr/>
        </p:nvSpPr>
        <p:spPr>
          <a:xfrm>
            <a:off x="7406640" y="2157984"/>
            <a:ext cx="3977640" cy="548640"/>
          </a:xfrm>
          <a:prstGeom prst="rect">
            <a:avLst/>
          </a:prstGeom>
          <a:noFill/>
          <a:ln/>
        </p:spPr>
        <p:txBody>
          <a:bodyPr wrap="square" lIns="0" tIns="0" rIns="0" bIns="0" rtlCol="0" anchor="ctr"/>
          <a:lstStyle/>
          <a:p>
            <a:pPr indent="0" marL="0">
              <a:lnSpc>
                <a:spcPct val="103000"/>
              </a:lnSpc>
              <a:buNone/>
            </a:pPr>
            <a:r>
              <a:rPr lang="en-US" sz="1250" dirty="0">
                <a:solidFill>
                  <a:srgbClr val="41525B"/>
                </a:solidFill>
                <a:latin typeface="Calibri" pitchFamily="34" charset="0"/>
                <a:ea typeface="Calibri" pitchFamily="34" charset="-122"/>
                <a:cs typeface="Calibri" pitchFamily="34" charset="-120"/>
              </a:rPr>
              <a:t>Mapped which layers of pre-trained backbones carry the most transferable features.</a:t>
            </a:r>
            <a:endParaRPr lang="en-US" sz="1250" dirty="0"/>
          </a:p>
        </p:txBody>
      </p:sp>
      <p:sp>
        <p:nvSpPr>
          <p:cNvPr id="20" name="Shape 16"/>
          <p:cNvSpPr/>
          <p:nvPr/>
        </p:nvSpPr>
        <p:spPr>
          <a:xfrm>
            <a:off x="6492240" y="2971800"/>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1" name="Text 17"/>
          <p:cNvSpPr txBox="1"/>
          <p:nvPr/>
        </p:nvSpPr>
        <p:spPr>
          <a:xfrm>
            <a:off x="6492240" y="2971800"/>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AlexNet</a:t>
            </a:r>
            <a:endParaRPr lang="en-US" sz="1150" dirty="0"/>
          </a:p>
        </p:txBody>
      </p:sp>
      <p:sp>
        <p:nvSpPr>
          <p:cNvPr id="22" name="Shape 18"/>
          <p:cNvSpPr/>
          <p:nvPr/>
        </p:nvSpPr>
        <p:spPr>
          <a:xfrm>
            <a:off x="8183880" y="2971800"/>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3" name="Text 19"/>
          <p:cNvSpPr txBox="1"/>
          <p:nvPr/>
        </p:nvSpPr>
        <p:spPr>
          <a:xfrm>
            <a:off x="8183880" y="2971800"/>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VGG-16</a:t>
            </a:r>
            <a:endParaRPr lang="en-US" sz="1150" dirty="0"/>
          </a:p>
        </p:txBody>
      </p:sp>
      <p:sp>
        <p:nvSpPr>
          <p:cNvPr id="24" name="Shape 20"/>
          <p:cNvSpPr/>
          <p:nvPr/>
        </p:nvSpPr>
        <p:spPr>
          <a:xfrm>
            <a:off x="9875520" y="2971800"/>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5" name="Text 21"/>
          <p:cNvSpPr txBox="1"/>
          <p:nvPr/>
        </p:nvSpPr>
        <p:spPr>
          <a:xfrm>
            <a:off x="9875520" y="2971800"/>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ResNet-50</a:t>
            </a:r>
            <a:endParaRPr lang="en-US" sz="1150" dirty="0"/>
          </a:p>
        </p:txBody>
      </p:sp>
      <p:sp>
        <p:nvSpPr>
          <p:cNvPr id="26" name="Shape 22"/>
          <p:cNvSpPr/>
          <p:nvPr/>
        </p:nvSpPr>
        <p:spPr>
          <a:xfrm>
            <a:off x="6492240" y="3538728"/>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7" name="Text 23"/>
          <p:cNvSpPr txBox="1"/>
          <p:nvPr/>
        </p:nvSpPr>
        <p:spPr>
          <a:xfrm>
            <a:off x="6492240" y="3538728"/>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Xception</a:t>
            </a:r>
            <a:endParaRPr lang="en-US" sz="1150" dirty="0"/>
          </a:p>
        </p:txBody>
      </p:sp>
      <p:sp>
        <p:nvSpPr>
          <p:cNvPr id="28" name="Shape 24"/>
          <p:cNvSpPr/>
          <p:nvPr/>
        </p:nvSpPr>
        <p:spPr>
          <a:xfrm>
            <a:off x="8183880" y="3538728"/>
            <a:ext cx="1554480" cy="438912"/>
          </a:xfrm>
          <a:prstGeom prst="roundRect">
            <a:avLst>
              <a:gd name="adj" fmla="val 50000"/>
            </a:avLst>
          </a:prstGeom>
          <a:solidFill>
            <a:srgbClr val="FFFFFF"/>
          </a:solidFill>
          <a:ln w="12700">
            <a:solidFill>
              <a:srgbClr val="D3E1E6"/>
            </a:solidFill>
            <a:prstDash val="solid"/>
          </a:ln>
        </p:spPr>
        <p:txBody>
          <a:bodyPr/>
          <a:p/>
        </p:txBody>
      </p:sp>
      <p:sp>
        <p:nvSpPr>
          <p:cNvPr id="29" name="Text 25"/>
          <p:cNvSpPr txBox="1"/>
          <p:nvPr/>
        </p:nvSpPr>
        <p:spPr>
          <a:xfrm>
            <a:off x="8183880" y="3538728"/>
            <a:ext cx="1554480" cy="438912"/>
          </a:xfrm>
          <a:prstGeom prst="rect">
            <a:avLst/>
          </a:prstGeom>
          <a:noFill/>
          <a:ln/>
        </p:spPr>
        <p:txBody>
          <a:bodyPr wrap="square" lIns="0" tIns="0" rIns="0" bIns="0" rtlCol="0" anchor="ctr"/>
          <a:lstStyle/>
          <a:p>
            <a:pPr algn="ctr" indent="0" marL="0">
              <a:buNone/>
            </a:pPr>
            <a:r>
              <a:rPr lang="en-US" sz="1150" b="1" dirty="0">
                <a:solidFill>
                  <a:srgbClr val="0E6274"/>
                </a:solidFill>
                <a:latin typeface="Calibri" pitchFamily="34" charset="0"/>
                <a:ea typeface="Calibri" pitchFamily="34" charset="-122"/>
                <a:cs typeface="Calibri" pitchFamily="34" charset="-120"/>
              </a:rPr>
              <a:t>DenseNet-121</a:t>
            </a:r>
            <a:endParaRPr lang="en-US" sz="1150" dirty="0"/>
          </a:p>
        </p:txBody>
      </p:sp>
      <p:sp>
        <p:nvSpPr>
          <p:cNvPr id="30" name="Text 26"/>
          <p:cNvSpPr txBox="1"/>
          <p:nvPr/>
        </p:nvSpPr>
        <p:spPr>
          <a:xfrm>
            <a:off x="6492240" y="4114800"/>
            <a:ext cx="4937760" cy="320040"/>
          </a:xfrm>
          <a:prstGeom prst="rect">
            <a:avLst/>
          </a:prstGeom>
          <a:noFill/>
          <a:ln/>
        </p:spPr>
        <p:txBody>
          <a:bodyPr wrap="square" lIns="0" tIns="0" rIns="0" bIns="0" rtlCol="0" anchor="ctr"/>
          <a:lstStyle/>
          <a:p>
            <a:pPr indent="0" marL="0">
              <a:buNone/>
            </a:pPr>
            <a:r>
              <a:rPr lang="en-US" sz="1200" i="1" dirty="0">
                <a:solidFill>
                  <a:srgbClr val="41525B"/>
                </a:solidFill>
                <a:latin typeface="Calibri" pitchFamily="34" charset="0"/>
                <a:ea typeface="Calibri" pitchFamily="34" charset="-122"/>
                <a:cs typeface="Calibri" pitchFamily="34" charset="-120"/>
              </a:rPr>
              <a:t>Froze optimal layers → tuned a small classifier: a scalable diagnostic aid.</a:t>
            </a:r>
            <a:endParaRPr lang="en-US" sz="1200" dirty="0"/>
          </a:p>
        </p:txBody>
      </p:sp>
      <p:sp>
        <p:nvSpPr>
          <p:cNvPr id="31" name="Shape 27"/>
          <p:cNvSpPr/>
          <p:nvPr/>
        </p:nvSpPr>
        <p:spPr>
          <a:xfrm>
            <a:off x="548640" y="4709160"/>
            <a:ext cx="11091672" cy="1417320"/>
          </a:xfrm>
          <a:prstGeom prst="roundRect">
            <a:avLst>
              <a:gd name="adj" fmla="val 6452"/>
            </a:avLst>
          </a:prstGeom>
          <a:solidFill>
            <a:srgbClr val="0F2E3D"/>
          </a:solidFill>
          <a:ln/>
        </p:spPr>
        <p:txBody>
          <a:bodyPr/>
          <a:p/>
        </p:txBody>
      </p:sp>
      <p:sp>
        <p:nvSpPr>
          <p:cNvPr id="32" name="Shape 28"/>
          <p:cNvSpPr/>
          <p:nvPr/>
        </p:nvSpPr>
        <p:spPr>
          <a:xfrm>
            <a:off x="909828" y="5024628"/>
            <a:ext cx="777240" cy="777240"/>
          </a:xfrm>
          <a:prstGeom prst="ellipse">
            <a:avLst/>
          </a:prstGeom>
          <a:solidFill>
            <a:srgbClr val="8A43B0"/>
          </a:solidFill>
          <a:ln/>
        </p:spPr>
        <p:txBody>
          <a:bodyPr/>
          <a:p/>
        </p:txBody>
      </p:sp>
      <p:pic>
        <p:nvPicPr>
          <p:cNvPr id="33" name="Image 2" descr="/tmp/build/assets/ic_bolt.png">    </p:cNvPr>
          <p:cNvPicPr>
            <a:picLocks noChangeAspect="1"/>
          </p:cNvPicPr>
          <p:nvPr/>
        </p:nvPicPr>
        <p:blipFill>
          <a:blip r:embed="rId3"/>
          <a:stretch>
            <a:fillRect/>
          </a:stretch>
        </p:blipFill>
        <p:spPr>
          <a:xfrm>
            <a:off x="1104138" y="5218938"/>
            <a:ext cx="388620" cy="388620"/>
          </a:xfrm>
          <a:prstGeom prst="rect">
            <a:avLst/>
          </a:prstGeom>
        </p:spPr>
      </p:pic>
      <p:sp>
        <p:nvSpPr>
          <p:cNvPr id="34" name="Text 29"/>
          <p:cNvSpPr txBox="1"/>
          <p:nvPr/>
        </p:nvSpPr>
        <p:spPr>
          <a:xfrm>
            <a:off x="1874520" y="4846320"/>
            <a:ext cx="3657600" cy="320040"/>
          </a:xfrm>
          <a:prstGeom prst="rect">
            <a:avLst/>
          </a:prstGeom>
          <a:noFill/>
          <a:ln/>
        </p:spPr>
        <p:txBody>
          <a:bodyPr wrap="square" lIns="0" tIns="0" rIns="0" bIns="0" rtlCol="0" anchor="ctr"/>
          <a:lstStyle/>
          <a:p>
            <a:pPr indent="0" marL="0">
              <a:buNone/>
            </a:pPr>
            <a:r>
              <a:rPr lang="en-US" sz="1600" b="1" dirty="0">
                <a:solidFill>
                  <a:srgbClr val="2EA79B"/>
                </a:solidFill>
                <a:latin typeface="Cambria" pitchFamily="34" charset="0"/>
                <a:ea typeface="Cambria" pitchFamily="34" charset="-122"/>
                <a:cs typeface="Cambria" pitchFamily="34" charset="-120"/>
              </a:rPr>
              <a:t>Key insight</a:t>
            </a:r>
            <a:endParaRPr lang="en-US" sz="1600" dirty="0"/>
          </a:p>
        </p:txBody>
      </p:sp>
      <p:sp>
        <p:nvSpPr>
          <p:cNvPr id="35" name="Text 30"/>
          <p:cNvSpPr txBox="1"/>
          <p:nvPr/>
        </p:nvSpPr>
        <p:spPr>
          <a:xfrm>
            <a:off x="1874520" y="5175504"/>
            <a:ext cx="9418320" cy="868680"/>
          </a:xfrm>
          <a:prstGeom prst="rect">
            <a:avLst/>
          </a:prstGeom>
          <a:noFill/>
          <a:ln/>
        </p:spPr>
        <p:txBody>
          <a:bodyPr wrap="square" lIns="0" tIns="0" rIns="0" bIns="0" rtlCol="0" anchor="ctr"/>
          <a:lstStyle/>
          <a:p>
            <a:pPr indent="0" marL="0">
              <a:lnSpc>
                <a:spcPct val="106000"/>
              </a:lnSpc>
              <a:buNone/>
            </a:pPr>
            <a:r>
              <a:rPr lang="en-US" sz="1350" b="1" dirty="0">
                <a:solidFill>
                  <a:srgbClr val="FFFFFF"/>
                </a:solidFill>
                <a:latin typeface="Calibri" pitchFamily="34" charset="0"/>
                <a:ea typeface="Calibri" pitchFamily="34" charset="-122"/>
                <a:cs typeface="Calibri" pitchFamily="34" charset="-120"/>
              </a:rPr>
              <a:t>Domain-specific features beat generic ImageNet features for microscopy</a:t>
            </a:r>
            <a:pPr indent="0" marL="0">
              <a:lnSpc>
                <a:spcPct val="106000"/>
              </a:lnSpc>
              <a:buNone/>
            </a:pPr>
            <a:r>
              <a:rPr lang="en-US" sz="1350" dirty="0">
                <a:solidFill>
                  <a:srgbClr val="DBEBEE"/>
                </a:solidFill>
                <a:latin typeface="Calibri" pitchFamily="34" charset="0"/>
                <a:ea typeface="Calibri" pitchFamily="34" charset="-122"/>
                <a:cs typeface="Calibri" pitchFamily="34" charset="-120"/>
              </a:rPr>
              <a:t> — but training from scratch is costly, so the field turned to smartly reusing pre-trained networks. This tension (accuracy vs. compute) drives everything that follows.</a:t>
            </a:r>
            <a:endParaRPr lang="en-US" sz="1350" dirty="0"/>
          </a:p>
        </p:txBody>
      </p:sp>
      <p:sp>
        <p:nvSpPr>
          <p:cNvPr id="36" name="Text 31"/>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37" name="Text 3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2 · 2019–2022</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Ensembles: many models, steadier answers</a:t>
            </a:r>
            <a:endParaRPr lang="en-US" sz="3000" dirty="0"/>
          </a:p>
        </p:txBody>
      </p:sp>
      <p:sp>
        <p:nvSpPr>
          <p:cNvPr id="4" name="Text 2"/>
          <p:cNvSpPr txBox="1"/>
          <p:nvPr/>
        </p:nvSpPr>
        <p:spPr>
          <a:xfrm>
            <a:off x="548640" y="1481328"/>
            <a:ext cx="11064240" cy="640080"/>
          </a:xfrm>
          <a:prstGeom prst="rect">
            <a:avLst/>
          </a:prstGeom>
          <a:noFill/>
          <a:ln/>
        </p:spPr>
        <p:txBody>
          <a:bodyPr wrap="square" lIns="0" tIns="0" rIns="0" bIns="0" rtlCol="0" anchor="ctr"/>
          <a:lstStyle/>
          <a:p>
            <a:pPr indent="0" marL="0">
              <a:lnSpc>
                <a:spcPct val="108000"/>
              </a:lnSpc>
              <a:buNone/>
            </a:pPr>
            <a:r>
              <a:rPr lang="en-US" sz="1600" dirty="0">
                <a:solidFill>
                  <a:srgbClr val="41525B"/>
                </a:solidFill>
                <a:latin typeface="Calibri" pitchFamily="34" charset="0"/>
                <a:ea typeface="Calibri" pitchFamily="34" charset="-122"/>
                <a:cs typeface="Calibri" pitchFamily="34" charset="-120"/>
              </a:rPr>
              <a:t>Single CNNs are </a:t>
            </a:r>
            <a:pPr indent="0" marL="0">
              <a:lnSpc>
                <a:spcPct val="108000"/>
              </a:lnSpc>
              <a:buNone/>
            </a:pPr>
            <a:r>
              <a:rPr lang="en-US" sz="1600" b="1" dirty="0">
                <a:solidFill>
                  <a:srgbClr val="CC4A3F"/>
                </a:solidFill>
                <a:latin typeface="Calibri" pitchFamily="34" charset="0"/>
                <a:ea typeface="Calibri" pitchFamily="34" charset="-122"/>
                <a:cs typeface="Calibri" pitchFamily="34" charset="-120"/>
              </a:rPr>
              <a:t>high-variance</a:t>
            </a:r>
            <a:pPr indent="0" marL="0">
              <a:lnSpc>
                <a:spcPct val="108000"/>
              </a:lnSpc>
              <a:buNone/>
            </a:pPr>
            <a:r>
              <a:rPr lang="en-US" sz="1600" dirty="0">
                <a:solidFill>
                  <a:srgbClr val="41525B"/>
                </a:solidFill>
                <a:latin typeface="Calibri" pitchFamily="34" charset="0"/>
                <a:ea typeface="Calibri" pitchFamily="34" charset="-122"/>
                <a:cs typeface="Calibri" pitchFamily="34" charset="-120"/>
              </a:rPr>
              <a:t> — sensitive to how the data is split and shuffled. Averaging several diverse models cancels their individual errors and generalises better.</a:t>
            </a:r>
            <a:endParaRPr lang="en-US" sz="1600" dirty="0"/>
          </a:p>
        </p:txBody>
      </p:sp>
      <p:sp>
        <p:nvSpPr>
          <p:cNvPr id="5" name="Shape 3"/>
          <p:cNvSpPr/>
          <p:nvPr/>
        </p:nvSpPr>
        <p:spPr>
          <a:xfrm>
            <a:off x="548640" y="2331720"/>
            <a:ext cx="5468112" cy="2286000"/>
          </a:xfrm>
          <a:prstGeom prst="roundRect">
            <a:avLst>
              <a:gd name="adj" fmla="val 3600"/>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Shape 4"/>
          <p:cNvSpPr/>
          <p:nvPr/>
        </p:nvSpPr>
        <p:spPr>
          <a:xfrm>
            <a:off x="896112" y="2651760"/>
            <a:ext cx="731520" cy="731520"/>
          </a:xfrm>
          <a:prstGeom prst="ellipse">
            <a:avLst/>
          </a:prstGeom>
          <a:solidFill>
            <a:srgbClr val="8A43B0"/>
          </a:solidFill>
          <a:ln/>
        </p:spPr>
        <p:txBody>
          <a:bodyPr/>
          <a:p/>
        </p:txBody>
      </p:sp>
      <p:pic>
        <p:nvPicPr>
          <p:cNvPr id="7" name="Image 0" descr="/tmp/build/assets/ic_group.png">    </p:cNvPr>
          <p:cNvPicPr>
            <a:picLocks noChangeAspect="1"/>
          </p:cNvPicPr>
          <p:nvPr/>
        </p:nvPicPr>
        <p:blipFill>
          <a:blip r:embed="rId1"/>
          <a:stretch>
            <a:fillRect/>
          </a:stretch>
        </p:blipFill>
        <p:spPr>
          <a:xfrm>
            <a:off x="1071677" y="2827325"/>
            <a:ext cx="380390" cy="380390"/>
          </a:xfrm>
          <a:prstGeom prst="rect">
            <a:avLst/>
          </a:prstGeom>
        </p:spPr>
      </p:pic>
      <p:sp>
        <p:nvSpPr>
          <p:cNvPr id="8" name="Text 5"/>
          <p:cNvSpPr txBox="1"/>
          <p:nvPr/>
        </p:nvSpPr>
        <p:spPr>
          <a:xfrm>
            <a:off x="1828800" y="2587752"/>
            <a:ext cx="3931920" cy="320040"/>
          </a:xfrm>
          <a:prstGeom prst="rect">
            <a:avLst/>
          </a:prstGeom>
          <a:noFill/>
          <a:ln/>
        </p:spPr>
        <p:txBody>
          <a:bodyPr wrap="square" lIns="0" tIns="0" rIns="0" bIns="0" rtlCol="0" anchor="ctr"/>
          <a:lstStyle/>
          <a:p>
            <a:pPr indent="0" marL="0">
              <a:buNone/>
            </a:pPr>
            <a:r>
              <a:rPr lang="en-US" sz="1650" b="1" dirty="0">
                <a:solidFill>
                  <a:srgbClr val="17262E"/>
                </a:solidFill>
                <a:latin typeface="Cambria" pitchFamily="34" charset="0"/>
                <a:ea typeface="Cambria" pitchFamily="34" charset="-122"/>
                <a:cs typeface="Cambria" pitchFamily="34" charset="-120"/>
              </a:rPr>
              <a:t>Rajaraman et al. [3] — 2019</a:t>
            </a:r>
            <a:endParaRPr lang="en-US" sz="1650" dirty="0"/>
          </a:p>
        </p:txBody>
      </p:sp>
      <p:sp>
        <p:nvSpPr>
          <p:cNvPr id="9" name="Text 6"/>
          <p:cNvSpPr txBox="1"/>
          <p:nvPr/>
        </p:nvSpPr>
        <p:spPr>
          <a:xfrm>
            <a:off x="1828800" y="2935224"/>
            <a:ext cx="3931920" cy="320040"/>
          </a:xfrm>
          <a:prstGeom prst="rect">
            <a:avLst/>
          </a:prstGeom>
          <a:noFill/>
          <a:ln/>
        </p:spPr>
        <p:txBody>
          <a:bodyPr wrap="square" lIns="0" tIns="0" rIns="0" bIns="0" rtlCol="0" anchor="ctr"/>
          <a:lstStyle/>
          <a:p>
            <a:pPr indent="0" marL="0">
              <a:buNone/>
            </a:pPr>
            <a:r>
              <a:rPr lang="en-US" sz="1300" b="1" dirty="0">
                <a:solidFill>
                  <a:srgbClr val="6C2D8F"/>
                </a:solidFill>
                <a:latin typeface="Calibri" pitchFamily="34" charset="0"/>
                <a:ea typeface="Calibri" pitchFamily="34" charset="-122"/>
                <a:cs typeface="Calibri" pitchFamily="34" charset="-120"/>
              </a:rPr>
              <a:t>VGG-19 + SqueezeNet ensemble</a:t>
            </a:r>
            <a:endParaRPr lang="en-US" sz="1300" dirty="0"/>
          </a:p>
        </p:txBody>
      </p:sp>
      <p:sp>
        <p:nvSpPr>
          <p:cNvPr id="10" name="Text 7"/>
          <p:cNvSpPr txBox="1"/>
          <p:nvPr/>
        </p:nvSpPr>
        <p:spPr>
          <a:xfrm>
            <a:off x="868680" y="3566160"/>
            <a:ext cx="4828032" cy="914400"/>
          </a:xfrm>
          <a:prstGeom prst="rect">
            <a:avLst/>
          </a:prstGeom>
          <a:noFill/>
          <a:ln/>
        </p:spPr>
        <p:txBody>
          <a:bodyPr wrap="square" lIns="0" tIns="0" rIns="0" bIns="0" rtlCol="0" anchor="ctr"/>
          <a:lstStyle/>
          <a:p>
            <a:pPr indent="0" marL="0">
              <a:lnSpc>
                <a:spcPct val="106000"/>
              </a:lnSpc>
              <a:buNone/>
            </a:pPr>
            <a:r>
              <a:rPr lang="en-US" sz="1350" b="1" dirty="0">
                <a:solidFill>
                  <a:srgbClr val="41525B"/>
                </a:solidFill>
                <a:latin typeface="Calibri" pitchFamily="34" charset="0"/>
                <a:ea typeface="Calibri" pitchFamily="34" charset="-122"/>
                <a:cs typeface="Calibri" pitchFamily="34" charset="-120"/>
              </a:rPr>
              <a:t>Model averaging </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cut variance and overfitting</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 giving more reliable predictions under noisy, real-world training conditions.</a:t>
            </a:r>
            <a:endParaRPr lang="en-US" sz="1350" dirty="0"/>
          </a:p>
        </p:txBody>
      </p:sp>
      <p:sp>
        <p:nvSpPr>
          <p:cNvPr id="11" name="Shape 8"/>
          <p:cNvSpPr/>
          <p:nvPr/>
        </p:nvSpPr>
        <p:spPr>
          <a:xfrm>
            <a:off x="6172200" y="2331720"/>
            <a:ext cx="5468112" cy="2286000"/>
          </a:xfrm>
          <a:prstGeom prst="roundRect">
            <a:avLst>
              <a:gd name="adj" fmla="val 3600"/>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2" name="Shape 9"/>
          <p:cNvSpPr/>
          <p:nvPr/>
        </p:nvSpPr>
        <p:spPr>
          <a:xfrm>
            <a:off x="6519672" y="2651760"/>
            <a:ext cx="731520" cy="731520"/>
          </a:xfrm>
          <a:prstGeom prst="ellipse">
            <a:avLst/>
          </a:prstGeom>
          <a:solidFill>
            <a:srgbClr val="137C8E"/>
          </a:solidFill>
          <a:ln/>
        </p:spPr>
        <p:txBody>
          <a:bodyPr/>
          <a:p/>
        </p:txBody>
      </p:sp>
      <p:pic>
        <p:nvPicPr>
          <p:cNvPr id="13" name="Image 1" descr="/tmp/build/assets/ic_chart.png">    </p:cNvPr>
          <p:cNvPicPr>
            <a:picLocks noChangeAspect="1"/>
          </p:cNvPicPr>
          <p:nvPr/>
        </p:nvPicPr>
        <p:blipFill>
          <a:blip r:embed="rId2"/>
          <a:stretch>
            <a:fillRect/>
          </a:stretch>
        </p:blipFill>
        <p:spPr>
          <a:xfrm>
            <a:off x="6695237" y="2827325"/>
            <a:ext cx="380390" cy="380390"/>
          </a:xfrm>
          <a:prstGeom prst="rect">
            <a:avLst/>
          </a:prstGeom>
        </p:spPr>
      </p:pic>
      <p:sp>
        <p:nvSpPr>
          <p:cNvPr id="14" name="Text 10"/>
          <p:cNvSpPr txBox="1"/>
          <p:nvPr/>
        </p:nvSpPr>
        <p:spPr>
          <a:xfrm>
            <a:off x="7452360" y="2587752"/>
            <a:ext cx="3931920" cy="320040"/>
          </a:xfrm>
          <a:prstGeom prst="rect">
            <a:avLst/>
          </a:prstGeom>
          <a:noFill/>
          <a:ln/>
        </p:spPr>
        <p:txBody>
          <a:bodyPr wrap="square" lIns="0" tIns="0" rIns="0" bIns="0" rtlCol="0" anchor="ctr"/>
          <a:lstStyle/>
          <a:p>
            <a:pPr indent="0" marL="0">
              <a:buNone/>
            </a:pPr>
            <a:r>
              <a:rPr lang="en-US" sz="1650" b="1" dirty="0">
                <a:solidFill>
                  <a:srgbClr val="17262E"/>
                </a:solidFill>
                <a:latin typeface="Cambria" pitchFamily="34" charset="0"/>
                <a:ea typeface="Cambria" pitchFamily="34" charset="-122"/>
                <a:cs typeface="Cambria" pitchFamily="34" charset="-120"/>
              </a:rPr>
              <a:t>Marques et al. [8] — 2022</a:t>
            </a:r>
            <a:endParaRPr lang="en-US" sz="1650" dirty="0"/>
          </a:p>
        </p:txBody>
      </p:sp>
      <p:sp>
        <p:nvSpPr>
          <p:cNvPr id="15" name="Text 11"/>
          <p:cNvSpPr txBox="1"/>
          <p:nvPr/>
        </p:nvSpPr>
        <p:spPr>
          <a:xfrm>
            <a:off x="7452360" y="2935224"/>
            <a:ext cx="3931920" cy="320040"/>
          </a:xfrm>
          <a:prstGeom prst="rect">
            <a:avLst/>
          </a:prstGeom>
          <a:noFill/>
          <a:ln/>
        </p:spPr>
        <p:txBody>
          <a:bodyPr wrap="square" lIns="0" tIns="0" rIns="0" bIns="0" rtlCol="0" anchor="ctr"/>
          <a:lstStyle/>
          <a:p>
            <a:pPr indent="0" marL="0">
              <a:buNone/>
            </a:pPr>
            <a:r>
              <a:rPr lang="en-US" sz="1300" b="1" dirty="0">
                <a:solidFill>
                  <a:srgbClr val="0E6274"/>
                </a:solidFill>
                <a:latin typeface="Calibri" pitchFamily="34" charset="0"/>
                <a:ea typeface="Calibri" pitchFamily="34" charset="-122"/>
                <a:cs typeface="Calibri" pitchFamily="34" charset="-120"/>
              </a:rPr>
              <a:t>EfficientNet-B0 · 10-fold ensemble</a:t>
            </a:r>
            <a:endParaRPr lang="en-US" sz="1300" dirty="0"/>
          </a:p>
        </p:txBody>
      </p:sp>
      <p:sp>
        <p:nvSpPr>
          <p:cNvPr id="16" name="Text 12"/>
          <p:cNvSpPr txBox="1"/>
          <p:nvPr/>
        </p:nvSpPr>
        <p:spPr>
          <a:xfrm>
            <a:off x="6492240" y="3566160"/>
            <a:ext cx="4828032" cy="914400"/>
          </a:xfrm>
          <a:prstGeom prst="rect">
            <a:avLst/>
          </a:prstGeom>
          <a:noFill/>
          <a:ln/>
        </p:spPr>
        <p:txBody>
          <a:bodyPr wrap="square" lIns="0" tIns="0" rIns="0" bIns="0" rtlCol="0" anchor="ctr"/>
          <a:lstStyle/>
          <a:p>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Ensembling 10 folds lifted accuracy to </a:t>
            </a:r>
            <a:pPr indent="0" marL="0">
              <a:lnSpc>
                <a:spcPct val="106000"/>
              </a:lnSpc>
              <a:buNone/>
            </a:pPr>
            <a:r>
              <a:rPr lang="en-US" sz="1350" b="1" dirty="0">
                <a:solidFill>
                  <a:srgbClr val="17262E"/>
                </a:solidFill>
                <a:latin typeface="Calibri" pitchFamily="34" charset="0"/>
                <a:ea typeface="Calibri" pitchFamily="34" charset="-122"/>
                <a:cs typeface="Calibri" pitchFamily="34" charset="-120"/>
              </a:rPr>
              <a:t>98.29% (AUC 99.76%)</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 strict stratified cross-validation + open-source code for reproducibility.</a:t>
            </a:r>
            <a:endParaRPr lang="en-US" sz="1350" dirty="0"/>
          </a:p>
        </p:txBody>
      </p:sp>
      <p:sp>
        <p:nvSpPr>
          <p:cNvPr id="17" name="Shape 13"/>
          <p:cNvSpPr/>
          <p:nvPr/>
        </p:nvSpPr>
        <p:spPr>
          <a:xfrm>
            <a:off x="548640" y="4892040"/>
            <a:ext cx="11091672" cy="1234440"/>
          </a:xfrm>
          <a:prstGeom prst="roundRect">
            <a:avLst>
              <a:gd name="adj" fmla="val 7407"/>
            </a:avLst>
          </a:prstGeom>
          <a:solidFill>
            <a:srgbClr val="EAF3F5"/>
          </a:solidFill>
          <a:ln w="12700">
            <a:solidFill>
              <a:srgbClr val="D3E1E6"/>
            </a:solidFill>
            <a:prstDash val="solid"/>
          </a:ln>
        </p:spPr>
        <p:txBody>
          <a:bodyPr/>
          <a:p/>
        </p:txBody>
      </p:sp>
      <p:sp>
        <p:nvSpPr>
          <p:cNvPr id="18" name="Shape 14"/>
          <p:cNvSpPr/>
          <p:nvPr/>
        </p:nvSpPr>
        <p:spPr>
          <a:xfrm>
            <a:off x="914400" y="5138928"/>
            <a:ext cx="731520" cy="731520"/>
          </a:xfrm>
          <a:prstGeom prst="ellipse">
            <a:avLst/>
          </a:prstGeom>
          <a:solidFill>
            <a:srgbClr val="CC4A3F"/>
          </a:solidFill>
          <a:ln/>
        </p:spPr>
        <p:txBody>
          <a:bodyPr/>
          <a:p/>
        </p:txBody>
      </p:sp>
      <p:pic>
        <p:nvPicPr>
          <p:cNvPr id="19" name="Image 2" descr="/tmp/build/assets/ic_scale.png">    </p:cNvPr>
          <p:cNvPicPr>
            <a:picLocks noChangeAspect="1"/>
          </p:cNvPicPr>
          <p:nvPr/>
        </p:nvPicPr>
        <p:blipFill>
          <a:blip r:embed="rId3"/>
          <a:stretch>
            <a:fillRect/>
          </a:stretch>
        </p:blipFill>
        <p:spPr>
          <a:xfrm>
            <a:off x="1097280" y="5321808"/>
            <a:ext cx="365760" cy="365760"/>
          </a:xfrm>
          <a:prstGeom prst="rect">
            <a:avLst/>
          </a:prstGeom>
        </p:spPr>
      </p:pic>
      <p:sp>
        <p:nvSpPr>
          <p:cNvPr id="20" name="Text 15"/>
          <p:cNvSpPr txBox="1"/>
          <p:nvPr/>
        </p:nvSpPr>
        <p:spPr>
          <a:xfrm>
            <a:off x="1874520" y="4892040"/>
            <a:ext cx="9509760" cy="1234440"/>
          </a:xfrm>
          <a:prstGeom prst="rect">
            <a:avLst/>
          </a:prstGeom>
          <a:noFill/>
          <a:ln/>
        </p:spPr>
        <p:txBody>
          <a:bodyPr wrap="square" lIns="0" tIns="0" rIns="0" bIns="0" rtlCol="0" anchor="ctr"/>
          <a:lstStyle/>
          <a:p>
            <a:pPr indent="0" marL="0">
              <a:lnSpc>
                <a:spcPct val="106000"/>
              </a:lnSpc>
              <a:buNone/>
            </a:pPr>
            <a:r>
              <a:rPr lang="en-US" sz="1450" b="1" dirty="0">
                <a:solidFill>
                  <a:srgbClr val="CC4A3F"/>
                </a:solidFill>
                <a:latin typeface="Calibri" pitchFamily="34" charset="0"/>
                <a:ea typeface="Calibri" pitchFamily="34" charset="-122"/>
                <a:cs typeface="Calibri" pitchFamily="34" charset="-120"/>
              </a:rPr>
              <a:t>The catch:  </a:t>
            </a:r>
            <a:pPr indent="0" marL="0">
              <a:lnSpc>
                <a:spcPct val="106000"/>
              </a:lnSpc>
              <a:buNone/>
            </a:pPr>
            <a:r>
              <a:rPr lang="en-US" sz="1450" dirty="0">
                <a:solidFill>
                  <a:srgbClr val="41525B"/>
                </a:solidFill>
                <a:latin typeface="Calibri" pitchFamily="34" charset="0"/>
                <a:ea typeface="Calibri" pitchFamily="34" charset="-122"/>
                <a:cs typeface="Calibri" pitchFamily="34" charset="-120"/>
              </a:rPr>
              <a:t>ensembles are memory-hungry and slow to train (Marques' ran ~2 days). Great for a cloud server; impractical for a phone — which is exactly why the next wave went lightweight.</a:t>
            </a:r>
            <a:endParaRPr lang="en-US" sz="1450" dirty="0"/>
          </a:p>
        </p:txBody>
      </p:sp>
      <p:sp>
        <p:nvSpPr>
          <p:cNvPr id="21" name="Text 16"/>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2" name="Text 17"/>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3 · 2020</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Lightweight &amp; on-device models</a:t>
            </a:r>
            <a:endParaRPr lang="en-US" sz="3000" dirty="0"/>
          </a:p>
        </p:txBody>
      </p:sp>
      <p:sp>
        <p:nvSpPr>
          <p:cNvPr id="4" name="Text 2"/>
          <p:cNvSpPr txBox="1"/>
          <p:nvPr/>
        </p:nvSpPr>
        <p:spPr>
          <a:xfrm>
            <a:off x="548640" y="1463040"/>
            <a:ext cx="11064240" cy="502920"/>
          </a:xfrm>
          <a:prstGeom prst="rect">
            <a:avLst/>
          </a:prstGeom>
          <a:noFill/>
          <a:ln/>
        </p:spPr>
        <p:txBody>
          <a:bodyPr wrap="square" lIns="0" tIns="0" rIns="0" bIns="0" rtlCol="0" anchor="ctr"/>
          <a:lstStyle/>
          <a:p>
            <a:pPr indent="0" marL="0">
              <a:lnSpc>
                <a:spcPct val="105000"/>
              </a:lnSpc>
              <a:buNone/>
            </a:pPr>
            <a:r>
              <a:rPr lang="en-US" sz="1550" dirty="0">
                <a:solidFill>
                  <a:srgbClr val="41525B"/>
                </a:solidFill>
                <a:latin typeface="Calibri" pitchFamily="34" charset="0"/>
                <a:ea typeface="Calibri" pitchFamily="34" charset="-122"/>
                <a:cs typeface="Calibri" pitchFamily="34" charset="-120"/>
              </a:rPr>
              <a:t>Getting diagnosis to endemic regions means running on a phone, offline — so researchers optimised for speed and size, not just accuracy.</a:t>
            </a:r>
            <a:endParaRPr lang="en-US" sz="1550" dirty="0"/>
          </a:p>
        </p:txBody>
      </p:sp>
      <p:sp>
        <p:nvSpPr>
          <p:cNvPr id="5" name="Shape 3"/>
          <p:cNvSpPr/>
          <p:nvPr/>
        </p:nvSpPr>
        <p:spPr>
          <a:xfrm>
            <a:off x="548640" y="2121408"/>
            <a:ext cx="3520440" cy="3703320"/>
          </a:xfrm>
          <a:prstGeom prst="roundRect">
            <a:avLst>
              <a:gd name="adj" fmla="val 2338"/>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Shape 4"/>
          <p:cNvSpPr/>
          <p:nvPr/>
        </p:nvSpPr>
        <p:spPr>
          <a:xfrm>
            <a:off x="813816" y="2368296"/>
            <a:ext cx="749808" cy="749808"/>
          </a:xfrm>
          <a:prstGeom prst="ellipse">
            <a:avLst/>
          </a:prstGeom>
          <a:solidFill>
            <a:srgbClr val="137C8E"/>
          </a:solidFill>
          <a:ln/>
        </p:spPr>
        <p:txBody>
          <a:bodyPr/>
          <a:p/>
        </p:txBody>
      </p:sp>
      <p:pic>
        <p:nvPicPr>
          <p:cNvPr id="7" name="Image 0" descr="/tmp/build/assets/ic_mobile.png">    </p:cNvPr>
          <p:cNvPicPr>
            <a:picLocks noChangeAspect="1"/>
          </p:cNvPicPr>
          <p:nvPr/>
        </p:nvPicPr>
        <p:blipFill>
          <a:blip r:embed="rId1"/>
          <a:stretch>
            <a:fillRect/>
          </a:stretch>
        </p:blipFill>
        <p:spPr>
          <a:xfrm>
            <a:off x="993770" y="2548250"/>
            <a:ext cx="389900" cy="389900"/>
          </a:xfrm>
          <a:prstGeom prst="rect">
            <a:avLst/>
          </a:prstGeom>
        </p:spPr>
      </p:pic>
      <p:sp>
        <p:nvSpPr>
          <p:cNvPr id="8" name="Text 5"/>
          <p:cNvSpPr txBox="1"/>
          <p:nvPr/>
        </p:nvSpPr>
        <p:spPr>
          <a:xfrm>
            <a:off x="1719072" y="2395728"/>
            <a:ext cx="224028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Fuhad et al. [5]</a:t>
            </a:r>
            <a:endParaRPr lang="en-US" sz="1600" dirty="0"/>
          </a:p>
        </p:txBody>
      </p:sp>
      <p:sp>
        <p:nvSpPr>
          <p:cNvPr id="9" name="Text 6"/>
          <p:cNvSpPr txBox="1"/>
          <p:nvPr/>
        </p:nvSpPr>
        <p:spPr>
          <a:xfrm>
            <a:off x="1719072" y="2743200"/>
            <a:ext cx="2240280" cy="457200"/>
          </a:xfrm>
          <a:prstGeom prst="rect">
            <a:avLst/>
          </a:prstGeom>
          <a:noFill/>
          <a:ln/>
        </p:spPr>
        <p:txBody>
          <a:bodyPr wrap="square" lIns="0" tIns="0" rIns="0" bIns="0" rtlCol="0" anchor="ctr"/>
          <a:lstStyle/>
          <a:p>
            <a:pPr indent="0" marL="0">
              <a:lnSpc>
                <a:spcPct val="98000"/>
              </a:lnSpc>
              <a:buNone/>
            </a:pPr>
            <a:r>
              <a:rPr lang="en-US" sz="1150" b="1" dirty="0">
                <a:solidFill>
                  <a:srgbClr val="137C8E"/>
                </a:solidFill>
                <a:latin typeface="Calibri" pitchFamily="34" charset="0"/>
                <a:ea typeface="Calibri" pitchFamily="34" charset="-122"/>
                <a:cs typeface="Calibri" pitchFamily="34" charset="-120"/>
              </a:rPr>
              <a:t>Autoencoder + knowledge distillation</a:t>
            </a:r>
            <a:endParaRPr lang="en-US" sz="1150" dirty="0"/>
          </a:p>
        </p:txBody>
      </p:sp>
      <p:sp>
        <p:nvSpPr>
          <p:cNvPr id="10" name="Text 7"/>
          <p:cNvSpPr txBox="1"/>
          <p:nvPr/>
        </p:nvSpPr>
        <p:spPr>
          <a:xfrm>
            <a:off x="841248" y="3355848"/>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99.23%</a:t>
            </a:r>
            <a:endParaRPr lang="en-US" sz="1900" dirty="0"/>
          </a:p>
        </p:txBody>
      </p:sp>
      <p:sp>
        <p:nvSpPr>
          <p:cNvPr id="11" name="Text 8"/>
          <p:cNvSpPr txBox="1"/>
          <p:nvPr/>
        </p:nvSpPr>
        <p:spPr>
          <a:xfrm>
            <a:off x="841248" y="3721608"/>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accuracy</a:t>
            </a:r>
            <a:endParaRPr lang="en-US" sz="1150" dirty="0"/>
          </a:p>
        </p:txBody>
      </p:sp>
      <p:sp>
        <p:nvSpPr>
          <p:cNvPr id="12" name="Text 9"/>
          <p:cNvSpPr txBox="1"/>
          <p:nvPr/>
        </p:nvSpPr>
        <p:spPr>
          <a:xfrm>
            <a:off x="841248" y="4160520"/>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4,600</a:t>
            </a:r>
            <a:endParaRPr lang="en-US" sz="1900" dirty="0"/>
          </a:p>
        </p:txBody>
      </p:sp>
      <p:sp>
        <p:nvSpPr>
          <p:cNvPr id="13" name="Text 10"/>
          <p:cNvSpPr txBox="1"/>
          <p:nvPr/>
        </p:nvSpPr>
        <p:spPr>
          <a:xfrm>
            <a:off x="841248" y="4526280"/>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FLOPS — vs. ~19.6 billion for ensembles</a:t>
            </a:r>
            <a:endParaRPr lang="en-US" sz="1150" dirty="0"/>
          </a:p>
        </p:txBody>
      </p:sp>
      <p:sp>
        <p:nvSpPr>
          <p:cNvPr id="14" name="Text 11"/>
          <p:cNvSpPr txBox="1"/>
          <p:nvPr/>
        </p:nvSpPr>
        <p:spPr>
          <a:xfrm>
            <a:off x="841248" y="4965192"/>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&lt; 1 s</a:t>
            </a:r>
            <a:endParaRPr lang="en-US" sz="1900" dirty="0"/>
          </a:p>
        </p:txBody>
      </p:sp>
      <p:sp>
        <p:nvSpPr>
          <p:cNvPr id="15" name="Text 12"/>
          <p:cNvSpPr txBox="1"/>
          <p:nvPr/>
        </p:nvSpPr>
        <p:spPr>
          <a:xfrm>
            <a:off x="841248" y="5330952"/>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inference on a phone</a:t>
            </a:r>
            <a:endParaRPr lang="en-US" sz="1150" dirty="0"/>
          </a:p>
        </p:txBody>
      </p:sp>
      <p:sp>
        <p:nvSpPr>
          <p:cNvPr id="16" name="Shape 13"/>
          <p:cNvSpPr/>
          <p:nvPr/>
        </p:nvSpPr>
        <p:spPr>
          <a:xfrm>
            <a:off x="4325112" y="2121408"/>
            <a:ext cx="3520440" cy="3703320"/>
          </a:xfrm>
          <a:prstGeom prst="roundRect">
            <a:avLst>
              <a:gd name="adj" fmla="val 2338"/>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7" name="Shape 14"/>
          <p:cNvSpPr/>
          <p:nvPr/>
        </p:nvSpPr>
        <p:spPr>
          <a:xfrm>
            <a:off x="4590288" y="2368296"/>
            <a:ext cx="749808" cy="749808"/>
          </a:xfrm>
          <a:prstGeom prst="ellipse">
            <a:avLst/>
          </a:prstGeom>
          <a:solidFill>
            <a:srgbClr val="8A43B0"/>
          </a:solidFill>
          <a:ln/>
        </p:spPr>
        <p:txBody>
          <a:bodyPr/>
          <a:p/>
        </p:txBody>
      </p:sp>
      <p:pic>
        <p:nvPicPr>
          <p:cNvPr id="18" name="Image 1" descr="/tmp/build/assets/ic_bolt.png">    </p:cNvPr>
          <p:cNvPicPr>
            <a:picLocks noChangeAspect="1"/>
          </p:cNvPicPr>
          <p:nvPr/>
        </p:nvPicPr>
        <p:blipFill>
          <a:blip r:embed="rId2"/>
          <a:stretch>
            <a:fillRect/>
          </a:stretch>
        </p:blipFill>
        <p:spPr>
          <a:xfrm>
            <a:off x="4770242" y="2548250"/>
            <a:ext cx="389900" cy="389900"/>
          </a:xfrm>
          <a:prstGeom prst="rect">
            <a:avLst/>
          </a:prstGeom>
        </p:spPr>
      </p:pic>
      <p:sp>
        <p:nvSpPr>
          <p:cNvPr id="19" name="Text 15"/>
          <p:cNvSpPr txBox="1"/>
          <p:nvPr/>
        </p:nvSpPr>
        <p:spPr>
          <a:xfrm>
            <a:off x="5495544" y="2395728"/>
            <a:ext cx="224028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Masud et al. [7]</a:t>
            </a:r>
            <a:endParaRPr lang="en-US" sz="1600" dirty="0"/>
          </a:p>
        </p:txBody>
      </p:sp>
      <p:sp>
        <p:nvSpPr>
          <p:cNvPr id="20" name="Text 16"/>
          <p:cNvSpPr txBox="1"/>
          <p:nvPr/>
        </p:nvSpPr>
        <p:spPr>
          <a:xfrm>
            <a:off x="5495544" y="2743200"/>
            <a:ext cx="2240280" cy="457200"/>
          </a:xfrm>
          <a:prstGeom prst="rect">
            <a:avLst/>
          </a:prstGeom>
          <a:noFill/>
          <a:ln/>
        </p:spPr>
        <p:txBody>
          <a:bodyPr wrap="square" lIns="0" tIns="0" rIns="0" bIns="0" rtlCol="0" anchor="ctr"/>
          <a:lstStyle/>
          <a:p>
            <a:pPr indent="0" marL="0">
              <a:lnSpc>
                <a:spcPct val="98000"/>
              </a:lnSpc>
              <a:buNone/>
            </a:pPr>
            <a:r>
              <a:rPr lang="en-US" sz="1150" b="1" dirty="0">
                <a:solidFill>
                  <a:srgbClr val="8A43B0"/>
                </a:solidFill>
                <a:latin typeface="Calibri" pitchFamily="34" charset="0"/>
                <a:ea typeface="Calibri" pitchFamily="34" charset="-122"/>
                <a:cs typeface="Calibri" pitchFamily="34" charset="-120"/>
              </a:rPr>
              <a:t>Lightweight CNN + cyclical learning rate</a:t>
            </a:r>
            <a:endParaRPr lang="en-US" sz="1150" dirty="0"/>
          </a:p>
        </p:txBody>
      </p:sp>
      <p:sp>
        <p:nvSpPr>
          <p:cNvPr id="21" name="Text 17"/>
          <p:cNvSpPr txBox="1"/>
          <p:nvPr/>
        </p:nvSpPr>
        <p:spPr>
          <a:xfrm>
            <a:off x="4617720" y="3355848"/>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97.30%</a:t>
            </a:r>
            <a:endParaRPr lang="en-US" sz="1900" dirty="0"/>
          </a:p>
        </p:txBody>
      </p:sp>
      <p:sp>
        <p:nvSpPr>
          <p:cNvPr id="22" name="Text 18"/>
          <p:cNvSpPr txBox="1"/>
          <p:nvPr/>
        </p:nvSpPr>
        <p:spPr>
          <a:xfrm>
            <a:off x="4617720" y="3721608"/>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accuracy in 50 epochs</a:t>
            </a:r>
            <a:endParaRPr lang="en-US" sz="1150" dirty="0"/>
          </a:p>
        </p:txBody>
      </p:sp>
      <p:sp>
        <p:nvSpPr>
          <p:cNvPr id="23" name="Text 19"/>
          <p:cNvSpPr txBox="1"/>
          <p:nvPr/>
        </p:nvSpPr>
        <p:spPr>
          <a:xfrm>
            <a:off x="4617720" y="4160520"/>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409K</a:t>
            </a:r>
            <a:endParaRPr lang="en-US" sz="1900" dirty="0"/>
          </a:p>
        </p:txBody>
      </p:sp>
      <p:sp>
        <p:nvSpPr>
          <p:cNvPr id="24" name="Text 20"/>
          <p:cNvSpPr txBox="1"/>
          <p:nvPr/>
        </p:nvSpPr>
        <p:spPr>
          <a:xfrm>
            <a:off x="4617720" y="4526280"/>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parameters</a:t>
            </a:r>
            <a:endParaRPr lang="en-US" sz="1150" dirty="0"/>
          </a:p>
        </p:txBody>
      </p:sp>
      <p:sp>
        <p:nvSpPr>
          <p:cNvPr id="25" name="Text 21"/>
          <p:cNvSpPr txBox="1"/>
          <p:nvPr/>
        </p:nvSpPr>
        <p:spPr>
          <a:xfrm>
            <a:off x="4617720" y="4965192"/>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~97 min</a:t>
            </a:r>
            <a:endParaRPr lang="en-US" sz="1900" dirty="0"/>
          </a:p>
        </p:txBody>
      </p:sp>
      <p:sp>
        <p:nvSpPr>
          <p:cNvPr id="26" name="Text 22"/>
          <p:cNvSpPr txBox="1"/>
          <p:nvPr/>
        </p:nvSpPr>
        <p:spPr>
          <a:xfrm>
            <a:off x="4617720" y="5330952"/>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to train, no augmentation</a:t>
            </a:r>
            <a:endParaRPr lang="en-US" sz="1150" dirty="0"/>
          </a:p>
        </p:txBody>
      </p:sp>
      <p:sp>
        <p:nvSpPr>
          <p:cNvPr id="27" name="Shape 23"/>
          <p:cNvSpPr/>
          <p:nvPr/>
        </p:nvSpPr>
        <p:spPr>
          <a:xfrm>
            <a:off x="8101584" y="2121408"/>
            <a:ext cx="3520440" cy="3703320"/>
          </a:xfrm>
          <a:prstGeom prst="roundRect">
            <a:avLst>
              <a:gd name="adj" fmla="val 2338"/>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28" name="Shape 24"/>
          <p:cNvSpPr/>
          <p:nvPr/>
        </p:nvSpPr>
        <p:spPr>
          <a:xfrm>
            <a:off x="8366760" y="2368296"/>
            <a:ext cx="749808" cy="749808"/>
          </a:xfrm>
          <a:prstGeom prst="ellipse">
            <a:avLst/>
          </a:prstGeom>
          <a:solidFill>
            <a:srgbClr val="2EA79B"/>
          </a:solidFill>
          <a:ln/>
        </p:spPr>
        <p:txBody>
          <a:bodyPr/>
          <a:p/>
        </p:txBody>
      </p:sp>
      <p:pic>
        <p:nvPicPr>
          <p:cNvPr id="29" name="Image 2" descr="/tmp/build/assets/ic_magnify.png">    </p:cNvPr>
          <p:cNvPicPr>
            <a:picLocks noChangeAspect="1"/>
          </p:cNvPicPr>
          <p:nvPr/>
        </p:nvPicPr>
        <p:blipFill>
          <a:blip r:embed="rId3"/>
          <a:stretch>
            <a:fillRect/>
          </a:stretch>
        </p:blipFill>
        <p:spPr>
          <a:xfrm>
            <a:off x="8546714" y="2548250"/>
            <a:ext cx="389900" cy="389900"/>
          </a:xfrm>
          <a:prstGeom prst="rect">
            <a:avLst/>
          </a:prstGeom>
        </p:spPr>
      </p:pic>
      <p:sp>
        <p:nvSpPr>
          <p:cNvPr id="30" name="Text 25"/>
          <p:cNvSpPr txBox="1"/>
          <p:nvPr/>
        </p:nvSpPr>
        <p:spPr>
          <a:xfrm>
            <a:off x="9272016" y="2395728"/>
            <a:ext cx="224028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Zhao et al. [6]</a:t>
            </a:r>
            <a:endParaRPr lang="en-US" sz="1600" dirty="0"/>
          </a:p>
        </p:txBody>
      </p:sp>
      <p:sp>
        <p:nvSpPr>
          <p:cNvPr id="31" name="Text 26"/>
          <p:cNvSpPr txBox="1"/>
          <p:nvPr/>
        </p:nvSpPr>
        <p:spPr>
          <a:xfrm>
            <a:off x="9272016" y="2743200"/>
            <a:ext cx="2240280" cy="457200"/>
          </a:xfrm>
          <a:prstGeom prst="rect">
            <a:avLst/>
          </a:prstGeom>
          <a:noFill/>
          <a:ln/>
        </p:spPr>
        <p:txBody>
          <a:bodyPr wrap="square" lIns="0" tIns="0" rIns="0" bIns="0" rtlCol="0" anchor="ctr"/>
          <a:lstStyle/>
          <a:p>
            <a:pPr indent="0" marL="0">
              <a:lnSpc>
                <a:spcPct val="98000"/>
              </a:lnSpc>
              <a:buNone/>
            </a:pPr>
            <a:r>
              <a:rPr lang="en-US" sz="1150" b="1" dirty="0">
                <a:solidFill>
                  <a:srgbClr val="0E6274"/>
                </a:solidFill>
                <a:latin typeface="Calibri" pitchFamily="34" charset="0"/>
                <a:ea typeface="Calibri" pitchFamily="34" charset="-122"/>
                <a:cs typeface="Calibri" pitchFamily="34" charset="-120"/>
              </a:rPr>
              <a:t>Super-resolution (FSRCNN) + SSD300</a:t>
            </a:r>
            <a:endParaRPr lang="en-US" sz="1150" dirty="0"/>
          </a:p>
        </p:txBody>
      </p:sp>
      <p:sp>
        <p:nvSpPr>
          <p:cNvPr id="32" name="Text 27"/>
          <p:cNvSpPr txBox="1"/>
          <p:nvPr/>
        </p:nvSpPr>
        <p:spPr>
          <a:xfrm>
            <a:off x="8394192" y="3355848"/>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96.5%</a:t>
            </a:r>
            <a:endParaRPr lang="en-US" sz="1900" dirty="0"/>
          </a:p>
        </p:txBody>
      </p:sp>
      <p:sp>
        <p:nvSpPr>
          <p:cNvPr id="33" name="Text 28"/>
          <p:cNvSpPr txBox="1"/>
          <p:nvPr/>
        </p:nvSpPr>
        <p:spPr>
          <a:xfrm>
            <a:off x="8394192" y="3721608"/>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on up-scaled 32→128 px images</a:t>
            </a:r>
            <a:endParaRPr lang="en-US" sz="1150" dirty="0"/>
          </a:p>
        </p:txBody>
      </p:sp>
      <p:sp>
        <p:nvSpPr>
          <p:cNvPr id="34" name="Text 29"/>
          <p:cNvSpPr txBox="1"/>
          <p:nvPr/>
        </p:nvSpPr>
        <p:spPr>
          <a:xfrm>
            <a:off x="8394192" y="4160520"/>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30.2</a:t>
            </a:r>
            <a:endParaRPr lang="en-US" sz="1900" dirty="0"/>
          </a:p>
        </p:txBody>
      </p:sp>
      <p:sp>
        <p:nvSpPr>
          <p:cNvPr id="35" name="Text 30"/>
          <p:cNvSpPr txBox="1"/>
          <p:nvPr/>
        </p:nvSpPr>
        <p:spPr>
          <a:xfrm>
            <a:off x="8394192" y="4526280"/>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PSNR — beats bicubic</a:t>
            </a:r>
            <a:endParaRPr lang="en-US" sz="1150" dirty="0"/>
          </a:p>
        </p:txBody>
      </p:sp>
      <p:sp>
        <p:nvSpPr>
          <p:cNvPr id="36" name="Text 31"/>
          <p:cNvSpPr txBox="1"/>
          <p:nvPr/>
        </p:nvSpPr>
        <p:spPr>
          <a:xfrm>
            <a:off x="8394192" y="4965192"/>
            <a:ext cx="1371600" cy="384048"/>
          </a:xfrm>
          <a:prstGeom prst="rect">
            <a:avLst/>
          </a:prstGeom>
          <a:noFill/>
          <a:ln/>
        </p:spPr>
        <p:txBody>
          <a:bodyPr wrap="square" lIns="0" tIns="0" rIns="0" bIns="0" rtlCol="0" anchor="ctr"/>
          <a:lstStyle/>
          <a:p>
            <a:pPr algn="l" indent="0" marL="0">
              <a:buNone/>
            </a:pPr>
            <a:r>
              <a:rPr lang="en-US" sz="1900" b="1" dirty="0">
                <a:solidFill>
                  <a:srgbClr val="137C8E"/>
                </a:solidFill>
                <a:latin typeface="Cambria" pitchFamily="34" charset="0"/>
                <a:ea typeface="Cambria" pitchFamily="34" charset="-122"/>
                <a:cs typeface="Cambria" pitchFamily="34" charset="-120"/>
              </a:rPr>
              <a:t>2 species</a:t>
            </a:r>
            <a:endParaRPr lang="en-US" sz="1900" dirty="0"/>
          </a:p>
        </p:txBody>
      </p:sp>
      <p:sp>
        <p:nvSpPr>
          <p:cNvPr id="37" name="Text 32"/>
          <p:cNvSpPr txBox="1"/>
          <p:nvPr/>
        </p:nvSpPr>
        <p:spPr>
          <a:xfrm>
            <a:off x="8394192" y="5330952"/>
            <a:ext cx="2971800" cy="384048"/>
          </a:xfrm>
          <a:prstGeom prst="rect">
            <a:avLst/>
          </a:prstGeom>
          <a:noFill/>
          <a:ln/>
        </p:spPr>
        <p:txBody>
          <a:bodyPr wrap="square" lIns="0" tIns="0" rIns="0" bIns="0" rtlCol="0" anchor="ctr"/>
          <a:lstStyle/>
          <a:p>
            <a:pPr indent="0" marL="0">
              <a:lnSpc>
                <a:spcPct val="95000"/>
              </a:lnSpc>
              <a:buNone/>
            </a:pPr>
            <a:r>
              <a:rPr lang="en-US" sz="1150" dirty="0">
                <a:solidFill>
                  <a:srgbClr val="41525B"/>
                </a:solidFill>
                <a:latin typeface="Calibri" pitchFamily="34" charset="0"/>
                <a:ea typeface="Calibri" pitchFamily="34" charset="-122"/>
                <a:cs typeface="Calibri" pitchFamily="34" charset="-120"/>
              </a:rPr>
              <a:t>tested (P. falciparum + vivax)</a:t>
            </a:r>
            <a:endParaRPr lang="en-US" sz="1150" dirty="0"/>
          </a:p>
        </p:txBody>
      </p:sp>
      <p:sp>
        <p:nvSpPr>
          <p:cNvPr id="38" name="Text 33"/>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39" name="Text 3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4 · ARCHITECTURE &amp; INPUTS</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Capsule networks + smarter preprocessing</a:t>
            </a:r>
            <a:endParaRPr lang="en-US" sz="3000" dirty="0"/>
          </a:p>
        </p:txBody>
      </p:sp>
      <p:sp>
        <p:nvSpPr>
          <p:cNvPr id="4" name="Shape 2"/>
          <p:cNvSpPr/>
          <p:nvPr/>
        </p:nvSpPr>
        <p:spPr>
          <a:xfrm>
            <a:off x="548640" y="1554480"/>
            <a:ext cx="5486400" cy="4480560"/>
          </a:xfrm>
          <a:prstGeom prst="roundRect">
            <a:avLst>
              <a:gd name="adj" fmla="val 1837"/>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5" name="Shape 3"/>
          <p:cNvSpPr/>
          <p:nvPr/>
        </p:nvSpPr>
        <p:spPr>
          <a:xfrm>
            <a:off x="891540" y="1943100"/>
            <a:ext cx="777240" cy="777240"/>
          </a:xfrm>
          <a:prstGeom prst="ellipse">
            <a:avLst/>
          </a:prstGeom>
          <a:solidFill>
            <a:srgbClr val="8A43B0"/>
          </a:solidFill>
          <a:ln/>
        </p:spPr>
        <p:txBody>
          <a:bodyPr/>
          <a:p/>
        </p:txBody>
      </p:sp>
      <p:pic>
        <p:nvPicPr>
          <p:cNvPr id="6" name="Image 0" descr="/tmp/build/assets/ic_brain.png">    </p:cNvPr>
          <p:cNvPicPr>
            <a:picLocks noChangeAspect="1"/>
          </p:cNvPicPr>
          <p:nvPr/>
        </p:nvPicPr>
        <p:blipFill>
          <a:blip r:embed="rId1"/>
          <a:stretch>
            <a:fillRect/>
          </a:stretch>
        </p:blipFill>
        <p:spPr>
          <a:xfrm>
            <a:off x="1085850" y="2137410"/>
            <a:ext cx="388620" cy="388620"/>
          </a:xfrm>
          <a:prstGeom prst="rect">
            <a:avLst/>
          </a:prstGeom>
        </p:spPr>
      </p:pic>
      <p:sp>
        <p:nvSpPr>
          <p:cNvPr id="7" name="Text 4"/>
          <p:cNvSpPr txBox="1"/>
          <p:nvPr/>
        </p:nvSpPr>
        <p:spPr>
          <a:xfrm>
            <a:off x="1828800" y="1847088"/>
            <a:ext cx="4023360" cy="320040"/>
          </a:xfrm>
          <a:prstGeom prst="rect">
            <a:avLst/>
          </a:prstGeom>
          <a:noFill/>
          <a:ln/>
        </p:spPr>
        <p:txBody>
          <a:bodyPr wrap="square" lIns="0" tIns="0" rIns="0" bIns="0" rtlCol="0" anchor="ctr"/>
          <a:lstStyle/>
          <a:p>
            <a:pPr indent="0" marL="0">
              <a:buNone/>
            </a:pPr>
            <a:r>
              <a:rPr lang="en-US" sz="1700" b="1" dirty="0">
                <a:solidFill>
                  <a:srgbClr val="17262E"/>
                </a:solidFill>
                <a:latin typeface="Cambria" pitchFamily="34" charset="0"/>
                <a:ea typeface="Cambria" pitchFamily="34" charset="-122"/>
                <a:cs typeface="Cambria" pitchFamily="34" charset="-120"/>
              </a:rPr>
              <a:t>Madhu et al. [9] — 2023</a:t>
            </a:r>
            <a:endParaRPr lang="en-US" sz="1700" dirty="0"/>
          </a:p>
        </p:txBody>
      </p:sp>
      <p:sp>
        <p:nvSpPr>
          <p:cNvPr id="8" name="Text 5"/>
          <p:cNvSpPr txBox="1"/>
          <p:nvPr/>
        </p:nvSpPr>
        <p:spPr>
          <a:xfrm>
            <a:off x="1828800" y="2194560"/>
            <a:ext cx="4023360" cy="320040"/>
          </a:xfrm>
          <a:prstGeom prst="rect">
            <a:avLst/>
          </a:prstGeom>
          <a:noFill/>
          <a:ln/>
        </p:spPr>
        <p:txBody>
          <a:bodyPr wrap="square" lIns="0" tIns="0" rIns="0" bIns="0" rtlCol="0" anchor="ctr"/>
          <a:lstStyle/>
          <a:p>
            <a:pPr indent="0" marL="0">
              <a:buNone/>
            </a:pPr>
            <a:r>
              <a:rPr lang="en-US" sz="1300" b="1" dirty="0">
                <a:solidFill>
                  <a:srgbClr val="6C2D8F"/>
                </a:solidFill>
                <a:latin typeface="Calibri" pitchFamily="34" charset="0"/>
                <a:ea typeface="Calibri" pitchFamily="34" charset="-122"/>
                <a:cs typeface="Calibri" pitchFamily="34" charset="-120"/>
              </a:rPr>
              <a:t>Inception-V3 + Capsule Neural Network</a:t>
            </a:r>
            <a:endParaRPr lang="en-US" sz="1300" dirty="0"/>
          </a:p>
        </p:txBody>
      </p:sp>
      <p:sp>
        <p:nvSpPr>
          <p:cNvPr id="9" name="Text 6"/>
          <p:cNvSpPr txBox="1"/>
          <p:nvPr/>
        </p:nvSpPr>
        <p:spPr>
          <a:xfrm>
            <a:off x="868680" y="2880360"/>
            <a:ext cx="4846320" cy="1371600"/>
          </a:xfrm>
          <a:prstGeom prst="rect">
            <a:avLst/>
          </a:prstGeom>
          <a:noFill/>
          <a:ln/>
        </p:spPr>
        <p:txBody>
          <a:bodyPr wrap="square" lIns="0" tIns="0" rIns="0" bIns="0" rtlCol="0" anchor="ctr"/>
          <a:lstStyle/>
          <a:p>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Standard CNNs lose </a:t>
            </a:r>
            <a:pPr indent="0" marL="0">
              <a:lnSpc>
                <a:spcPct val="108000"/>
              </a:lnSpc>
              <a:buNone/>
            </a:pPr>
            <a:r>
              <a:rPr lang="en-US" sz="1350" b="1" dirty="0">
                <a:solidFill>
                  <a:srgbClr val="17262E"/>
                </a:solidFill>
                <a:latin typeface="Calibri" pitchFamily="34" charset="0"/>
                <a:ea typeface="Calibri" pitchFamily="34" charset="-122"/>
                <a:cs typeface="Calibri" pitchFamily="34" charset="-120"/>
              </a:rPr>
              <a:t>spatial &amp; pose information</a:t>
            </a:r>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 through pooling. Capsules use </a:t>
            </a:r>
            <a:pPr indent="0" marL="0">
              <a:lnSpc>
                <a:spcPct val="108000"/>
              </a:lnSpc>
              <a:buNone/>
            </a:pPr>
            <a:r>
              <a:rPr lang="en-US" sz="1350" b="1" dirty="0">
                <a:solidFill>
                  <a:srgbClr val="17262E"/>
                </a:solidFill>
                <a:latin typeface="Calibri" pitchFamily="34" charset="0"/>
                <a:ea typeface="Calibri" pitchFamily="34" charset="-122"/>
                <a:cs typeface="Calibri" pitchFamily="34" charset="-120"/>
              </a:rPr>
              <a:t>dynamic routing</a:t>
            </a:r>
            <a:pPr indent="0" marL="0">
              <a:lnSpc>
                <a:spcPct val="108000"/>
              </a:lnSpc>
              <a:buNone/>
            </a:pPr>
            <a:r>
              <a:rPr lang="en-US" sz="1350" dirty="0">
                <a:solidFill>
                  <a:srgbClr val="41525B"/>
                </a:solidFill>
                <a:latin typeface="Calibri" pitchFamily="34" charset="0"/>
                <a:ea typeface="Calibri" pitchFamily="34" charset="-122"/>
                <a:cs typeface="Calibri" pitchFamily="34" charset="-120"/>
              </a:rPr>
              <a:t> to keep the parasite's position and orientation inside the cell — state-of-the-art morphological modelling.</a:t>
            </a:r>
            <a:endParaRPr lang="en-US" sz="1350" dirty="0"/>
          </a:p>
        </p:txBody>
      </p:sp>
      <p:sp>
        <p:nvSpPr>
          <p:cNvPr id="10" name="Shape 7"/>
          <p:cNvSpPr/>
          <p:nvPr/>
        </p:nvSpPr>
        <p:spPr>
          <a:xfrm>
            <a:off x="868680" y="4343400"/>
            <a:ext cx="4846320" cy="1371600"/>
          </a:xfrm>
          <a:prstGeom prst="roundRect">
            <a:avLst>
              <a:gd name="adj" fmla="val 5333"/>
            </a:avLst>
          </a:prstGeom>
          <a:solidFill>
            <a:srgbClr val="FFFFFF"/>
          </a:solidFill>
          <a:ln w="19050">
            <a:solidFill>
              <a:srgbClr val="8A43B0"/>
            </a:solidFill>
            <a:prstDash val="solid"/>
          </a:ln>
        </p:spPr>
        <p:txBody>
          <a:bodyPr/>
          <a:p/>
        </p:txBody>
      </p:sp>
      <p:sp>
        <p:nvSpPr>
          <p:cNvPr id="11" name="Text 8"/>
          <p:cNvSpPr txBox="1"/>
          <p:nvPr/>
        </p:nvSpPr>
        <p:spPr>
          <a:xfrm>
            <a:off x="1051560" y="4498848"/>
            <a:ext cx="2103120" cy="548640"/>
          </a:xfrm>
          <a:prstGeom prst="rect">
            <a:avLst/>
          </a:prstGeom>
          <a:noFill/>
          <a:ln/>
        </p:spPr>
        <p:txBody>
          <a:bodyPr wrap="square" lIns="0" tIns="0" rIns="0" bIns="0" rtlCol="0" anchor="ctr"/>
          <a:lstStyle/>
          <a:p>
            <a:pPr algn="ctr" indent="0" marL="0">
              <a:buNone/>
            </a:pPr>
            <a:r>
              <a:rPr lang="en-US" sz="3000" b="1" dirty="0">
                <a:solidFill>
                  <a:srgbClr val="6C2D8F"/>
                </a:solidFill>
                <a:latin typeface="Cambria" pitchFamily="34" charset="0"/>
                <a:ea typeface="Cambria" pitchFamily="34" charset="-122"/>
                <a:cs typeface="Cambria" pitchFamily="34" charset="-120"/>
              </a:rPr>
              <a:t>99.35%</a:t>
            </a:r>
            <a:endParaRPr lang="en-US" sz="3000" dirty="0"/>
          </a:p>
        </p:txBody>
      </p:sp>
      <p:sp>
        <p:nvSpPr>
          <p:cNvPr id="12" name="Text 9"/>
          <p:cNvSpPr txBox="1"/>
          <p:nvPr/>
        </p:nvSpPr>
        <p:spPr>
          <a:xfrm>
            <a:off x="1051560" y="5029200"/>
            <a:ext cx="2103120" cy="274320"/>
          </a:xfrm>
          <a:prstGeom prst="rect">
            <a:avLst/>
          </a:prstGeom>
          <a:noFill/>
          <a:ln/>
        </p:spPr>
        <p:txBody>
          <a:bodyPr wrap="square" lIns="0" tIns="0" rIns="0" bIns="0" rtlCol="0" anchor="ctr"/>
          <a:lstStyle/>
          <a:p>
            <a:pPr algn="ctr" indent="0" marL="0">
              <a:buNone/>
            </a:pPr>
            <a:r>
              <a:rPr lang="en-US" sz="1200" dirty="0">
                <a:solidFill>
                  <a:srgbClr val="41525B"/>
                </a:solidFill>
                <a:latin typeface="Calibri" pitchFamily="34" charset="0"/>
                <a:ea typeface="Calibri" pitchFamily="34" charset="-122"/>
                <a:cs typeface="Calibri" pitchFamily="34" charset="-120"/>
              </a:rPr>
              <a:t>accuracy</a:t>
            </a:r>
            <a:endParaRPr lang="en-US" sz="1200" dirty="0"/>
          </a:p>
        </p:txBody>
      </p:sp>
      <p:sp>
        <p:nvSpPr>
          <p:cNvPr id="13" name="Text 10"/>
          <p:cNvSpPr txBox="1"/>
          <p:nvPr/>
        </p:nvSpPr>
        <p:spPr>
          <a:xfrm>
            <a:off x="3154680" y="4526280"/>
            <a:ext cx="2377440" cy="1097280"/>
          </a:xfrm>
          <a:prstGeom prst="rect">
            <a:avLst/>
          </a:prstGeom>
          <a:noFill/>
          <a:ln/>
        </p:spPr>
        <p:txBody>
          <a:bodyPr wrap="square" lIns="0" tIns="0" rIns="0" bIns="0" rtlCol="0" anchor="ctr"/>
          <a:lstStyle/>
          <a:p>
            <a:pPr indent="0" marL="0">
              <a:lnSpc>
                <a:spcPct val="115000"/>
              </a:lnSpc>
              <a:buNone/>
            </a:pPr>
            <a:r>
              <a:rPr lang="en-US" sz="1350" b="1" dirty="0">
                <a:solidFill>
                  <a:srgbClr val="41525B"/>
                </a:solidFill>
                <a:latin typeface="Calibri" pitchFamily="34" charset="0"/>
                <a:ea typeface="Calibri" pitchFamily="34" charset="-122"/>
                <a:cs typeface="Calibri" pitchFamily="34" charset="-120"/>
              </a:rPr>
              <a:t>Sens. 99.57%</a:t>
            </a:r>
            <a:endParaRPr lang="en-US" sz="1350" dirty="0"/>
          </a:p>
          <a:p>
            <a:pPr indent="0" marL="0">
              <a:lnSpc>
                <a:spcPct val="115000"/>
              </a:lnSpc>
              <a:buNone/>
            </a:pPr>
            <a:r>
              <a:rPr lang="en-US" sz="1350" b="1" dirty="0">
                <a:solidFill>
                  <a:srgbClr val="41525B"/>
                </a:solidFill>
                <a:latin typeface="Calibri" pitchFamily="34" charset="0"/>
                <a:ea typeface="Calibri" pitchFamily="34" charset="-122"/>
                <a:cs typeface="Calibri" pitchFamily="34" charset="-120"/>
              </a:rPr>
              <a:t>Spec. 99.12%</a:t>
            </a:r>
            <a:endParaRPr lang="en-US" sz="1350" dirty="0"/>
          </a:p>
          <a:p>
            <a:pPr indent="0" marL="0">
              <a:lnSpc>
                <a:spcPct val="115000"/>
              </a:lnSpc>
              <a:buNone/>
            </a:pPr>
            <a:r>
              <a:rPr lang="en-US" sz="1350" b="1" dirty="0">
                <a:solidFill>
                  <a:srgbClr val="41525B"/>
                </a:solidFill>
                <a:latin typeface="Calibri" pitchFamily="34" charset="0"/>
                <a:ea typeface="Calibri" pitchFamily="34" charset="-122"/>
                <a:cs typeface="Calibri" pitchFamily="34" charset="-120"/>
              </a:rPr>
              <a:t>AUC 99.73%</a:t>
            </a:r>
            <a:endParaRPr lang="en-US" sz="1350" dirty="0"/>
          </a:p>
        </p:txBody>
      </p:sp>
      <p:sp>
        <p:nvSpPr>
          <p:cNvPr id="14" name="Text 11"/>
          <p:cNvSpPr txBox="1"/>
          <p:nvPr/>
        </p:nvSpPr>
        <p:spPr>
          <a:xfrm>
            <a:off x="868680" y="5742432"/>
            <a:ext cx="4846320" cy="274320"/>
          </a:xfrm>
          <a:prstGeom prst="rect">
            <a:avLst/>
          </a:prstGeom>
          <a:noFill/>
          <a:ln/>
        </p:spPr>
        <p:txBody>
          <a:bodyPr wrap="square" lIns="0" tIns="0" rIns="0" bIns="0" rtlCol="0" anchor="ctr"/>
          <a:lstStyle/>
          <a:p>
            <a:pPr indent="0" marL="0">
              <a:buNone/>
            </a:pPr>
            <a:r>
              <a:rPr lang="en-US" sz="1150" i="1" dirty="0">
                <a:solidFill>
                  <a:srgbClr val="7C8B93"/>
                </a:solidFill>
                <a:latin typeface="Calibri" pitchFamily="34" charset="0"/>
                <a:ea typeface="Calibri" pitchFamily="34" charset="-122"/>
                <a:cs typeface="Calibri" pitchFamily="34" charset="-120"/>
              </a:rPr>
              <a:t>Trade-off: capsule routing is slow to back-propagate.</a:t>
            </a:r>
            <a:endParaRPr lang="en-US" sz="1150" dirty="0"/>
          </a:p>
        </p:txBody>
      </p:sp>
      <p:sp>
        <p:nvSpPr>
          <p:cNvPr id="15" name="Shape 12"/>
          <p:cNvSpPr/>
          <p:nvPr/>
        </p:nvSpPr>
        <p:spPr>
          <a:xfrm>
            <a:off x="6172200" y="1554480"/>
            <a:ext cx="5468112" cy="4480560"/>
          </a:xfrm>
          <a:prstGeom prst="roundRect">
            <a:avLst>
              <a:gd name="adj" fmla="val 1837"/>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6" name="Shape 13"/>
          <p:cNvSpPr/>
          <p:nvPr/>
        </p:nvSpPr>
        <p:spPr>
          <a:xfrm>
            <a:off x="6515100" y="1943100"/>
            <a:ext cx="777240" cy="777240"/>
          </a:xfrm>
          <a:prstGeom prst="ellipse">
            <a:avLst/>
          </a:prstGeom>
          <a:solidFill>
            <a:srgbClr val="137C8E"/>
          </a:solidFill>
          <a:ln/>
        </p:spPr>
        <p:txBody>
          <a:bodyPr/>
          <a:p/>
        </p:txBody>
      </p:sp>
      <p:pic>
        <p:nvPicPr>
          <p:cNvPr id="17" name="Image 1" descr="/tmp/build/assets/ic_flask.png">    </p:cNvPr>
          <p:cNvPicPr>
            <a:picLocks noChangeAspect="1"/>
          </p:cNvPicPr>
          <p:nvPr/>
        </p:nvPicPr>
        <p:blipFill>
          <a:blip r:embed="rId2"/>
          <a:stretch>
            <a:fillRect/>
          </a:stretch>
        </p:blipFill>
        <p:spPr>
          <a:xfrm>
            <a:off x="6709410" y="2137410"/>
            <a:ext cx="388620" cy="388620"/>
          </a:xfrm>
          <a:prstGeom prst="rect">
            <a:avLst/>
          </a:prstGeom>
        </p:spPr>
      </p:pic>
      <p:sp>
        <p:nvSpPr>
          <p:cNvPr id="18" name="Text 14"/>
          <p:cNvSpPr txBox="1"/>
          <p:nvPr/>
        </p:nvSpPr>
        <p:spPr>
          <a:xfrm>
            <a:off x="7452360" y="1847088"/>
            <a:ext cx="4023360" cy="320040"/>
          </a:xfrm>
          <a:prstGeom prst="rect">
            <a:avLst/>
          </a:prstGeom>
          <a:noFill/>
          <a:ln/>
        </p:spPr>
        <p:txBody>
          <a:bodyPr wrap="square" lIns="0" tIns="0" rIns="0" bIns="0" rtlCol="0" anchor="ctr"/>
          <a:lstStyle/>
          <a:p>
            <a:pPr indent="0" marL="0">
              <a:buNone/>
            </a:pPr>
            <a:r>
              <a:rPr lang="en-US" sz="1700" b="1" dirty="0">
                <a:solidFill>
                  <a:srgbClr val="17262E"/>
                </a:solidFill>
                <a:latin typeface="Cambria" pitchFamily="34" charset="0"/>
                <a:ea typeface="Cambria" pitchFamily="34" charset="-122"/>
                <a:cs typeface="Cambria" pitchFamily="34" charset="-120"/>
              </a:rPr>
              <a:t>Umer et al. [4] — 2020</a:t>
            </a:r>
            <a:endParaRPr lang="en-US" sz="1700" dirty="0"/>
          </a:p>
        </p:txBody>
      </p:sp>
      <p:sp>
        <p:nvSpPr>
          <p:cNvPr id="19" name="Text 15"/>
          <p:cNvSpPr txBox="1"/>
          <p:nvPr/>
        </p:nvSpPr>
        <p:spPr>
          <a:xfrm>
            <a:off x="7452360" y="2194560"/>
            <a:ext cx="4023360" cy="320040"/>
          </a:xfrm>
          <a:prstGeom prst="rect">
            <a:avLst/>
          </a:prstGeom>
          <a:noFill/>
          <a:ln/>
        </p:spPr>
        <p:txBody>
          <a:bodyPr wrap="square" lIns="0" tIns="0" rIns="0" bIns="0" rtlCol="0" anchor="ctr"/>
          <a:lstStyle/>
          <a:p>
            <a:pPr indent="0" marL="0">
              <a:buNone/>
            </a:pPr>
            <a:r>
              <a:rPr lang="en-US" sz="1300" b="1" dirty="0">
                <a:solidFill>
                  <a:srgbClr val="0E6274"/>
                </a:solidFill>
                <a:latin typeface="Calibri" pitchFamily="34" charset="0"/>
                <a:ea typeface="Calibri" pitchFamily="34" charset="-122"/>
                <a:cs typeface="Calibri" pitchFamily="34" charset="-120"/>
              </a:rPr>
              <a:t>Stacked CNN + YUV stain normalization</a:t>
            </a:r>
            <a:endParaRPr lang="en-US" sz="1300" dirty="0"/>
          </a:p>
        </p:txBody>
      </p:sp>
      <p:sp>
        <p:nvSpPr>
          <p:cNvPr id="20" name="Shape 16"/>
          <p:cNvSpPr/>
          <p:nvPr/>
        </p:nvSpPr>
        <p:spPr>
          <a:xfrm>
            <a:off x="6492240" y="2880360"/>
            <a:ext cx="365760" cy="365760"/>
          </a:xfrm>
          <a:prstGeom prst="ellipse">
            <a:avLst/>
          </a:prstGeom>
          <a:solidFill>
            <a:srgbClr val="137C8E"/>
          </a:solidFill>
          <a:ln/>
        </p:spPr>
        <p:txBody>
          <a:bodyPr/>
          <a:p/>
        </p:txBody>
      </p:sp>
      <p:sp>
        <p:nvSpPr>
          <p:cNvPr id="21" name="Text 17"/>
          <p:cNvSpPr txBox="1"/>
          <p:nvPr/>
        </p:nvSpPr>
        <p:spPr>
          <a:xfrm>
            <a:off x="6492240" y="2880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18"/>
          <p:cNvSpPr txBox="1"/>
          <p:nvPr/>
        </p:nvSpPr>
        <p:spPr>
          <a:xfrm>
            <a:off x="6995160" y="2862072"/>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Resize to 120×120  </a:t>
            </a:r>
            <a:pPr indent="0" marL="0">
              <a:buNone/>
            </a:pPr>
            <a:r>
              <a:rPr lang="en-US" sz="1300" dirty="0">
                <a:solidFill>
                  <a:srgbClr val="41525B"/>
                </a:solidFill>
                <a:latin typeface="Calibri" pitchFamily="34" charset="0"/>
                <a:ea typeface="Calibri" pitchFamily="34" charset="-122"/>
                <a:cs typeface="Calibri" pitchFamily="34" charset="-120"/>
              </a:rPr>
              <a:t>— standardise crop size</a:t>
            </a:r>
            <a:endParaRPr lang="en-US" sz="1300" dirty="0"/>
          </a:p>
        </p:txBody>
      </p:sp>
      <p:sp>
        <p:nvSpPr>
          <p:cNvPr id="23" name="Shape 19"/>
          <p:cNvSpPr/>
          <p:nvPr/>
        </p:nvSpPr>
        <p:spPr>
          <a:xfrm>
            <a:off x="6675120" y="3246120"/>
            <a:ext cx="0" cy="219456"/>
          </a:xfrm>
          <a:prstGeom prst="line">
            <a:avLst/>
          </a:prstGeom>
          <a:noFill/>
          <a:ln w="19050">
            <a:solidFill>
              <a:srgbClr val="137C8E"/>
            </a:solidFill>
            <a:prstDash val="solid"/>
          </a:ln>
        </p:spPr>
        <p:txBody>
          <a:bodyPr/>
          <a:p/>
        </p:txBody>
      </p:sp>
      <p:sp>
        <p:nvSpPr>
          <p:cNvPr id="24" name="Shape 20"/>
          <p:cNvSpPr/>
          <p:nvPr/>
        </p:nvSpPr>
        <p:spPr>
          <a:xfrm>
            <a:off x="6492240" y="3465576"/>
            <a:ext cx="365760" cy="365760"/>
          </a:xfrm>
          <a:prstGeom prst="ellipse">
            <a:avLst/>
          </a:prstGeom>
          <a:solidFill>
            <a:srgbClr val="137C8E"/>
          </a:solidFill>
          <a:ln/>
        </p:spPr>
        <p:txBody>
          <a:bodyPr/>
          <a:p/>
        </p:txBody>
      </p:sp>
      <p:sp>
        <p:nvSpPr>
          <p:cNvPr id="25" name="Text 21"/>
          <p:cNvSpPr txBox="1"/>
          <p:nvPr/>
        </p:nvSpPr>
        <p:spPr>
          <a:xfrm>
            <a:off x="6492240" y="34655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2"/>
          <p:cNvSpPr txBox="1"/>
          <p:nvPr/>
        </p:nvSpPr>
        <p:spPr>
          <a:xfrm>
            <a:off x="6995160" y="3447288"/>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Edge-detection filter  </a:t>
            </a:r>
            <a:pPr indent="0" marL="0">
              <a:buNone/>
            </a:pPr>
            <a:r>
              <a:rPr lang="en-US" sz="1300" dirty="0">
                <a:solidFill>
                  <a:srgbClr val="41525B"/>
                </a:solidFill>
                <a:latin typeface="Calibri" pitchFamily="34" charset="0"/>
                <a:ea typeface="Calibri" pitchFamily="34" charset="-122"/>
                <a:cs typeface="Calibri" pitchFamily="34" charset="-120"/>
              </a:rPr>
              <a:t>— sharpen cell boundaries</a:t>
            </a:r>
            <a:endParaRPr lang="en-US" sz="1300" dirty="0"/>
          </a:p>
        </p:txBody>
      </p:sp>
      <p:sp>
        <p:nvSpPr>
          <p:cNvPr id="27" name="Shape 23"/>
          <p:cNvSpPr/>
          <p:nvPr/>
        </p:nvSpPr>
        <p:spPr>
          <a:xfrm>
            <a:off x="6675120" y="3831336"/>
            <a:ext cx="0" cy="219456"/>
          </a:xfrm>
          <a:prstGeom prst="line">
            <a:avLst/>
          </a:prstGeom>
          <a:noFill/>
          <a:ln w="19050">
            <a:solidFill>
              <a:srgbClr val="137C8E"/>
            </a:solidFill>
            <a:prstDash val="solid"/>
          </a:ln>
        </p:spPr>
        <p:txBody>
          <a:bodyPr/>
          <a:p/>
        </p:txBody>
      </p:sp>
      <p:sp>
        <p:nvSpPr>
          <p:cNvPr id="28" name="Shape 24"/>
          <p:cNvSpPr/>
          <p:nvPr/>
        </p:nvSpPr>
        <p:spPr>
          <a:xfrm>
            <a:off x="6492240" y="4050792"/>
            <a:ext cx="365760" cy="365760"/>
          </a:xfrm>
          <a:prstGeom prst="ellipse">
            <a:avLst/>
          </a:prstGeom>
          <a:solidFill>
            <a:srgbClr val="137C8E"/>
          </a:solidFill>
          <a:ln/>
        </p:spPr>
        <p:txBody>
          <a:bodyPr/>
          <a:p/>
        </p:txBody>
      </p:sp>
      <p:sp>
        <p:nvSpPr>
          <p:cNvPr id="29" name="Text 25"/>
          <p:cNvSpPr txBox="1"/>
          <p:nvPr/>
        </p:nvSpPr>
        <p:spPr>
          <a:xfrm>
            <a:off x="6492240" y="40507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0" name="Text 26"/>
          <p:cNvSpPr txBox="1"/>
          <p:nvPr/>
        </p:nvSpPr>
        <p:spPr>
          <a:xfrm>
            <a:off x="6995160" y="4032504"/>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Convert RGB → YUV  </a:t>
            </a:r>
            <a:pPr indent="0" marL="0">
              <a:buNone/>
            </a:pPr>
            <a:r>
              <a:rPr lang="en-US" sz="1300" dirty="0">
                <a:solidFill>
                  <a:srgbClr val="41525B"/>
                </a:solidFill>
                <a:latin typeface="Calibri" pitchFamily="34" charset="0"/>
                <a:ea typeface="Calibri" pitchFamily="34" charset="-122"/>
                <a:cs typeface="Calibri" pitchFamily="34" charset="-120"/>
              </a:rPr>
              <a:t>— separate brightness from colour</a:t>
            </a:r>
            <a:endParaRPr lang="en-US" sz="1300" dirty="0"/>
          </a:p>
        </p:txBody>
      </p:sp>
      <p:sp>
        <p:nvSpPr>
          <p:cNvPr id="31" name="Shape 27"/>
          <p:cNvSpPr/>
          <p:nvPr/>
        </p:nvSpPr>
        <p:spPr>
          <a:xfrm>
            <a:off x="6675120" y="4416552"/>
            <a:ext cx="0" cy="219456"/>
          </a:xfrm>
          <a:prstGeom prst="line">
            <a:avLst/>
          </a:prstGeom>
          <a:noFill/>
          <a:ln w="19050">
            <a:solidFill>
              <a:srgbClr val="137C8E"/>
            </a:solidFill>
            <a:prstDash val="solid"/>
          </a:ln>
        </p:spPr>
        <p:txBody>
          <a:bodyPr/>
          <a:p/>
        </p:txBody>
      </p:sp>
      <p:sp>
        <p:nvSpPr>
          <p:cNvPr id="32" name="Shape 28"/>
          <p:cNvSpPr/>
          <p:nvPr/>
        </p:nvSpPr>
        <p:spPr>
          <a:xfrm>
            <a:off x="6492240" y="4636008"/>
            <a:ext cx="365760" cy="365760"/>
          </a:xfrm>
          <a:prstGeom prst="ellipse">
            <a:avLst/>
          </a:prstGeom>
          <a:solidFill>
            <a:srgbClr val="137C8E"/>
          </a:solidFill>
          <a:ln/>
        </p:spPr>
        <p:txBody>
          <a:bodyPr/>
          <a:p/>
        </p:txBody>
      </p:sp>
      <p:sp>
        <p:nvSpPr>
          <p:cNvPr id="33" name="Text 29"/>
          <p:cNvSpPr txBox="1"/>
          <p:nvPr/>
        </p:nvSpPr>
        <p:spPr>
          <a:xfrm>
            <a:off x="6492240" y="46360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30"/>
          <p:cNvSpPr txBox="1"/>
          <p:nvPr/>
        </p:nvSpPr>
        <p:spPr>
          <a:xfrm>
            <a:off x="6995160" y="4617720"/>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Histogram equalisation  </a:t>
            </a:r>
            <a:pPr indent="0" marL="0">
              <a:buNone/>
            </a:pPr>
            <a:r>
              <a:rPr lang="en-US" sz="1300" dirty="0">
                <a:solidFill>
                  <a:srgbClr val="41525B"/>
                </a:solidFill>
                <a:latin typeface="Calibri" pitchFamily="34" charset="0"/>
                <a:ea typeface="Calibri" pitchFamily="34" charset="-122"/>
                <a:cs typeface="Calibri" pitchFamily="34" charset="-120"/>
              </a:rPr>
              <a:t>— cancel staining differences</a:t>
            </a:r>
            <a:endParaRPr lang="en-US" sz="1300" dirty="0"/>
          </a:p>
        </p:txBody>
      </p:sp>
      <p:sp>
        <p:nvSpPr>
          <p:cNvPr id="35" name="Shape 31"/>
          <p:cNvSpPr/>
          <p:nvPr/>
        </p:nvSpPr>
        <p:spPr>
          <a:xfrm>
            <a:off x="6675120" y="5001768"/>
            <a:ext cx="0" cy="219456"/>
          </a:xfrm>
          <a:prstGeom prst="line">
            <a:avLst/>
          </a:prstGeom>
          <a:noFill/>
          <a:ln w="19050">
            <a:solidFill>
              <a:srgbClr val="137C8E"/>
            </a:solidFill>
            <a:prstDash val="solid"/>
          </a:ln>
        </p:spPr>
        <p:txBody>
          <a:bodyPr/>
          <a:p/>
        </p:txBody>
      </p:sp>
      <p:sp>
        <p:nvSpPr>
          <p:cNvPr id="36" name="Shape 32"/>
          <p:cNvSpPr/>
          <p:nvPr/>
        </p:nvSpPr>
        <p:spPr>
          <a:xfrm>
            <a:off x="6492240" y="5221224"/>
            <a:ext cx="365760" cy="365760"/>
          </a:xfrm>
          <a:prstGeom prst="ellipse">
            <a:avLst/>
          </a:prstGeom>
          <a:solidFill>
            <a:srgbClr val="137C8E"/>
          </a:solidFill>
          <a:ln/>
        </p:spPr>
        <p:txBody>
          <a:bodyPr/>
          <a:p/>
        </p:txBody>
      </p:sp>
      <p:sp>
        <p:nvSpPr>
          <p:cNvPr id="37" name="Text 33"/>
          <p:cNvSpPr txBox="1"/>
          <p:nvPr/>
        </p:nvSpPr>
        <p:spPr>
          <a:xfrm>
            <a:off x="6492240" y="52212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4"/>
          <p:cNvSpPr txBox="1"/>
          <p:nvPr/>
        </p:nvSpPr>
        <p:spPr>
          <a:xfrm>
            <a:off x="6995160" y="5202936"/>
            <a:ext cx="4526280" cy="402336"/>
          </a:xfrm>
          <a:prstGeom prst="rect">
            <a:avLst/>
          </a:prstGeom>
          <a:noFill/>
          <a:ln/>
        </p:spPr>
        <p:txBody>
          <a:bodyPr wrap="square" lIns="0" tIns="0" rIns="0" bIns="0" rtlCol="0" anchor="ctr"/>
          <a:lstStyle/>
          <a:p>
            <a:pPr indent="0" marL="0">
              <a:buNone/>
            </a:pPr>
            <a:r>
              <a:rPr lang="en-US" sz="1300" b="1" dirty="0">
                <a:solidFill>
                  <a:srgbClr val="17262E"/>
                </a:solidFill>
                <a:latin typeface="Calibri" pitchFamily="34" charset="0"/>
                <a:ea typeface="Calibri" pitchFamily="34" charset="-122"/>
                <a:cs typeface="Calibri" pitchFamily="34" charset="-120"/>
              </a:rPr>
              <a:t>Convert back → RGB  </a:t>
            </a:r>
            <a:pPr indent="0" marL="0">
              <a:buNone/>
            </a:pPr>
            <a:r>
              <a:rPr lang="en-US" sz="1300" dirty="0">
                <a:solidFill>
                  <a:srgbClr val="41525B"/>
                </a:solidFill>
                <a:latin typeface="Calibri" pitchFamily="34" charset="0"/>
                <a:ea typeface="Calibri" pitchFamily="34" charset="-122"/>
                <a:cs typeface="Calibri" pitchFamily="34" charset="-120"/>
              </a:rPr>
              <a:t>— feed the CNN</a:t>
            </a:r>
            <a:endParaRPr lang="en-US" sz="1300" dirty="0"/>
          </a:p>
        </p:txBody>
      </p:sp>
      <p:sp>
        <p:nvSpPr>
          <p:cNvPr id="39" name="Text 35"/>
          <p:cNvSpPr txBox="1"/>
          <p:nvPr/>
        </p:nvSpPr>
        <p:spPr>
          <a:xfrm>
            <a:off x="6492240" y="5779008"/>
            <a:ext cx="4983480" cy="274320"/>
          </a:xfrm>
          <a:prstGeom prst="rect">
            <a:avLst/>
          </a:prstGeom>
          <a:noFill/>
          <a:ln/>
        </p:spPr>
        <p:txBody>
          <a:bodyPr wrap="square" lIns="0" tIns="0" rIns="0" bIns="0" rtlCol="0" anchor="ctr"/>
          <a:lstStyle/>
          <a:p>
            <a:pPr indent="0" marL="0">
              <a:buNone/>
            </a:pPr>
            <a:r>
              <a:rPr lang="en-US" sz="1150" b="1" dirty="0">
                <a:solidFill>
                  <a:srgbClr val="137C8E"/>
                </a:solidFill>
                <a:latin typeface="Calibri" pitchFamily="34" charset="0"/>
                <a:ea typeface="Calibri" pitchFamily="34" charset="-122"/>
                <a:cs typeface="Calibri" pitchFamily="34" charset="-120"/>
              </a:rPr>
              <a:t>Why it matters:  </a:t>
            </a:r>
            <a:pPr indent="0" marL="0">
              <a:buNone/>
            </a:pPr>
            <a:r>
              <a:rPr lang="en-US" sz="1150" dirty="0">
                <a:solidFill>
                  <a:srgbClr val="41525B"/>
                </a:solidFill>
                <a:latin typeface="Calibri" pitchFamily="34" charset="0"/>
                <a:ea typeface="Calibri" pitchFamily="34" charset="-122"/>
                <a:cs typeface="Calibri" pitchFamily="34" charset="-120"/>
              </a:rPr>
              <a:t>stops the model from cheating on staining artifacts → ~99.9% accuracy, 100% precision.</a:t>
            </a:r>
            <a:endParaRPr lang="en-US" sz="1150" dirty="0"/>
          </a:p>
        </p:txBody>
      </p:sp>
      <p:sp>
        <p:nvSpPr>
          <p:cNvPr id="40" name="Text 36"/>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41" name="Text 37"/>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PHASE 5 · 2023–2024</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Rigorous benchmarking: does 'heavy' win?</a:t>
            </a:r>
            <a:endParaRPr lang="en-US" sz="3000" dirty="0"/>
          </a:p>
        </p:txBody>
      </p:sp>
      <p:sp>
        <p:nvSpPr>
          <p:cNvPr id="4" name="Text 2"/>
          <p:cNvSpPr txBox="1"/>
          <p:nvPr/>
        </p:nvSpPr>
        <p:spPr>
          <a:xfrm>
            <a:off x="548640" y="1463040"/>
            <a:ext cx="11064240" cy="502920"/>
          </a:xfrm>
          <a:prstGeom prst="rect">
            <a:avLst/>
          </a:prstGeom>
          <a:noFill/>
          <a:ln/>
        </p:spPr>
        <p:txBody>
          <a:bodyPr wrap="square" lIns="0" tIns="0" rIns="0" bIns="0" rtlCol="0" anchor="ctr"/>
          <a:lstStyle/>
          <a:p>
            <a:pPr indent="0" marL="0">
              <a:lnSpc>
                <a:spcPct val="105000"/>
              </a:lnSpc>
              <a:buNone/>
            </a:pPr>
            <a:r>
              <a:rPr lang="en-US" sz="1550" dirty="0">
                <a:solidFill>
                  <a:srgbClr val="41525B"/>
                </a:solidFill>
                <a:latin typeface="Calibri" pitchFamily="34" charset="0"/>
                <a:ea typeface="Calibri" pitchFamily="34" charset="-122"/>
                <a:cs typeface="Calibri" pitchFamily="34" charset="-120"/>
              </a:rPr>
              <a:t>Recent work stops chasing new architectures and instead asks: fairly compared, do big residual backbones actually beat small ones?</a:t>
            </a:r>
            <a:endParaRPr lang="en-US" sz="1550" dirty="0"/>
          </a:p>
        </p:txBody>
      </p:sp>
      <p:sp>
        <p:nvSpPr>
          <p:cNvPr id="5" name="Shape 3"/>
          <p:cNvSpPr/>
          <p:nvPr/>
        </p:nvSpPr>
        <p:spPr>
          <a:xfrm>
            <a:off x="548640" y="2194560"/>
            <a:ext cx="5468112" cy="2514600"/>
          </a:xfrm>
          <a:prstGeom prst="roundRect">
            <a:avLst>
              <a:gd name="adj" fmla="val 3273"/>
            </a:avLst>
          </a:prstGeom>
          <a:solidFill>
            <a:srgbClr val="EAF3F5"/>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6" name="Shape 4"/>
          <p:cNvSpPr/>
          <p:nvPr/>
        </p:nvSpPr>
        <p:spPr>
          <a:xfrm>
            <a:off x="896112" y="2487168"/>
            <a:ext cx="731520" cy="731520"/>
          </a:xfrm>
          <a:prstGeom prst="ellipse">
            <a:avLst/>
          </a:prstGeom>
          <a:solidFill>
            <a:srgbClr val="137C8E"/>
          </a:solidFill>
          <a:ln/>
        </p:spPr>
        <p:txBody>
          <a:bodyPr/>
          <a:p/>
        </p:txBody>
      </p:sp>
      <p:pic>
        <p:nvPicPr>
          <p:cNvPr id="7" name="Image 0" descr="/tmp/build/assets/ic_scale.png">    </p:cNvPr>
          <p:cNvPicPr>
            <a:picLocks noChangeAspect="1"/>
          </p:cNvPicPr>
          <p:nvPr/>
        </p:nvPicPr>
        <p:blipFill>
          <a:blip r:embed="rId1"/>
          <a:stretch>
            <a:fillRect/>
          </a:stretch>
        </p:blipFill>
        <p:spPr>
          <a:xfrm>
            <a:off x="1071677" y="2662733"/>
            <a:ext cx="380390" cy="380390"/>
          </a:xfrm>
          <a:prstGeom prst="rect">
            <a:avLst/>
          </a:prstGeom>
        </p:spPr>
      </p:pic>
      <p:sp>
        <p:nvSpPr>
          <p:cNvPr id="8" name="Text 5"/>
          <p:cNvSpPr txBox="1"/>
          <p:nvPr/>
        </p:nvSpPr>
        <p:spPr>
          <a:xfrm>
            <a:off x="1828800" y="2468880"/>
            <a:ext cx="393192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Hemachandran et al. [10] — 2023</a:t>
            </a:r>
            <a:endParaRPr lang="en-US" sz="1600" dirty="0"/>
          </a:p>
        </p:txBody>
      </p:sp>
      <p:sp>
        <p:nvSpPr>
          <p:cNvPr id="9" name="Text 6"/>
          <p:cNvSpPr txBox="1"/>
          <p:nvPr/>
        </p:nvSpPr>
        <p:spPr>
          <a:xfrm>
            <a:off x="1828800" y="2816352"/>
            <a:ext cx="3931920" cy="320040"/>
          </a:xfrm>
          <a:prstGeom prst="rect">
            <a:avLst/>
          </a:prstGeom>
          <a:noFill/>
          <a:ln/>
        </p:spPr>
        <p:txBody>
          <a:bodyPr wrap="square" lIns="0" tIns="0" rIns="0" bIns="0" rtlCol="0" anchor="ctr"/>
          <a:lstStyle/>
          <a:p>
            <a:pPr indent="0" marL="0">
              <a:buNone/>
            </a:pPr>
            <a:r>
              <a:rPr lang="en-US" sz="1250" b="1" dirty="0">
                <a:solidFill>
                  <a:srgbClr val="0E6274"/>
                </a:solidFill>
                <a:latin typeface="Calibri" pitchFamily="34" charset="0"/>
                <a:ea typeface="Calibri" pitchFamily="34" charset="-122"/>
                <a:cs typeface="Calibri" pitchFamily="34" charset="-120"/>
              </a:rPr>
              <a:t>CNN vs. MobileNetV2 vs. ResNet-50</a:t>
            </a:r>
            <a:endParaRPr lang="en-US" sz="1250" dirty="0"/>
          </a:p>
        </p:txBody>
      </p:sp>
      <p:sp>
        <p:nvSpPr>
          <p:cNvPr id="10" name="Text 7"/>
          <p:cNvSpPr txBox="1"/>
          <p:nvPr/>
        </p:nvSpPr>
        <p:spPr>
          <a:xfrm>
            <a:off x="868680" y="3474720"/>
            <a:ext cx="4828032" cy="1143000"/>
          </a:xfrm>
          <a:prstGeom prst="rect">
            <a:avLst/>
          </a:prstGeom>
          <a:noFill/>
          <a:ln/>
        </p:spPr>
        <p:txBody>
          <a:bodyPr wrap="square" lIns="0" tIns="0" rIns="0" bIns="0" rtlCol="0" anchor="ctr"/>
          <a:lstStyle/>
          <a:p>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Lightweight </a:t>
            </a:r>
            <a:pPr indent="0" marL="0">
              <a:lnSpc>
                <a:spcPct val="106000"/>
              </a:lnSpc>
              <a:buNone/>
            </a:pPr>
            <a:r>
              <a:rPr lang="en-US" sz="1350" b="1" dirty="0">
                <a:solidFill>
                  <a:srgbClr val="17262E"/>
                </a:solidFill>
                <a:latin typeface="Calibri" pitchFamily="34" charset="0"/>
                <a:ea typeface="Calibri" pitchFamily="34" charset="-122"/>
                <a:cs typeface="Calibri" pitchFamily="34" charset="-120"/>
              </a:rPr>
              <a:t>MobileNetV2 reached 97.06%</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 — matching a much heavier residual backbone. (The paper is honest about an internal inconsistency in its own conclusions.)</a:t>
            </a:r>
            <a:endParaRPr lang="en-US" sz="1350" dirty="0"/>
          </a:p>
        </p:txBody>
      </p:sp>
      <p:sp>
        <p:nvSpPr>
          <p:cNvPr id="11" name="Shape 8"/>
          <p:cNvSpPr/>
          <p:nvPr/>
        </p:nvSpPr>
        <p:spPr>
          <a:xfrm>
            <a:off x="6172200" y="2194560"/>
            <a:ext cx="5468112" cy="2514600"/>
          </a:xfrm>
          <a:prstGeom prst="roundRect">
            <a:avLst>
              <a:gd name="adj" fmla="val 3273"/>
            </a:avLst>
          </a:prstGeom>
          <a:solidFill>
            <a:srgbClr val="F5F9FA"/>
          </a:solidFill>
          <a:ln w="12700">
            <a:solidFill>
              <a:srgbClr val="D3E1E6"/>
            </a:solidFill>
            <a:prstDash val="solid"/>
          </a:ln>
          <a:effectLst>
            <a:outerShdw sx="100000" sy="100000" kx="0" ky="0" algn="bl" rotWithShape="0" blurRad="76200" dist="25400" dir="5400000">
              <a:srgbClr val="9FB4BC">
                <a:alpha val="28000"/>
              </a:srgbClr>
            </a:outerShdw>
          </a:effectLst>
        </p:spPr>
        <p:txBody>
          <a:bodyPr/>
          <a:p/>
        </p:txBody>
      </p:sp>
      <p:sp>
        <p:nvSpPr>
          <p:cNvPr id="12" name="Shape 9"/>
          <p:cNvSpPr/>
          <p:nvPr/>
        </p:nvSpPr>
        <p:spPr>
          <a:xfrm>
            <a:off x="6519672" y="2487168"/>
            <a:ext cx="731520" cy="731520"/>
          </a:xfrm>
          <a:prstGeom prst="ellipse">
            <a:avLst/>
          </a:prstGeom>
          <a:solidFill>
            <a:srgbClr val="8A43B0"/>
          </a:solidFill>
          <a:ln/>
        </p:spPr>
        <p:txBody>
          <a:bodyPr/>
          <a:p/>
        </p:txBody>
      </p:sp>
      <p:pic>
        <p:nvPicPr>
          <p:cNvPr id="13" name="Image 1" descr="/tmp/build/assets/ic_chart.png">    </p:cNvPr>
          <p:cNvPicPr>
            <a:picLocks noChangeAspect="1"/>
          </p:cNvPicPr>
          <p:nvPr/>
        </p:nvPicPr>
        <p:blipFill>
          <a:blip r:embed="rId2"/>
          <a:stretch>
            <a:fillRect/>
          </a:stretch>
        </p:blipFill>
        <p:spPr>
          <a:xfrm>
            <a:off x="6695237" y="2662733"/>
            <a:ext cx="380390" cy="380390"/>
          </a:xfrm>
          <a:prstGeom prst="rect">
            <a:avLst/>
          </a:prstGeom>
        </p:spPr>
      </p:pic>
      <p:sp>
        <p:nvSpPr>
          <p:cNvPr id="14" name="Text 10"/>
          <p:cNvSpPr txBox="1"/>
          <p:nvPr/>
        </p:nvSpPr>
        <p:spPr>
          <a:xfrm>
            <a:off x="7452360" y="2468880"/>
            <a:ext cx="3931920" cy="320040"/>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Mujahid et al. [11] — 2024</a:t>
            </a:r>
            <a:endParaRPr lang="en-US" sz="1600" dirty="0"/>
          </a:p>
        </p:txBody>
      </p:sp>
      <p:sp>
        <p:nvSpPr>
          <p:cNvPr id="15" name="Text 11"/>
          <p:cNvSpPr txBox="1"/>
          <p:nvPr/>
        </p:nvSpPr>
        <p:spPr>
          <a:xfrm>
            <a:off x="7452360" y="2816352"/>
            <a:ext cx="3931920" cy="320040"/>
          </a:xfrm>
          <a:prstGeom prst="rect">
            <a:avLst/>
          </a:prstGeom>
          <a:noFill/>
          <a:ln/>
        </p:spPr>
        <p:txBody>
          <a:bodyPr wrap="square" lIns="0" tIns="0" rIns="0" bIns="0" rtlCol="0" anchor="ctr"/>
          <a:lstStyle/>
          <a:p>
            <a:pPr indent="0" marL="0">
              <a:buNone/>
            </a:pPr>
            <a:r>
              <a:rPr lang="en-US" sz="1250" b="1" dirty="0">
                <a:solidFill>
                  <a:srgbClr val="6C2D8F"/>
                </a:solidFill>
                <a:latin typeface="Calibri" pitchFamily="34" charset="0"/>
                <a:ea typeface="Calibri" pitchFamily="34" charset="-122"/>
                <a:cs typeface="Calibri" pitchFamily="34" charset="-120"/>
              </a:rPr>
              <a:t>Custom 12-layer CNN vs. 11 backbones</a:t>
            </a:r>
            <a:endParaRPr lang="en-US" sz="1250" dirty="0"/>
          </a:p>
        </p:txBody>
      </p:sp>
      <p:sp>
        <p:nvSpPr>
          <p:cNvPr id="16" name="Text 12"/>
          <p:cNvSpPr txBox="1"/>
          <p:nvPr/>
        </p:nvSpPr>
        <p:spPr>
          <a:xfrm>
            <a:off x="6492240" y="3474720"/>
            <a:ext cx="4828032" cy="1143000"/>
          </a:xfrm>
          <a:prstGeom prst="rect">
            <a:avLst/>
          </a:prstGeom>
          <a:noFill/>
          <a:ln/>
        </p:spPr>
        <p:txBody>
          <a:bodyPr wrap="square" lIns="0" tIns="0" rIns="0" bIns="0" rtlCol="0" anchor="ctr"/>
          <a:lstStyle/>
          <a:p>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A carefully tuned </a:t>
            </a:r>
            <a:pPr indent="0" marL="0">
              <a:lnSpc>
                <a:spcPct val="106000"/>
              </a:lnSpc>
              <a:buNone/>
            </a:pPr>
            <a:r>
              <a:rPr lang="en-US" sz="1350" b="1" dirty="0">
                <a:solidFill>
                  <a:srgbClr val="17262E"/>
                </a:solidFill>
                <a:latin typeface="Calibri" pitchFamily="34" charset="0"/>
                <a:ea typeface="Calibri" pitchFamily="34" charset="-122"/>
                <a:cs typeface="Calibri" pitchFamily="34" charset="-120"/>
              </a:rPr>
              <a:t>custom CNN hit 97.57%</a:t>
            </a:r>
            <a:pPr indent="0" marL="0">
              <a:lnSpc>
                <a:spcPct val="106000"/>
              </a:lnSpc>
              <a:buNone/>
            </a:pPr>
            <a:r>
              <a:rPr lang="en-US" sz="1350" dirty="0">
                <a:solidFill>
                  <a:srgbClr val="41525B"/>
                </a:solidFill>
                <a:latin typeface="Calibri" pitchFamily="34" charset="0"/>
                <a:ea typeface="Calibri" pitchFamily="34" charset="-122"/>
                <a:cs typeface="Calibri" pitchFamily="34" charset="-120"/>
              </a:rPr>
              <a:t> with the lowest test loss (0.0995) — fine-tuned pooling &amp; dropout can out-converge generic pre-trained nets.</a:t>
            </a:r>
            <a:endParaRPr lang="en-US" sz="1350" dirty="0"/>
          </a:p>
        </p:txBody>
      </p:sp>
      <p:sp>
        <p:nvSpPr>
          <p:cNvPr id="17" name="Shape 13"/>
          <p:cNvSpPr/>
          <p:nvPr/>
        </p:nvSpPr>
        <p:spPr>
          <a:xfrm>
            <a:off x="548640" y="4937760"/>
            <a:ext cx="11091672" cy="1188720"/>
          </a:xfrm>
          <a:prstGeom prst="roundRect">
            <a:avLst>
              <a:gd name="adj" fmla="val 7692"/>
            </a:avLst>
          </a:prstGeom>
          <a:solidFill>
            <a:srgbClr val="0F2E3D"/>
          </a:solidFill>
          <a:ln/>
        </p:spPr>
        <p:txBody>
          <a:bodyPr/>
          <a:p/>
        </p:txBody>
      </p:sp>
      <p:sp>
        <p:nvSpPr>
          <p:cNvPr id="18" name="Shape 14"/>
          <p:cNvSpPr/>
          <p:nvPr/>
        </p:nvSpPr>
        <p:spPr>
          <a:xfrm>
            <a:off x="914400" y="5166360"/>
            <a:ext cx="731520" cy="731520"/>
          </a:xfrm>
          <a:prstGeom prst="ellipse">
            <a:avLst/>
          </a:prstGeom>
          <a:solidFill>
            <a:srgbClr val="2EA79B"/>
          </a:solidFill>
          <a:ln/>
        </p:spPr>
        <p:txBody>
          <a:bodyPr/>
          <a:p/>
        </p:txBody>
      </p:sp>
      <p:pic>
        <p:nvPicPr>
          <p:cNvPr id="19" name="Image 2" descr="/tmp/build/assets/ic_check.png">    </p:cNvPr>
          <p:cNvPicPr>
            <a:picLocks noChangeAspect="1"/>
          </p:cNvPicPr>
          <p:nvPr/>
        </p:nvPicPr>
        <p:blipFill>
          <a:blip r:embed="rId3"/>
          <a:stretch>
            <a:fillRect/>
          </a:stretch>
        </p:blipFill>
        <p:spPr>
          <a:xfrm>
            <a:off x="1097280" y="5349240"/>
            <a:ext cx="365760" cy="365760"/>
          </a:xfrm>
          <a:prstGeom prst="rect">
            <a:avLst/>
          </a:prstGeom>
        </p:spPr>
      </p:pic>
      <p:sp>
        <p:nvSpPr>
          <p:cNvPr id="20" name="Text 15"/>
          <p:cNvSpPr txBox="1"/>
          <p:nvPr/>
        </p:nvSpPr>
        <p:spPr>
          <a:xfrm>
            <a:off x="1874520" y="4937760"/>
            <a:ext cx="9509760" cy="1188720"/>
          </a:xfrm>
          <a:prstGeom prst="rect">
            <a:avLst/>
          </a:prstGeom>
          <a:noFill/>
          <a:ln/>
        </p:spPr>
        <p:txBody>
          <a:bodyPr wrap="square" lIns="0" tIns="0" rIns="0" bIns="0" rtlCol="0" anchor="ctr"/>
          <a:lstStyle/>
          <a:p>
            <a:pPr indent="0" marL="0">
              <a:lnSpc>
                <a:spcPct val="105000"/>
              </a:lnSpc>
              <a:buNone/>
            </a:pPr>
            <a:r>
              <a:rPr lang="en-US" sz="1500" b="1" dirty="0">
                <a:solidFill>
                  <a:srgbClr val="2EA79B"/>
                </a:solidFill>
                <a:latin typeface="Calibri" pitchFamily="34" charset="0"/>
                <a:ea typeface="Calibri" pitchFamily="34" charset="-122"/>
                <a:cs typeface="Calibri" pitchFamily="34" charset="-120"/>
              </a:rPr>
              <a:t>Verdict:  </a:t>
            </a:r>
            <a:pPr indent="0" marL="0">
              <a:lnSpc>
                <a:spcPct val="105000"/>
              </a:lnSpc>
              <a:buNone/>
            </a:pPr>
            <a:r>
              <a:rPr lang="en-US" sz="1500" dirty="0">
                <a:solidFill>
                  <a:srgbClr val="DCECEF"/>
                </a:solidFill>
                <a:latin typeface="Calibri" pitchFamily="34" charset="0"/>
                <a:ea typeface="Calibri" pitchFamily="34" charset="-122"/>
                <a:cs typeface="Calibri" pitchFamily="34" charset="-120"/>
              </a:rPr>
              <a:t>well-designed lightweight models rival heavy ones on this task. Efficiency is not a compromise — it's a viable design goal.</a:t>
            </a:r>
            <a:endParaRPr lang="en-US" sz="1500" dirty="0"/>
          </a:p>
        </p:txBody>
      </p:sp>
      <p:sp>
        <p:nvSpPr>
          <p:cNvPr id="21" name="Text 16"/>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2" name="Text 17"/>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AT A GLANCE</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All 11 studies on one page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48640"/>
                <a:gridCol w="2286000"/>
                <a:gridCol w="4114800"/>
                <a:gridCol w="4142232"/>
              </a:tblGrid>
              <a:tr h="37947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0F2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Study (Year)</a:t>
                      </a:r>
                      <a:endParaRPr lang="en-US" sz="12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0F2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0F2E3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Headline result</a:t>
                      </a:r>
                      <a:endParaRPr lang="en-US" sz="12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0F2E3D"/>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Liang (2016)</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Custom 16-layer CNN from scratch</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97.37% — beats AlexNet features (91.99%)</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Rajaraman (2018)</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Pre-trained CNNs as feature extractors</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Mapped optimal transfer layers; scalable aid</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Rajaraman (2019)</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VGG-19 + SqueezeNet ensemble</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Lower variance, better generalization</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Umer (2020)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Stacked CNN + YUV stain normalization</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~99.9% acc, 100% precision (5-fold)</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Fuhad (2020)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Autoencoder + knowledge distillation</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99.23% · 4,600 FLOPS · &lt;1 s · fixed labels</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Zhao (2020)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VGG16 + FSRCNN super-res + SSD300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96.5% · cross-species (P. vivax)</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Masud (2020)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Lightweight CNN + cyclical LR</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97.30% · 409K params · ~97 min</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Marques (2022)</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EfficientNet-B0 · 10-fold ensemble</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98.29% · AUC 99.76% · open-source</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Madhu (2023)</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Inception-V3 + Capsule network</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99.35% · preserves spatial pose</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Hemachandran (2023)</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CNN vs MobileNetV2 vs ResNet-50</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MobileNetV2 97.06% · light ≈ heavy</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5F9FA"/>
                    </a:solidFill>
                  </a:tcPr>
                </a:tc>
              </a:tr>
              <a:tr h="379476">
                <a:tc>
                  <a:txBody>
                    <a:bodyPr/>
                    <a:lstStyle/>
                    <a:p>
                      <a:pPr algn="ctr" indent="0" marL="0">
                        <a:buNone/>
                      </a:pPr>
                      <a:r>
                        <a:rPr lang="en-US" sz="1150" b="1" dirty="0">
                          <a:solidFill>
                            <a:srgbClr val="137C8E"/>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7262E"/>
                          </a:solidFill>
                          <a:latin typeface="Calibri" pitchFamily="34" charset="0"/>
                          <a:ea typeface="Calibri" pitchFamily="34" charset="-122"/>
                          <a:cs typeface="Calibri" pitchFamily="34" charset="-120"/>
                        </a:rPr>
                        <a:t>Mujahid (2024)</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Custom 12-layer CNN vs 11 backbones</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1525B"/>
                          </a:solidFill>
                          <a:latin typeface="Calibri" pitchFamily="34" charset="0"/>
                          <a:ea typeface="Calibri" pitchFamily="34" charset="-122"/>
                          <a:cs typeface="Calibri" pitchFamily="34" charset="-120"/>
                        </a:rPr>
                        <a:t>97.57% · lowest test loss (0.0995)</a:t>
                      </a:r>
                      <a:endParaRPr lang="en-US" sz="1100" dirty="0">
                        <a:latin typeface="Calibri" charset="0"/>
                        <a:ea typeface="Calibri" charset="0"/>
                        <a:cs typeface="Calibri" charset="0"/>
                      </a:endParaRPr>
                    </a:p>
                  </a:txBody>
                  <a:tcPr marL="91440" marR="91440" marT="45720" marB="45720" anchor="ctr">
                    <a:lnL w="9525" cap="flat" cmpd="sng" algn="ctr">
                      <a:solidFill>
                        <a:srgbClr val="DCE7EB"/>
                      </a:solidFill>
                      <a:prstDash val="solid"/>
                      <a:round/>
                      <a:headEnd type="none" w="med" len="med"/>
                      <a:tailEnd type="none" w="med" len="med"/>
                    </a:lnL>
                    <a:lnR w="9525" cap="flat" cmpd="sng" algn="ctr">
                      <a:solidFill>
                        <a:srgbClr val="DCE7EB"/>
                      </a:solidFill>
                      <a:prstDash val="solid"/>
                      <a:round/>
                      <a:headEnd type="none" w="med" len="med"/>
                      <a:tailEnd type="none" w="med" len="med"/>
                    </a:lnR>
                    <a:lnT w="9525" cap="flat" cmpd="sng" algn="ctr">
                      <a:solidFill>
                        <a:srgbClr val="DCE7EB"/>
                      </a:solidFill>
                      <a:prstDash val="solid"/>
                      <a:round/>
                      <a:headEnd type="none" w="med" len="med"/>
                      <a:tailEnd type="none" w="med" len="med"/>
                    </a:lnT>
                    <a:lnB w="9525" cap="flat" cmpd="sng" algn="ctr">
                      <a:solidFill>
                        <a:srgbClr val="DCE7E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050" i="1" dirty="0">
                <a:solidFill>
                  <a:srgbClr val="7C8B93"/>
                </a:solidFill>
                <a:latin typeface="Calibri" pitchFamily="34" charset="0"/>
                <a:ea typeface="Calibri" pitchFamily="34" charset="-122"/>
                <a:cs typeface="Calibri" pitchFamily="34" charset="-120"/>
              </a:rPr>
              <a:t>Direct accuracy ranking is misleading — protocols, splits and data-cleaning differ across papers (see next slide).</a:t>
            </a:r>
            <a:endParaRPr lang="en-US" sz="1050" dirty="0"/>
          </a:p>
        </p:txBody>
      </p:sp>
      <p:sp>
        <p:nvSpPr>
          <p:cNvPr id="6" name="Text 3"/>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COMPARATIVE ANALYSIS</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Reported accuracy across studies</a:t>
            </a:r>
            <a:endParaRPr lang="en-US" sz="3000" dirty="0"/>
          </a:p>
        </p:txBody>
      </p:sp>
      <p:graphicFrame>
        <p:nvGraphicFramePr>
          <p:cNvPr id="4" name="Chart 0" descr=""/>
          <p:cNvGraphicFramePr/>
          <p:nvPr/>
        </p:nvGraphicFramePr>
        <p:xfrm>
          <a:off x="548640" y="1600200"/>
          <a:ext cx="7589520"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806440"/>
            <a:ext cx="7589520" cy="274320"/>
          </a:xfrm>
          <a:prstGeom prst="rect">
            <a:avLst/>
          </a:prstGeom>
          <a:noFill/>
          <a:ln/>
        </p:spPr>
        <p:txBody>
          <a:bodyPr wrap="square" lIns="0" tIns="0" rIns="0" bIns="0" rtlCol="0" anchor="ctr"/>
          <a:lstStyle/>
          <a:p>
            <a:pPr indent="0" marL="0">
              <a:buNone/>
            </a:pPr>
            <a:r>
              <a:rPr lang="en-US" sz="1050" i="1" dirty="0">
                <a:solidFill>
                  <a:srgbClr val="7C8B93"/>
                </a:solidFill>
                <a:latin typeface="Calibri" pitchFamily="34" charset="0"/>
                <a:ea typeface="Calibri" pitchFamily="34" charset="-122"/>
                <a:cs typeface="Calibri" pitchFamily="34" charset="-120"/>
              </a:rPr>
              <a:t>Axis starts at 94% to reveal differences.</a:t>
            </a:r>
            <a:endParaRPr lang="en-US" sz="1050" dirty="0"/>
          </a:p>
        </p:txBody>
      </p:sp>
      <p:sp>
        <p:nvSpPr>
          <p:cNvPr id="6" name="Shape 3"/>
          <p:cNvSpPr/>
          <p:nvPr/>
        </p:nvSpPr>
        <p:spPr>
          <a:xfrm>
            <a:off x="8366760" y="1600200"/>
            <a:ext cx="3273552" cy="4160520"/>
          </a:xfrm>
          <a:prstGeom prst="roundRect">
            <a:avLst>
              <a:gd name="adj" fmla="val 2514"/>
            </a:avLst>
          </a:prstGeom>
          <a:solidFill>
            <a:srgbClr val="0F2E3D"/>
          </a:solidFill>
          <a:ln w="12700">
            <a:solidFill>
              <a:srgbClr val="0F2E3D"/>
            </a:solidFill>
            <a:prstDash val="solid"/>
          </a:ln>
          <a:effectLst>
            <a:outerShdw sx="100000" sy="100000" kx="0" ky="0" algn="bl" rotWithShape="0" blurRad="76200" dist="25400" dir="5400000">
              <a:srgbClr val="9FB4BC">
                <a:alpha val="28000"/>
              </a:srgbClr>
            </a:outerShdw>
          </a:effectLst>
        </p:spPr>
        <p:txBody>
          <a:bodyPr/>
          <a:p/>
        </p:txBody>
      </p:sp>
      <p:sp>
        <p:nvSpPr>
          <p:cNvPr id="7" name="Shape 4"/>
          <p:cNvSpPr/>
          <p:nvPr/>
        </p:nvSpPr>
        <p:spPr>
          <a:xfrm>
            <a:off x="8709660" y="1943100"/>
            <a:ext cx="777240" cy="777240"/>
          </a:xfrm>
          <a:prstGeom prst="ellipse">
            <a:avLst/>
          </a:prstGeom>
          <a:solidFill>
            <a:srgbClr val="CC4A3F"/>
          </a:solidFill>
          <a:ln/>
        </p:spPr>
        <p:txBody>
          <a:bodyPr/>
          <a:p/>
        </p:txBody>
      </p:sp>
      <p:pic>
        <p:nvPicPr>
          <p:cNvPr id="8" name="Image 0" descr="/tmp/build/assets/ic_warning.png">    </p:cNvPr>
          <p:cNvPicPr>
            <a:picLocks noChangeAspect="1"/>
          </p:cNvPicPr>
          <p:nvPr/>
        </p:nvPicPr>
        <p:blipFill>
          <a:blip r:embed="rId2"/>
          <a:stretch>
            <a:fillRect/>
          </a:stretch>
        </p:blipFill>
        <p:spPr>
          <a:xfrm>
            <a:off x="8903970" y="2137410"/>
            <a:ext cx="388620" cy="388620"/>
          </a:xfrm>
          <a:prstGeom prst="rect">
            <a:avLst/>
          </a:prstGeom>
        </p:spPr>
      </p:pic>
      <p:sp>
        <p:nvSpPr>
          <p:cNvPr id="9" name="Text 5"/>
          <p:cNvSpPr txBox="1"/>
          <p:nvPr/>
        </p:nvSpPr>
        <p:spPr>
          <a:xfrm>
            <a:off x="9646920" y="2084832"/>
            <a:ext cx="1920240" cy="41148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Read with care</a:t>
            </a:r>
            <a:endParaRPr lang="en-US" sz="1650" dirty="0"/>
          </a:p>
        </p:txBody>
      </p:sp>
      <p:sp>
        <p:nvSpPr>
          <p:cNvPr id="10" name="Shape 6"/>
          <p:cNvSpPr/>
          <p:nvPr/>
        </p:nvSpPr>
        <p:spPr>
          <a:xfrm>
            <a:off x="8686800" y="3118104"/>
            <a:ext cx="164592" cy="164592"/>
          </a:xfrm>
          <a:prstGeom prst="ellipse">
            <a:avLst/>
          </a:prstGeom>
          <a:solidFill>
            <a:srgbClr val="2EA79B"/>
          </a:solidFill>
          <a:ln/>
        </p:spPr>
        <p:txBody>
          <a:bodyPr/>
          <a:p/>
        </p:txBody>
      </p:sp>
      <p:sp>
        <p:nvSpPr>
          <p:cNvPr id="11" name="Text 7"/>
          <p:cNvSpPr txBox="1"/>
          <p:nvPr/>
        </p:nvSpPr>
        <p:spPr>
          <a:xfrm>
            <a:off x="8961120" y="3026664"/>
            <a:ext cx="2514600" cy="310896"/>
          </a:xfrm>
          <a:prstGeom prst="rect">
            <a:avLst/>
          </a:prstGeom>
          <a:noFill/>
          <a:ln/>
        </p:spPr>
        <p:txBody>
          <a:bodyPr wrap="square" lIns="0" tIns="0" rIns="0" bIns="0" rtlCol="0" anchor="ctr"/>
          <a:lstStyle/>
          <a:p>
            <a:pPr indent="0" marL="0">
              <a:buNone/>
            </a:pPr>
            <a:r>
              <a:rPr lang="en-US" sz="1350" b="1" dirty="0">
                <a:solidFill>
                  <a:srgbClr val="2EA79B"/>
                </a:solidFill>
                <a:latin typeface="Calibri" pitchFamily="34" charset="0"/>
                <a:ea typeface="Calibri" pitchFamily="34" charset="-122"/>
                <a:cs typeface="Calibri" pitchFamily="34" charset="-120"/>
              </a:rPr>
              <a:t>Different splits</a:t>
            </a:r>
            <a:endParaRPr lang="en-US" sz="1350" dirty="0"/>
          </a:p>
        </p:txBody>
      </p:sp>
      <p:sp>
        <p:nvSpPr>
          <p:cNvPr id="12" name="Text 8"/>
          <p:cNvSpPr txBox="1"/>
          <p:nvPr/>
        </p:nvSpPr>
        <p:spPr>
          <a:xfrm>
            <a:off x="8961120" y="3337560"/>
            <a:ext cx="2560320" cy="566928"/>
          </a:xfrm>
          <a:prstGeom prst="rect">
            <a:avLst/>
          </a:prstGeom>
          <a:noFill/>
          <a:ln/>
        </p:spPr>
        <p:txBody>
          <a:bodyPr wrap="square" lIns="0" tIns="0" rIns="0" bIns="0" rtlCol="0" anchor="ctr"/>
          <a:lstStyle/>
          <a:p>
            <a:pPr indent="0" marL="0">
              <a:lnSpc>
                <a:spcPct val="102000"/>
              </a:lnSpc>
              <a:buNone/>
            </a:pPr>
            <a:r>
              <a:rPr lang="en-US" sz="1200" dirty="0">
                <a:solidFill>
                  <a:srgbClr val="D7E7EB"/>
                </a:solidFill>
                <a:latin typeface="Calibri" pitchFamily="34" charset="0"/>
                <a:ea typeface="Calibri" pitchFamily="34" charset="-122"/>
                <a:cs typeface="Calibri" pitchFamily="34" charset="-120"/>
              </a:rPr>
              <a:t>5-fold, 10-fold and 80:20 aren't comparable.</a:t>
            </a:r>
            <a:endParaRPr lang="en-US" sz="1200" dirty="0"/>
          </a:p>
        </p:txBody>
      </p:sp>
      <p:sp>
        <p:nvSpPr>
          <p:cNvPr id="13" name="Shape 9"/>
          <p:cNvSpPr/>
          <p:nvPr/>
        </p:nvSpPr>
        <p:spPr>
          <a:xfrm>
            <a:off x="8686800" y="4050792"/>
            <a:ext cx="164592" cy="164592"/>
          </a:xfrm>
          <a:prstGeom prst="ellipse">
            <a:avLst/>
          </a:prstGeom>
          <a:solidFill>
            <a:srgbClr val="2EA79B"/>
          </a:solidFill>
          <a:ln/>
        </p:spPr>
        <p:txBody>
          <a:bodyPr/>
          <a:p/>
        </p:txBody>
      </p:sp>
      <p:sp>
        <p:nvSpPr>
          <p:cNvPr id="14" name="Text 10"/>
          <p:cNvSpPr txBox="1"/>
          <p:nvPr/>
        </p:nvSpPr>
        <p:spPr>
          <a:xfrm>
            <a:off x="8961120" y="3959352"/>
            <a:ext cx="2514600" cy="310896"/>
          </a:xfrm>
          <a:prstGeom prst="rect">
            <a:avLst/>
          </a:prstGeom>
          <a:noFill/>
          <a:ln/>
        </p:spPr>
        <p:txBody>
          <a:bodyPr wrap="square" lIns="0" tIns="0" rIns="0" bIns="0" rtlCol="0" anchor="ctr"/>
          <a:lstStyle/>
          <a:p>
            <a:pPr indent="0" marL="0">
              <a:buNone/>
            </a:pPr>
            <a:r>
              <a:rPr lang="en-US" sz="1350" b="1" dirty="0">
                <a:solidFill>
                  <a:srgbClr val="2EA79B"/>
                </a:solidFill>
                <a:latin typeface="Calibri" pitchFamily="34" charset="0"/>
                <a:ea typeface="Calibri" pitchFamily="34" charset="-122"/>
                <a:cs typeface="Calibri" pitchFamily="34" charset="-120"/>
              </a:rPr>
              <a:t>Different data</a:t>
            </a:r>
            <a:endParaRPr lang="en-US" sz="1350" dirty="0"/>
          </a:p>
        </p:txBody>
      </p:sp>
      <p:sp>
        <p:nvSpPr>
          <p:cNvPr id="15" name="Text 11"/>
          <p:cNvSpPr txBox="1"/>
          <p:nvPr/>
        </p:nvSpPr>
        <p:spPr>
          <a:xfrm>
            <a:off x="8961120" y="4270248"/>
            <a:ext cx="2560320" cy="566928"/>
          </a:xfrm>
          <a:prstGeom prst="rect">
            <a:avLst/>
          </a:prstGeom>
          <a:noFill/>
          <a:ln/>
        </p:spPr>
        <p:txBody>
          <a:bodyPr wrap="square" lIns="0" tIns="0" rIns="0" bIns="0" rtlCol="0" anchor="ctr"/>
          <a:lstStyle/>
          <a:p>
            <a:pPr indent="0" marL="0">
              <a:lnSpc>
                <a:spcPct val="102000"/>
              </a:lnSpc>
              <a:buNone/>
            </a:pPr>
            <a:r>
              <a:rPr lang="en-US" sz="1200" dirty="0">
                <a:solidFill>
                  <a:srgbClr val="D7E7EB"/>
                </a:solidFill>
                <a:latin typeface="Calibri" pitchFamily="34" charset="0"/>
                <a:ea typeface="Calibri" pitchFamily="34" charset="-122"/>
                <a:cs typeface="Calibri" pitchFamily="34" charset="-120"/>
              </a:rPr>
              <a:t>Some train on the noisy set, some on cleaned labels.</a:t>
            </a:r>
            <a:endParaRPr lang="en-US" sz="1200" dirty="0"/>
          </a:p>
        </p:txBody>
      </p:sp>
      <p:sp>
        <p:nvSpPr>
          <p:cNvPr id="16" name="Shape 12"/>
          <p:cNvSpPr/>
          <p:nvPr/>
        </p:nvSpPr>
        <p:spPr>
          <a:xfrm>
            <a:off x="8686800" y="4983480"/>
            <a:ext cx="164592" cy="164592"/>
          </a:xfrm>
          <a:prstGeom prst="ellipse">
            <a:avLst/>
          </a:prstGeom>
          <a:solidFill>
            <a:srgbClr val="2EA79B"/>
          </a:solidFill>
          <a:ln/>
        </p:spPr>
        <p:txBody>
          <a:bodyPr/>
          <a:p/>
        </p:txBody>
      </p:sp>
      <p:sp>
        <p:nvSpPr>
          <p:cNvPr id="17" name="Text 13"/>
          <p:cNvSpPr txBox="1"/>
          <p:nvPr/>
        </p:nvSpPr>
        <p:spPr>
          <a:xfrm>
            <a:off x="8961120" y="4892040"/>
            <a:ext cx="2514600" cy="310896"/>
          </a:xfrm>
          <a:prstGeom prst="rect">
            <a:avLst/>
          </a:prstGeom>
          <a:noFill/>
          <a:ln/>
        </p:spPr>
        <p:txBody>
          <a:bodyPr wrap="square" lIns="0" tIns="0" rIns="0" bIns="0" rtlCol="0" anchor="ctr"/>
          <a:lstStyle/>
          <a:p>
            <a:pPr indent="0" marL="0">
              <a:buNone/>
            </a:pPr>
            <a:r>
              <a:rPr lang="en-US" sz="1350" b="1" dirty="0">
                <a:solidFill>
                  <a:srgbClr val="2EA79B"/>
                </a:solidFill>
                <a:latin typeface="Calibri" pitchFamily="34" charset="0"/>
                <a:ea typeface="Calibri" pitchFamily="34" charset="-122"/>
                <a:cs typeface="Calibri" pitchFamily="34" charset="-120"/>
              </a:rPr>
              <a:t>Possible leakage</a:t>
            </a:r>
            <a:endParaRPr lang="en-US" sz="1350" dirty="0"/>
          </a:p>
        </p:txBody>
      </p:sp>
      <p:sp>
        <p:nvSpPr>
          <p:cNvPr id="18" name="Text 14"/>
          <p:cNvSpPr txBox="1"/>
          <p:nvPr/>
        </p:nvSpPr>
        <p:spPr>
          <a:xfrm>
            <a:off x="8961120" y="5202936"/>
            <a:ext cx="2560320" cy="566928"/>
          </a:xfrm>
          <a:prstGeom prst="rect">
            <a:avLst/>
          </a:prstGeom>
          <a:noFill/>
          <a:ln/>
        </p:spPr>
        <p:txBody>
          <a:bodyPr wrap="square" lIns="0" tIns="0" rIns="0" bIns="0" rtlCol="0" anchor="ctr"/>
          <a:lstStyle/>
          <a:p>
            <a:pPr indent="0" marL="0">
              <a:lnSpc>
                <a:spcPct val="102000"/>
              </a:lnSpc>
              <a:buNone/>
            </a:pPr>
            <a:r>
              <a:rPr lang="en-US" sz="1200" dirty="0">
                <a:solidFill>
                  <a:srgbClr val="D7E7EB"/>
                </a:solidFill>
                <a:latin typeface="Calibri" pitchFamily="34" charset="0"/>
                <a:ea typeface="Calibri" pitchFamily="34" charset="-122"/>
                <a:cs typeface="Calibri" pitchFamily="34" charset="-120"/>
              </a:rPr>
              <a:t>High scores may hide patient-level data leakage.</a:t>
            </a:r>
            <a:endParaRPr lang="en-US" sz="1200" dirty="0"/>
          </a:p>
        </p:txBody>
      </p:sp>
      <p:sp>
        <p:nvSpPr>
          <p:cNvPr id="19" name="Text 15"/>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20" name="Text 16"/>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11109960" y="320040"/>
            <a:ext cx="1005840" cy="1005840"/>
          </a:xfrm>
          <a:prstGeom prst="ellipse">
            <a:avLst/>
          </a:prstGeom>
          <a:solidFill>
            <a:srgbClr val="8A43B0">
              <a:alpha val="40000"/>
            </a:srgbClr>
          </a:solidFill>
          <a:ln/>
        </p:spPr>
        <p:txBody>
          <a:bodyPr/>
          <a:p/>
        </p:txBody>
      </p:sp>
      <p:sp>
        <p:nvSpPr>
          <p:cNvPr id="3" name="Shape 1"/>
          <p:cNvSpPr/>
          <p:nvPr/>
        </p:nvSpPr>
        <p:spPr>
          <a:xfrm>
            <a:off x="91440" y="5760720"/>
            <a:ext cx="1097280" cy="1097280"/>
          </a:xfrm>
          <a:prstGeom prst="ellipse">
            <a:avLst/>
          </a:prstGeom>
          <a:solidFill>
            <a:srgbClr val="137C8E">
              <a:alpha val="40000"/>
            </a:srgbClr>
          </a:solidFill>
          <a:ln/>
        </p:spPr>
        <p:txBody>
          <a:bodyPr/>
          <a:p/>
        </p:txBody>
      </p:sp>
      <p:sp>
        <p:nvSpPr>
          <p:cNvPr id="4" name="Shape 2"/>
          <p:cNvSpPr/>
          <p:nvPr/>
        </p:nvSpPr>
        <p:spPr>
          <a:xfrm>
            <a:off x="640080" y="502920"/>
            <a:ext cx="2011680" cy="402336"/>
          </a:xfrm>
          <a:prstGeom prst="roundRect">
            <a:avLst>
              <a:gd name="adj" fmla="val 50000"/>
            </a:avLst>
          </a:prstGeom>
          <a:solidFill>
            <a:srgbClr val="D99A00"/>
          </a:solidFill>
          <a:ln/>
        </p:spPr>
        <p:txBody>
          <a:bodyPr/>
          <a:p/>
        </p:txBody>
      </p:sp>
      <p:sp>
        <p:nvSpPr>
          <p:cNvPr id="5" name="Text 3"/>
          <p:cNvSpPr txBox="1"/>
          <p:nvPr/>
        </p:nvSpPr>
        <p:spPr>
          <a:xfrm>
            <a:off x="640080" y="502920"/>
            <a:ext cx="2011680" cy="402336"/>
          </a:xfrm>
          <a:prstGeom prst="rect">
            <a:avLst/>
          </a:prstGeom>
          <a:noFill/>
          <a:ln/>
        </p:spPr>
        <p:txBody>
          <a:bodyPr wrap="square" lIns="0" tIns="0" rIns="0" bIns="0" rtlCol="0" anchor="ctr"/>
          <a:lstStyle/>
          <a:p>
            <a:pPr algn="ctr" indent="0" marL="0">
              <a:buNone/>
            </a:pPr>
            <a:r>
              <a:rPr lang="en-US" sz="1250" b="1" spc="100" kern="0" dirty="0">
                <a:solidFill>
                  <a:srgbClr val="3A2A00"/>
                </a:solidFill>
                <a:latin typeface="Calibri" pitchFamily="34" charset="0"/>
                <a:ea typeface="Calibri" pitchFamily="34" charset="-122"/>
                <a:cs typeface="Calibri" pitchFamily="34" charset="-120"/>
              </a:rPr>
              <a:t>★ THE BONUS</a:t>
            </a:r>
            <a:endParaRPr lang="en-US" sz="1250" dirty="0"/>
          </a:p>
        </p:txBody>
      </p:sp>
      <p:sp>
        <p:nvSpPr>
          <p:cNvPr id="6" name="Text 4"/>
          <p:cNvSpPr txBox="1"/>
          <p:nvPr/>
        </p:nvSpPr>
        <p:spPr>
          <a:xfrm>
            <a:off x="640080" y="102412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Research gaps — what nobody has solved</a:t>
            </a:r>
            <a:endParaRPr lang="en-US" sz="3000" dirty="0"/>
          </a:p>
        </p:txBody>
      </p:sp>
      <p:sp>
        <p:nvSpPr>
          <p:cNvPr id="7" name="Shape 5"/>
          <p:cNvSpPr/>
          <p:nvPr/>
        </p:nvSpPr>
        <p:spPr>
          <a:xfrm>
            <a:off x="640080" y="1874520"/>
            <a:ext cx="5468112" cy="1965960"/>
          </a:xfrm>
          <a:prstGeom prst="roundRect">
            <a:avLst>
              <a:gd name="adj" fmla="val 4186"/>
            </a:avLst>
          </a:prstGeom>
          <a:solidFill>
            <a:srgbClr val="15455A"/>
          </a:solidFill>
          <a:ln w="12700">
            <a:solidFill>
              <a:srgbClr val="0E6274"/>
            </a:solidFill>
            <a:prstDash val="solid"/>
          </a:ln>
        </p:spPr>
        <p:txBody>
          <a:bodyPr/>
          <a:p/>
        </p:txBody>
      </p:sp>
      <p:sp>
        <p:nvSpPr>
          <p:cNvPr id="8" name="Shape 6"/>
          <p:cNvSpPr/>
          <p:nvPr/>
        </p:nvSpPr>
        <p:spPr>
          <a:xfrm>
            <a:off x="923544" y="2157984"/>
            <a:ext cx="749808" cy="749808"/>
          </a:xfrm>
          <a:prstGeom prst="ellipse">
            <a:avLst/>
          </a:prstGeom>
          <a:solidFill>
            <a:srgbClr val="CC4A3F"/>
          </a:solidFill>
          <a:ln/>
        </p:spPr>
        <p:txBody>
          <a:bodyPr/>
          <a:p/>
        </p:txBody>
      </p:sp>
      <p:pic>
        <p:nvPicPr>
          <p:cNvPr id="9" name="Image 0" descr="/tmp/build/assets/ic_droplet.png">    </p:cNvPr>
          <p:cNvPicPr>
            <a:picLocks noChangeAspect="1"/>
          </p:cNvPicPr>
          <p:nvPr/>
        </p:nvPicPr>
        <p:blipFill>
          <a:blip r:embed="rId1"/>
          <a:stretch>
            <a:fillRect/>
          </a:stretch>
        </p:blipFill>
        <p:spPr>
          <a:xfrm>
            <a:off x="1110996" y="2345436"/>
            <a:ext cx="374904" cy="374904"/>
          </a:xfrm>
          <a:prstGeom prst="rect">
            <a:avLst/>
          </a:prstGeom>
        </p:spPr>
      </p:pic>
      <p:sp>
        <p:nvSpPr>
          <p:cNvPr id="10" name="Text 7"/>
          <p:cNvSpPr txBox="1"/>
          <p:nvPr/>
        </p:nvSpPr>
        <p:spPr>
          <a:xfrm>
            <a:off x="1874520" y="2112264"/>
            <a:ext cx="4023360" cy="274320"/>
          </a:xfrm>
          <a:prstGeom prst="rect">
            <a:avLst/>
          </a:prstGeom>
          <a:noFill/>
          <a:ln/>
        </p:spPr>
        <p:txBody>
          <a:bodyPr wrap="square" lIns="0" tIns="0" rIns="0" bIns="0" rtlCol="0" anchor="ctr"/>
          <a:lstStyle/>
          <a:p>
            <a:pPr indent="0" marL="0">
              <a:buNone/>
            </a:pPr>
            <a:r>
              <a:rPr lang="en-US" sz="1100" b="1" spc="200" kern="0" dirty="0">
                <a:solidFill>
                  <a:srgbClr val="9FC0C9"/>
                </a:solidFill>
                <a:latin typeface="Calibri" pitchFamily="34" charset="0"/>
                <a:ea typeface="Calibri" pitchFamily="34" charset="-122"/>
                <a:cs typeface="Calibri" pitchFamily="34" charset="-120"/>
              </a:rPr>
              <a:t>GAP 1</a:t>
            </a:r>
            <a:endParaRPr lang="en-US" sz="1100" dirty="0"/>
          </a:p>
        </p:txBody>
      </p:sp>
      <p:sp>
        <p:nvSpPr>
          <p:cNvPr id="11" name="Text 8"/>
          <p:cNvSpPr txBox="1"/>
          <p:nvPr/>
        </p:nvSpPr>
        <p:spPr>
          <a:xfrm>
            <a:off x="1874520" y="2368296"/>
            <a:ext cx="406908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Patient-level data leakage</a:t>
            </a:r>
            <a:endParaRPr lang="en-US" sz="1650" dirty="0"/>
          </a:p>
        </p:txBody>
      </p:sp>
      <p:sp>
        <p:nvSpPr>
          <p:cNvPr id="12" name="Text 9"/>
          <p:cNvSpPr txBox="1"/>
          <p:nvPr/>
        </p:nvSpPr>
        <p:spPr>
          <a:xfrm>
            <a:off x="960120" y="2971800"/>
            <a:ext cx="4828032" cy="777240"/>
          </a:xfrm>
          <a:prstGeom prst="rect">
            <a:avLst/>
          </a:prstGeom>
          <a:noFill/>
          <a:ln/>
        </p:spPr>
        <p:txBody>
          <a:bodyPr wrap="square" lIns="0" tIns="0" rIns="0" bIns="0" rtlCol="0" anchor="ctr"/>
          <a:lstStyle/>
          <a:p>
            <a:pPr indent="0" marL="0">
              <a:lnSpc>
                <a:spcPct val="105000"/>
              </a:lnSpc>
              <a:buNone/>
            </a:pPr>
            <a:r>
              <a:rPr lang="en-US" sz="1200" dirty="0">
                <a:solidFill>
                  <a:srgbClr val="D5E6EA"/>
                </a:solidFill>
                <a:latin typeface="Calibri" pitchFamily="34" charset="0"/>
                <a:ea typeface="Calibri" pitchFamily="34" charset="-122"/>
                <a:cs typeface="Calibri" pitchFamily="34" charset="-120"/>
              </a:rPr>
              <a:t>Random image-level splits put cells from the same patient in both train and test — inflating accuracy and hiding poor generalisation. Only [1] and [2] split by patient.</a:t>
            </a:r>
            <a:endParaRPr lang="en-US" sz="1200" dirty="0"/>
          </a:p>
        </p:txBody>
      </p:sp>
      <p:sp>
        <p:nvSpPr>
          <p:cNvPr id="13" name="Shape 10"/>
          <p:cNvSpPr/>
          <p:nvPr/>
        </p:nvSpPr>
        <p:spPr>
          <a:xfrm>
            <a:off x="6345936" y="1874520"/>
            <a:ext cx="5468112" cy="1965960"/>
          </a:xfrm>
          <a:prstGeom prst="roundRect">
            <a:avLst>
              <a:gd name="adj" fmla="val 4186"/>
            </a:avLst>
          </a:prstGeom>
          <a:solidFill>
            <a:srgbClr val="15455A"/>
          </a:solidFill>
          <a:ln w="12700">
            <a:solidFill>
              <a:srgbClr val="0E6274"/>
            </a:solidFill>
            <a:prstDash val="solid"/>
          </a:ln>
        </p:spPr>
        <p:txBody>
          <a:bodyPr/>
          <a:p/>
        </p:txBody>
      </p:sp>
      <p:sp>
        <p:nvSpPr>
          <p:cNvPr id="14" name="Shape 11"/>
          <p:cNvSpPr/>
          <p:nvPr/>
        </p:nvSpPr>
        <p:spPr>
          <a:xfrm>
            <a:off x="6629400" y="2157984"/>
            <a:ext cx="749808" cy="749808"/>
          </a:xfrm>
          <a:prstGeom prst="ellipse">
            <a:avLst/>
          </a:prstGeom>
          <a:solidFill>
            <a:srgbClr val="8A43B0"/>
          </a:solidFill>
          <a:ln/>
        </p:spPr>
        <p:txBody>
          <a:bodyPr/>
          <a:p/>
        </p:txBody>
      </p:sp>
      <p:pic>
        <p:nvPicPr>
          <p:cNvPr id="15" name="Image 1" descr="/tmp/build/assets/ic_bug.png">    </p:cNvPr>
          <p:cNvPicPr>
            <a:picLocks noChangeAspect="1"/>
          </p:cNvPicPr>
          <p:nvPr/>
        </p:nvPicPr>
        <p:blipFill>
          <a:blip r:embed="rId2"/>
          <a:stretch>
            <a:fillRect/>
          </a:stretch>
        </p:blipFill>
        <p:spPr>
          <a:xfrm>
            <a:off x="6816852" y="2345436"/>
            <a:ext cx="374904" cy="374904"/>
          </a:xfrm>
          <a:prstGeom prst="rect">
            <a:avLst/>
          </a:prstGeom>
        </p:spPr>
      </p:pic>
      <p:sp>
        <p:nvSpPr>
          <p:cNvPr id="16" name="Text 12"/>
          <p:cNvSpPr txBox="1"/>
          <p:nvPr/>
        </p:nvSpPr>
        <p:spPr>
          <a:xfrm>
            <a:off x="7580376" y="2112264"/>
            <a:ext cx="4023360" cy="274320"/>
          </a:xfrm>
          <a:prstGeom prst="rect">
            <a:avLst/>
          </a:prstGeom>
          <a:noFill/>
          <a:ln/>
        </p:spPr>
        <p:txBody>
          <a:bodyPr wrap="square" lIns="0" tIns="0" rIns="0" bIns="0" rtlCol="0" anchor="ctr"/>
          <a:lstStyle/>
          <a:p>
            <a:pPr indent="0" marL="0">
              <a:buNone/>
            </a:pPr>
            <a:r>
              <a:rPr lang="en-US" sz="1100" b="1" spc="200" kern="0" dirty="0">
                <a:solidFill>
                  <a:srgbClr val="9FC0C9"/>
                </a:solidFill>
                <a:latin typeface="Calibri" pitchFamily="34" charset="0"/>
                <a:ea typeface="Calibri" pitchFamily="34" charset="-122"/>
                <a:cs typeface="Calibri" pitchFamily="34" charset="-120"/>
              </a:rPr>
              <a:t>GAP 2</a:t>
            </a:r>
            <a:endParaRPr lang="en-US" sz="1100" dirty="0"/>
          </a:p>
        </p:txBody>
      </p:sp>
      <p:sp>
        <p:nvSpPr>
          <p:cNvPr id="17" name="Text 13"/>
          <p:cNvSpPr txBox="1"/>
          <p:nvPr/>
        </p:nvSpPr>
        <p:spPr>
          <a:xfrm>
            <a:off x="7580376" y="2368296"/>
            <a:ext cx="406908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Single-species focus</a:t>
            </a:r>
            <a:endParaRPr lang="en-US" sz="1650" dirty="0"/>
          </a:p>
        </p:txBody>
      </p:sp>
      <p:sp>
        <p:nvSpPr>
          <p:cNvPr id="18" name="Text 14"/>
          <p:cNvSpPr txBox="1"/>
          <p:nvPr/>
        </p:nvSpPr>
        <p:spPr>
          <a:xfrm>
            <a:off x="6665976" y="2971800"/>
            <a:ext cx="4828032" cy="777240"/>
          </a:xfrm>
          <a:prstGeom prst="rect">
            <a:avLst/>
          </a:prstGeom>
          <a:noFill/>
          <a:ln/>
        </p:spPr>
        <p:txBody>
          <a:bodyPr wrap="square" lIns="0" tIns="0" rIns="0" bIns="0" rtlCol="0" anchor="ctr"/>
          <a:lstStyle/>
          <a:p>
            <a:pPr indent="0" marL="0">
              <a:lnSpc>
                <a:spcPct val="105000"/>
              </a:lnSpc>
              <a:buNone/>
            </a:pPr>
            <a:r>
              <a:rPr lang="en-US" sz="1200" dirty="0">
                <a:solidFill>
                  <a:srgbClr val="D5E6EA"/>
                </a:solidFill>
                <a:latin typeface="Calibri" pitchFamily="34" charset="0"/>
                <a:ea typeface="Calibri" pitchFamily="34" charset="-122"/>
                <a:cs typeface="Calibri" pitchFamily="34" charset="-120"/>
              </a:rPr>
              <a:t>Almost all models are trained only on P. falciparum. Performance on P. vivax, ovale, malariae, knowlesi is largely untested — only Zhao [6] tried.</a:t>
            </a:r>
            <a:endParaRPr lang="en-US" sz="1200" dirty="0"/>
          </a:p>
        </p:txBody>
      </p:sp>
      <p:sp>
        <p:nvSpPr>
          <p:cNvPr id="19" name="Shape 15"/>
          <p:cNvSpPr/>
          <p:nvPr/>
        </p:nvSpPr>
        <p:spPr>
          <a:xfrm>
            <a:off x="640080" y="4078224"/>
            <a:ext cx="5468112" cy="1965960"/>
          </a:xfrm>
          <a:prstGeom prst="roundRect">
            <a:avLst>
              <a:gd name="adj" fmla="val 4186"/>
            </a:avLst>
          </a:prstGeom>
          <a:solidFill>
            <a:srgbClr val="15455A"/>
          </a:solidFill>
          <a:ln w="12700">
            <a:solidFill>
              <a:srgbClr val="0E6274"/>
            </a:solidFill>
            <a:prstDash val="solid"/>
          </a:ln>
        </p:spPr>
        <p:txBody>
          <a:bodyPr/>
          <a:p/>
        </p:txBody>
      </p:sp>
      <p:sp>
        <p:nvSpPr>
          <p:cNvPr id="20" name="Shape 16"/>
          <p:cNvSpPr/>
          <p:nvPr/>
        </p:nvSpPr>
        <p:spPr>
          <a:xfrm>
            <a:off x="923544" y="4361688"/>
            <a:ext cx="749808" cy="749808"/>
          </a:xfrm>
          <a:prstGeom prst="ellipse">
            <a:avLst/>
          </a:prstGeom>
          <a:solidFill>
            <a:srgbClr val="D99A00"/>
          </a:solidFill>
          <a:ln/>
        </p:spPr>
        <p:txBody>
          <a:bodyPr/>
          <a:p/>
        </p:txBody>
      </p:sp>
      <p:pic>
        <p:nvPicPr>
          <p:cNvPr id="21" name="Image 2" descr="/tmp/build/assets/ic_tag.png">    </p:cNvPr>
          <p:cNvPicPr>
            <a:picLocks noChangeAspect="1"/>
          </p:cNvPicPr>
          <p:nvPr/>
        </p:nvPicPr>
        <p:blipFill>
          <a:blip r:embed="rId3"/>
          <a:stretch>
            <a:fillRect/>
          </a:stretch>
        </p:blipFill>
        <p:spPr>
          <a:xfrm>
            <a:off x="1110996" y="4549140"/>
            <a:ext cx="374904" cy="374904"/>
          </a:xfrm>
          <a:prstGeom prst="rect">
            <a:avLst/>
          </a:prstGeom>
        </p:spPr>
      </p:pic>
      <p:sp>
        <p:nvSpPr>
          <p:cNvPr id="22" name="Text 17"/>
          <p:cNvSpPr txBox="1"/>
          <p:nvPr/>
        </p:nvSpPr>
        <p:spPr>
          <a:xfrm>
            <a:off x="1874520" y="4315968"/>
            <a:ext cx="4023360" cy="274320"/>
          </a:xfrm>
          <a:prstGeom prst="rect">
            <a:avLst/>
          </a:prstGeom>
          <a:noFill/>
          <a:ln/>
        </p:spPr>
        <p:txBody>
          <a:bodyPr wrap="square" lIns="0" tIns="0" rIns="0" bIns="0" rtlCol="0" anchor="ctr"/>
          <a:lstStyle/>
          <a:p>
            <a:pPr indent="0" marL="0">
              <a:buNone/>
            </a:pPr>
            <a:r>
              <a:rPr lang="en-US" sz="1100" b="1" spc="200" kern="0" dirty="0">
                <a:solidFill>
                  <a:srgbClr val="9FC0C9"/>
                </a:solidFill>
                <a:latin typeface="Calibri" pitchFamily="34" charset="0"/>
                <a:ea typeface="Calibri" pitchFamily="34" charset="-122"/>
                <a:cs typeface="Calibri" pitchFamily="34" charset="-120"/>
              </a:rPr>
              <a:t>GAP 3</a:t>
            </a:r>
            <a:endParaRPr lang="en-US" sz="1100" dirty="0"/>
          </a:p>
        </p:txBody>
      </p:sp>
      <p:sp>
        <p:nvSpPr>
          <p:cNvPr id="23" name="Text 18"/>
          <p:cNvSpPr txBox="1"/>
          <p:nvPr/>
        </p:nvSpPr>
        <p:spPr>
          <a:xfrm>
            <a:off x="1874520" y="4572000"/>
            <a:ext cx="406908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Noisy ground-truth labels</a:t>
            </a:r>
            <a:endParaRPr lang="en-US" sz="1650" dirty="0"/>
          </a:p>
        </p:txBody>
      </p:sp>
      <p:sp>
        <p:nvSpPr>
          <p:cNvPr id="24" name="Text 19"/>
          <p:cNvSpPr txBox="1"/>
          <p:nvPr/>
        </p:nvSpPr>
        <p:spPr>
          <a:xfrm>
            <a:off x="960120" y="5175504"/>
            <a:ext cx="4828032" cy="777240"/>
          </a:xfrm>
          <a:prstGeom prst="rect">
            <a:avLst/>
          </a:prstGeom>
          <a:noFill/>
          <a:ln/>
        </p:spPr>
        <p:txBody>
          <a:bodyPr wrap="square" lIns="0" tIns="0" rIns="0" bIns="0" rtlCol="0" anchor="ctr"/>
          <a:lstStyle/>
          <a:p>
            <a:pPr indent="0" marL="0">
              <a:lnSpc>
                <a:spcPct val="105000"/>
              </a:lnSpc>
              <a:buNone/>
            </a:pPr>
            <a:r>
              <a:rPr lang="en-US" sz="1200" dirty="0">
                <a:solidFill>
                  <a:srgbClr val="D5E6EA"/>
                </a:solidFill>
                <a:latin typeface="Calibri" pitchFamily="34" charset="0"/>
                <a:ea typeface="Calibri" pitchFamily="34" charset="-122"/>
                <a:cs typeface="Calibri" pitchFamily="34" charset="-120"/>
              </a:rPr>
              <a:t>Except Fuhad [5], everyone trains and reports on the mislabeled public set — so many 'state-of-the-art' numbers are measured against imperfect labels.</a:t>
            </a:r>
            <a:endParaRPr lang="en-US" sz="1200" dirty="0"/>
          </a:p>
        </p:txBody>
      </p:sp>
      <p:sp>
        <p:nvSpPr>
          <p:cNvPr id="25" name="Shape 20"/>
          <p:cNvSpPr/>
          <p:nvPr/>
        </p:nvSpPr>
        <p:spPr>
          <a:xfrm>
            <a:off x="6345936" y="4078224"/>
            <a:ext cx="5468112" cy="1965960"/>
          </a:xfrm>
          <a:prstGeom prst="roundRect">
            <a:avLst>
              <a:gd name="adj" fmla="val 4186"/>
            </a:avLst>
          </a:prstGeom>
          <a:solidFill>
            <a:srgbClr val="15455A"/>
          </a:solidFill>
          <a:ln w="12700">
            <a:solidFill>
              <a:srgbClr val="0E6274"/>
            </a:solidFill>
            <a:prstDash val="solid"/>
          </a:ln>
        </p:spPr>
        <p:txBody>
          <a:bodyPr/>
          <a:p/>
        </p:txBody>
      </p:sp>
      <p:sp>
        <p:nvSpPr>
          <p:cNvPr id="26" name="Shape 21"/>
          <p:cNvSpPr/>
          <p:nvPr/>
        </p:nvSpPr>
        <p:spPr>
          <a:xfrm>
            <a:off x="6629400" y="4361688"/>
            <a:ext cx="749808" cy="749808"/>
          </a:xfrm>
          <a:prstGeom prst="ellipse">
            <a:avLst/>
          </a:prstGeom>
          <a:solidFill>
            <a:srgbClr val="2EA79B"/>
          </a:solidFill>
          <a:ln/>
        </p:spPr>
        <p:txBody>
          <a:bodyPr/>
          <a:p/>
        </p:txBody>
      </p:sp>
      <p:pic>
        <p:nvPicPr>
          <p:cNvPr id="27" name="Image 3" descr="/tmp/build/assets/ic_workflow.png">    </p:cNvPr>
          <p:cNvPicPr>
            <a:picLocks noChangeAspect="1"/>
          </p:cNvPicPr>
          <p:nvPr/>
        </p:nvPicPr>
        <p:blipFill>
          <a:blip r:embed="rId4"/>
          <a:stretch>
            <a:fillRect/>
          </a:stretch>
        </p:blipFill>
        <p:spPr>
          <a:xfrm>
            <a:off x="6816852" y="4549140"/>
            <a:ext cx="374904" cy="374904"/>
          </a:xfrm>
          <a:prstGeom prst="rect">
            <a:avLst/>
          </a:prstGeom>
        </p:spPr>
      </p:pic>
      <p:sp>
        <p:nvSpPr>
          <p:cNvPr id="28" name="Text 22"/>
          <p:cNvSpPr txBox="1"/>
          <p:nvPr/>
        </p:nvSpPr>
        <p:spPr>
          <a:xfrm>
            <a:off x="7580376" y="4315968"/>
            <a:ext cx="4023360" cy="274320"/>
          </a:xfrm>
          <a:prstGeom prst="rect">
            <a:avLst/>
          </a:prstGeom>
          <a:noFill/>
          <a:ln/>
        </p:spPr>
        <p:txBody>
          <a:bodyPr wrap="square" lIns="0" tIns="0" rIns="0" bIns="0" rtlCol="0" anchor="ctr"/>
          <a:lstStyle/>
          <a:p>
            <a:pPr indent="0" marL="0">
              <a:buNone/>
            </a:pPr>
            <a:r>
              <a:rPr lang="en-US" sz="1100" b="1" spc="200" kern="0" dirty="0">
                <a:solidFill>
                  <a:srgbClr val="9FC0C9"/>
                </a:solidFill>
                <a:latin typeface="Calibri" pitchFamily="34" charset="0"/>
                <a:ea typeface="Calibri" pitchFamily="34" charset="-122"/>
                <a:cs typeface="Calibri" pitchFamily="34" charset="-120"/>
              </a:rPr>
              <a:t>GAP 4</a:t>
            </a:r>
            <a:endParaRPr lang="en-US" sz="1100" dirty="0"/>
          </a:p>
        </p:txBody>
      </p:sp>
      <p:sp>
        <p:nvSpPr>
          <p:cNvPr id="29" name="Text 23"/>
          <p:cNvSpPr txBox="1"/>
          <p:nvPr/>
        </p:nvSpPr>
        <p:spPr>
          <a:xfrm>
            <a:off x="7580376" y="4572000"/>
            <a:ext cx="4069080" cy="36576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Clinical-workflow gap</a:t>
            </a:r>
            <a:endParaRPr lang="en-US" sz="1650" dirty="0"/>
          </a:p>
        </p:txBody>
      </p:sp>
      <p:sp>
        <p:nvSpPr>
          <p:cNvPr id="30" name="Text 24"/>
          <p:cNvSpPr txBox="1"/>
          <p:nvPr/>
        </p:nvSpPr>
        <p:spPr>
          <a:xfrm>
            <a:off x="6665976" y="5175504"/>
            <a:ext cx="4828032" cy="777240"/>
          </a:xfrm>
          <a:prstGeom prst="rect">
            <a:avLst/>
          </a:prstGeom>
          <a:noFill/>
          <a:ln/>
        </p:spPr>
        <p:txBody>
          <a:bodyPr wrap="square" lIns="0" tIns="0" rIns="0" bIns="0" rtlCol="0" anchor="ctr"/>
          <a:lstStyle/>
          <a:p>
            <a:pPr indent="0" marL="0">
              <a:lnSpc>
                <a:spcPct val="105000"/>
              </a:lnSpc>
              <a:buNone/>
            </a:pPr>
            <a:r>
              <a:rPr lang="en-US" sz="1200" dirty="0">
                <a:solidFill>
                  <a:srgbClr val="D5E6EA"/>
                </a:solidFill>
                <a:latin typeface="Calibri" pitchFamily="34" charset="0"/>
                <a:ea typeface="Calibri" pitchFamily="34" charset="-122"/>
                <a:cs typeface="Calibri" pitchFamily="34" charset="-120"/>
              </a:rPr>
              <a:t>Work centres on clean, pre-segmented single cells. Real labs need raw, unsegmented thick smears with overlapping cells and background noise.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FROM GAPS TO A PLAN</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How the literature shapes our project</a:t>
            </a:r>
            <a:endParaRPr lang="en-US" sz="3000" dirty="0"/>
          </a:p>
        </p:txBody>
      </p:sp>
      <p:sp>
        <p:nvSpPr>
          <p:cNvPr id="4" name="Text 2"/>
          <p:cNvSpPr txBox="1"/>
          <p:nvPr/>
        </p:nvSpPr>
        <p:spPr>
          <a:xfrm>
            <a:off x="548640" y="1463040"/>
            <a:ext cx="11064240" cy="457200"/>
          </a:xfrm>
          <a:prstGeom prst="rect">
            <a:avLst/>
          </a:prstGeom>
          <a:noFill/>
          <a:ln/>
        </p:spPr>
        <p:txBody>
          <a:bodyPr wrap="square" lIns="0" tIns="0" rIns="0" bIns="0" rtlCol="0" anchor="ctr"/>
          <a:lstStyle/>
          <a:p>
            <a:pPr indent="0" marL="0">
              <a:buNone/>
            </a:pPr>
            <a:r>
              <a:rPr lang="en-US" sz="1550" dirty="0">
                <a:solidFill>
                  <a:srgbClr val="41525B"/>
                </a:solidFill>
                <a:latin typeface="Calibri" pitchFamily="34" charset="0"/>
                <a:ea typeface="Calibri" pitchFamily="34" charset="-122"/>
                <a:cs typeface="Calibri" pitchFamily="34" charset="-120"/>
              </a:rPr>
              <a:t>Each gap and lesson maps directly onto a design decision — the review is our roadmap, not just background reading.</a:t>
            </a:r>
            <a:endParaRPr lang="en-US" sz="1550" dirty="0"/>
          </a:p>
        </p:txBody>
      </p:sp>
      <p:sp>
        <p:nvSpPr>
          <p:cNvPr id="5" name="Shape 3"/>
          <p:cNvSpPr/>
          <p:nvPr/>
        </p:nvSpPr>
        <p:spPr>
          <a:xfrm>
            <a:off x="548640" y="2148840"/>
            <a:ext cx="11091672" cy="804672"/>
          </a:xfrm>
          <a:prstGeom prst="roundRect">
            <a:avLst>
              <a:gd name="adj" fmla="val 9091"/>
            </a:avLst>
          </a:prstGeom>
          <a:solidFill>
            <a:srgbClr val="EAF3F5"/>
          </a:solidFill>
          <a:ln w="12700">
            <a:solidFill>
              <a:srgbClr val="D3E1E6"/>
            </a:solidFill>
            <a:prstDash val="solid"/>
          </a:ln>
        </p:spPr>
        <p:txBody>
          <a:bodyPr/>
          <a:p/>
        </p:txBody>
      </p:sp>
      <p:sp>
        <p:nvSpPr>
          <p:cNvPr id="6" name="Shape 4"/>
          <p:cNvSpPr/>
          <p:nvPr/>
        </p:nvSpPr>
        <p:spPr>
          <a:xfrm>
            <a:off x="868680" y="2249424"/>
            <a:ext cx="603504" cy="603504"/>
          </a:xfrm>
          <a:prstGeom prst="ellipse">
            <a:avLst/>
          </a:prstGeom>
          <a:solidFill>
            <a:srgbClr val="137C8E"/>
          </a:solidFill>
          <a:ln/>
        </p:spPr>
        <p:txBody>
          <a:bodyPr/>
          <a:p/>
        </p:txBody>
      </p:sp>
      <p:pic>
        <p:nvPicPr>
          <p:cNvPr id="7" name="Image 0" descr="/tmp/build/assets/ic_flask.png">    </p:cNvPr>
          <p:cNvPicPr>
            <a:picLocks noChangeAspect="1"/>
          </p:cNvPicPr>
          <p:nvPr/>
        </p:nvPicPr>
        <p:blipFill>
          <a:blip r:embed="rId1"/>
          <a:stretch>
            <a:fillRect/>
          </a:stretch>
        </p:blipFill>
        <p:spPr>
          <a:xfrm>
            <a:off x="1013521" y="2394265"/>
            <a:ext cx="313822" cy="313822"/>
          </a:xfrm>
          <a:prstGeom prst="rect">
            <a:avLst/>
          </a:prstGeom>
        </p:spPr>
      </p:pic>
      <p:sp>
        <p:nvSpPr>
          <p:cNvPr id="8" name="Text 5"/>
          <p:cNvSpPr txBox="1"/>
          <p:nvPr/>
        </p:nvSpPr>
        <p:spPr>
          <a:xfrm>
            <a:off x="1691640" y="2267712"/>
            <a:ext cx="3291840" cy="566928"/>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YUV stain normalization</a:t>
            </a:r>
            <a:endParaRPr lang="en-US" sz="1600" dirty="0"/>
          </a:p>
        </p:txBody>
      </p:sp>
      <p:sp>
        <p:nvSpPr>
          <p:cNvPr id="9" name="Shape 6"/>
          <p:cNvSpPr/>
          <p:nvPr/>
        </p:nvSpPr>
        <p:spPr>
          <a:xfrm>
            <a:off x="5074920" y="2386584"/>
            <a:ext cx="1600200" cy="329184"/>
          </a:xfrm>
          <a:prstGeom prst="roundRect">
            <a:avLst>
              <a:gd name="adj" fmla="val 50000"/>
            </a:avLst>
          </a:prstGeom>
          <a:solidFill>
            <a:srgbClr val="FFFFFF"/>
          </a:solidFill>
          <a:ln w="12700">
            <a:solidFill>
              <a:srgbClr val="137C8E"/>
            </a:solidFill>
            <a:prstDash val="solid"/>
          </a:ln>
        </p:spPr>
        <p:txBody>
          <a:bodyPr/>
          <a:p/>
        </p:txBody>
      </p:sp>
      <p:sp>
        <p:nvSpPr>
          <p:cNvPr id="10" name="Text 7"/>
          <p:cNvSpPr txBox="1"/>
          <p:nvPr/>
        </p:nvSpPr>
        <p:spPr>
          <a:xfrm>
            <a:off x="5074920" y="2386584"/>
            <a:ext cx="1600200" cy="329184"/>
          </a:xfrm>
          <a:prstGeom prst="rect">
            <a:avLst/>
          </a:prstGeom>
          <a:noFill/>
          <a:ln/>
        </p:spPr>
        <p:txBody>
          <a:bodyPr wrap="square" lIns="0" tIns="0" rIns="0" bIns="0" rtlCol="0" anchor="ctr"/>
          <a:lstStyle/>
          <a:p>
            <a:pPr algn="ctr" indent="0" marL="0">
              <a:buNone/>
            </a:pPr>
            <a:r>
              <a:rPr lang="en-US" sz="1050" b="1" dirty="0">
                <a:solidFill>
                  <a:srgbClr val="0E6274"/>
                </a:solidFill>
                <a:latin typeface="Calibri" pitchFamily="34" charset="0"/>
                <a:ea typeface="Calibri" pitchFamily="34" charset="-122"/>
                <a:cs typeface="Calibri" pitchFamily="34" charset="-120"/>
              </a:rPr>
              <a:t>From Umer [4]</a:t>
            </a:r>
            <a:endParaRPr lang="en-US" sz="1050" dirty="0"/>
          </a:p>
        </p:txBody>
      </p:sp>
      <p:sp>
        <p:nvSpPr>
          <p:cNvPr id="11" name="Text 8"/>
          <p:cNvSpPr txBox="1"/>
          <p:nvPr/>
        </p:nvSpPr>
        <p:spPr>
          <a:xfrm>
            <a:off x="6858000" y="2267712"/>
            <a:ext cx="4617720" cy="566928"/>
          </a:xfrm>
          <a:prstGeom prst="rect">
            <a:avLst/>
          </a:prstGeom>
          <a:noFill/>
          <a:ln/>
        </p:spPr>
        <p:txBody>
          <a:bodyPr wrap="square" lIns="0" tIns="0" rIns="0" bIns="0" rtlCol="0" anchor="ctr"/>
          <a:lstStyle/>
          <a:p>
            <a:pPr indent="0" marL="0">
              <a:lnSpc>
                <a:spcPct val="103000"/>
              </a:lnSpc>
              <a:buNone/>
            </a:pPr>
            <a:r>
              <a:rPr lang="en-US" sz="1300" dirty="0">
                <a:solidFill>
                  <a:srgbClr val="41525B"/>
                </a:solidFill>
                <a:latin typeface="Calibri" pitchFamily="34" charset="0"/>
                <a:ea typeface="Calibri" pitchFamily="34" charset="-122"/>
                <a:cs typeface="Calibri" pitchFamily="34" charset="-120"/>
              </a:rPr>
              <a:t>Immunise the model against staining variation between labs.</a:t>
            </a:r>
            <a:endParaRPr lang="en-US" sz="1300" dirty="0"/>
          </a:p>
        </p:txBody>
      </p:sp>
      <p:sp>
        <p:nvSpPr>
          <p:cNvPr id="12" name="Shape 9"/>
          <p:cNvSpPr/>
          <p:nvPr/>
        </p:nvSpPr>
        <p:spPr>
          <a:xfrm>
            <a:off x="548640" y="3063240"/>
            <a:ext cx="11091672" cy="804672"/>
          </a:xfrm>
          <a:prstGeom prst="roundRect">
            <a:avLst>
              <a:gd name="adj" fmla="val 9091"/>
            </a:avLst>
          </a:prstGeom>
          <a:solidFill>
            <a:srgbClr val="F5F9FA"/>
          </a:solidFill>
          <a:ln w="12700">
            <a:solidFill>
              <a:srgbClr val="D3E1E6"/>
            </a:solidFill>
            <a:prstDash val="solid"/>
          </a:ln>
        </p:spPr>
        <p:txBody>
          <a:bodyPr/>
          <a:p/>
        </p:txBody>
      </p:sp>
      <p:sp>
        <p:nvSpPr>
          <p:cNvPr id="13" name="Shape 10"/>
          <p:cNvSpPr/>
          <p:nvPr/>
        </p:nvSpPr>
        <p:spPr>
          <a:xfrm>
            <a:off x="868680" y="3163824"/>
            <a:ext cx="603504" cy="603504"/>
          </a:xfrm>
          <a:prstGeom prst="ellipse">
            <a:avLst/>
          </a:prstGeom>
          <a:solidFill>
            <a:srgbClr val="8A43B0"/>
          </a:solidFill>
          <a:ln/>
        </p:spPr>
        <p:txBody>
          <a:bodyPr/>
          <a:p/>
        </p:txBody>
      </p:sp>
      <p:pic>
        <p:nvPicPr>
          <p:cNvPr id="14" name="Image 1" descr="/tmp/build/assets/ic_check.png">    </p:cNvPr>
          <p:cNvPicPr>
            <a:picLocks noChangeAspect="1"/>
          </p:cNvPicPr>
          <p:nvPr/>
        </p:nvPicPr>
        <p:blipFill>
          <a:blip r:embed="rId2"/>
          <a:stretch>
            <a:fillRect/>
          </a:stretch>
        </p:blipFill>
        <p:spPr>
          <a:xfrm>
            <a:off x="1013521" y="3308665"/>
            <a:ext cx="313822" cy="313822"/>
          </a:xfrm>
          <a:prstGeom prst="rect">
            <a:avLst/>
          </a:prstGeom>
        </p:spPr>
      </p:pic>
      <p:sp>
        <p:nvSpPr>
          <p:cNvPr id="15" name="Text 11"/>
          <p:cNvSpPr txBox="1"/>
          <p:nvPr/>
        </p:nvSpPr>
        <p:spPr>
          <a:xfrm>
            <a:off x="1691640" y="3182112"/>
            <a:ext cx="3291840" cy="566928"/>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Verified, corrected dataset</a:t>
            </a:r>
            <a:endParaRPr lang="en-US" sz="1600" dirty="0"/>
          </a:p>
        </p:txBody>
      </p:sp>
      <p:sp>
        <p:nvSpPr>
          <p:cNvPr id="16" name="Shape 12"/>
          <p:cNvSpPr/>
          <p:nvPr/>
        </p:nvSpPr>
        <p:spPr>
          <a:xfrm>
            <a:off x="5074920" y="3300984"/>
            <a:ext cx="1600200" cy="329184"/>
          </a:xfrm>
          <a:prstGeom prst="roundRect">
            <a:avLst>
              <a:gd name="adj" fmla="val 50000"/>
            </a:avLst>
          </a:prstGeom>
          <a:solidFill>
            <a:srgbClr val="FFFFFF"/>
          </a:solidFill>
          <a:ln w="12700">
            <a:solidFill>
              <a:srgbClr val="137C8E"/>
            </a:solidFill>
            <a:prstDash val="solid"/>
          </a:ln>
        </p:spPr>
        <p:txBody>
          <a:bodyPr/>
          <a:p/>
        </p:txBody>
      </p:sp>
      <p:sp>
        <p:nvSpPr>
          <p:cNvPr id="17" name="Text 13"/>
          <p:cNvSpPr txBox="1"/>
          <p:nvPr/>
        </p:nvSpPr>
        <p:spPr>
          <a:xfrm>
            <a:off x="5074920" y="3300984"/>
            <a:ext cx="1600200" cy="329184"/>
          </a:xfrm>
          <a:prstGeom prst="rect">
            <a:avLst/>
          </a:prstGeom>
          <a:noFill/>
          <a:ln/>
        </p:spPr>
        <p:txBody>
          <a:bodyPr wrap="square" lIns="0" tIns="0" rIns="0" bIns="0" rtlCol="0" anchor="ctr"/>
          <a:lstStyle/>
          <a:p>
            <a:pPr algn="ctr" indent="0" marL="0">
              <a:buNone/>
            </a:pPr>
            <a:r>
              <a:rPr lang="en-US" sz="1050" b="1" dirty="0">
                <a:solidFill>
                  <a:srgbClr val="0E6274"/>
                </a:solidFill>
                <a:latin typeface="Calibri" pitchFamily="34" charset="0"/>
                <a:ea typeface="Calibri" pitchFamily="34" charset="-122"/>
                <a:cs typeface="Calibri" pitchFamily="34" charset="-120"/>
              </a:rPr>
              <a:t>From Fuhad [5]</a:t>
            </a:r>
            <a:endParaRPr lang="en-US" sz="1050" dirty="0"/>
          </a:p>
        </p:txBody>
      </p:sp>
      <p:sp>
        <p:nvSpPr>
          <p:cNvPr id="18" name="Text 14"/>
          <p:cNvSpPr txBox="1"/>
          <p:nvPr/>
        </p:nvSpPr>
        <p:spPr>
          <a:xfrm>
            <a:off x="6858000" y="3182112"/>
            <a:ext cx="4617720" cy="566928"/>
          </a:xfrm>
          <a:prstGeom prst="rect">
            <a:avLst/>
          </a:prstGeom>
          <a:noFill/>
          <a:ln/>
        </p:spPr>
        <p:txBody>
          <a:bodyPr wrap="square" lIns="0" tIns="0" rIns="0" bIns="0" rtlCol="0" anchor="ctr"/>
          <a:lstStyle/>
          <a:p>
            <a:pPr indent="0" marL="0">
              <a:lnSpc>
                <a:spcPct val="103000"/>
              </a:lnSpc>
              <a:buNone/>
            </a:pPr>
            <a:r>
              <a:rPr lang="en-US" sz="1300" dirty="0">
                <a:solidFill>
                  <a:srgbClr val="41525B"/>
                </a:solidFill>
                <a:latin typeface="Calibri" pitchFamily="34" charset="0"/>
                <a:ea typeface="Calibri" pitchFamily="34" charset="-122"/>
                <a:cs typeface="Calibri" pitchFamily="34" charset="-120"/>
              </a:rPr>
              <a:t>Train on clean labels so we learn real features, not artifacts.</a:t>
            </a:r>
            <a:endParaRPr lang="en-US" sz="1300" dirty="0"/>
          </a:p>
        </p:txBody>
      </p:sp>
      <p:sp>
        <p:nvSpPr>
          <p:cNvPr id="19" name="Shape 15"/>
          <p:cNvSpPr/>
          <p:nvPr/>
        </p:nvSpPr>
        <p:spPr>
          <a:xfrm>
            <a:off x="548640" y="3977640"/>
            <a:ext cx="11091672" cy="804672"/>
          </a:xfrm>
          <a:prstGeom prst="roundRect">
            <a:avLst>
              <a:gd name="adj" fmla="val 9091"/>
            </a:avLst>
          </a:prstGeom>
          <a:solidFill>
            <a:srgbClr val="EAF3F5"/>
          </a:solidFill>
          <a:ln w="12700">
            <a:solidFill>
              <a:srgbClr val="D3E1E6"/>
            </a:solidFill>
            <a:prstDash val="solid"/>
          </a:ln>
        </p:spPr>
        <p:txBody>
          <a:bodyPr/>
          <a:p/>
        </p:txBody>
      </p:sp>
      <p:sp>
        <p:nvSpPr>
          <p:cNvPr id="20" name="Shape 16"/>
          <p:cNvSpPr/>
          <p:nvPr/>
        </p:nvSpPr>
        <p:spPr>
          <a:xfrm>
            <a:off x="868680" y="4078224"/>
            <a:ext cx="603504" cy="603504"/>
          </a:xfrm>
          <a:prstGeom prst="ellipse">
            <a:avLst/>
          </a:prstGeom>
          <a:solidFill>
            <a:srgbClr val="2EA79B"/>
          </a:solidFill>
          <a:ln/>
        </p:spPr>
        <p:txBody>
          <a:bodyPr/>
          <a:p/>
        </p:txBody>
      </p:sp>
      <p:pic>
        <p:nvPicPr>
          <p:cNvPr id="21" name="Image 2" descr="/tmp/build/assets/ic_droplet.png">    </p:cNvPr>
          <p:cNvPicPr>
            <a:picLocks noChangeAspect="1"/>
          </p:cNvPicPr>
          <p:nvPr/>
        </p:nvPicPr>
        <p:blipFill>
          <a:blip r:embed="rId3"/>
          <a:stretch>
            <a:fillRect/>
          </a:stretch>
        </p:blipFill>
        <p:spPr>
          <a:xfrm>
            <a:off x="1013521" y="4223065"/>
            <a:ext cx="313822" cy="313822"/>
          </a:xfrm>
          <a:prstGeom prst="rect">
            <a:avLst/>
          </a:prstGeom>
        </p:spPr>
      </p:pic>
      <p:sp>
        <p:nvSpPr>
          <p:cNvPr id="22" name="Text 17"/>
          <p:cNvSpPr txBox="1"/>
          <p:nvPr/>
        </p:nvSpPr>
        <p:spPr>
          <a:xfrm>
            <a:off x="1691640" y="4096512"/>
            <a:ext cx="3291840" cy="566928"/>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Patient-level 5-fold CV</a:t>
            </a:r>
            <a:endParaRPr lang="en-US" sz="1600" dirty="0"/>
          </a:p>
        </p:txBody>
      </p:sp>
      <p:sp>
        <p:nvSpPr>
          <p:cNvPr id="23" name="Shape 18"/>
          <p:cNvSpPr/>
          <p:nvPr/>
        </p:nvSpPr>
        <p:spPr>
          <a:xfrm>
            <a:off x="5074920" y="4215384"/>
            <a:ext cx="1600200" cy="329184"/>
          </a:xfrm>
          <a:prstGeom prst="roundRect">
            <a:avLst>
              <a:gd name="adj" fmla="val 50000"/>
            </a:avLst>
          </a:prstGeom>
          <a:solidFill>
            <a:srgbClr val="FFFFFF"/>
          </a:solidFill>
          <a:ln w="12700">
            <a:solidFill>
              <a:srgbClr val="137C8E"/>
            </a:solidFill>
            <a:prstDash val="solid"/>
          </a:ln>
        </p:spPr>
        <p:txBody>
          <a:bodyPr/>
          <a:p/>
        </p:txBody>
      </p:sp>
      <p:sp>
        <p:nvSpPr>
          <p:cNvPr id="24" name="Text 19"/>
          <p:cNvSpPr txBox="1"/>
          <p:nvPr/>
        </p:nvSpPr>
        <p:spPr>
          <a:xfrm>
            <a:off x="5074920" y="4215384"/>
            <a:ext cx="1600200" cy="329184"/>
          </a:xfrm>
          <a:prstGeom prst="rect">
            <a:avLst/>
          </a:prstGeom>
          <a:noFill/>
          <a:ln/>
        </p:spPr>
        <p:txBody>
          <a:bodyPr wrap="square" lIns="0" tIns="0" rIns="0" bIns="0" rtlCol="0" anchor="ctr"/>
          <a:lstStyle/>
          <a:p>
            <a:pPr algn="ctr" indent="0" marL="0">
              <a:buNone/>
            </a:pPr>
            <a:r>
              <a:rPr lang="en-US" sz="1050" b="1" dirty="0">
                <a:solidFill>
                  <a:srgbClr val="0E6274"/>
                </a:solidFill>
                <a:latin typeface="Calibri" pitchFamily="34" charset="0"/>
                <a:ea typeface="Calibri" pitchFamily="34" charset="-122"/>
                <a:cs typeface="Calibri" pitchFamily="34" charset="-120"/>
              </a:rPr>
              <a:t>From Rajaraman [2]</a:t>
            </a:r>
            <a:endParaRPr lang="en-US" sz="1050" dirty="0"/>
          </a:p>
        </p:txBody>
      </p:sp>
      <p:sp>
        <p:nvSpPr>
          <p:cNvPr id="25" name="Text 20"/>
          <p:cNvSpPr txBox="1"/>
          <p:nvPr/>
        </p:nvSpPr>
        <p:spPr>
          <a:xfrm>
            <a:off x="6858000" y="4096512"/>
            <a:ext cx="4617720" cy="566928"/>
          </a:xfrm>
          <a:prstGeom prst="rect">
            <a:avLst/>
          </a:prstGeom>
          <a:noFill/>
          <a:ln/>
        </p:spPr>
        <p:txBody>
          <a:bodyPr wrap="square" lIns="0" tIns="0" rIns="0" bIns="0" rtlCol="0" anchor="ctr"/>
          <a:lstStyle/>
          <a:p>
            <a:pPr indent="0" marL="0">
              <a:lnSpc>
                <a:spcPct val="103000"/>
              </a:lnSpc>
              <a:buNone/>
            </a:pPr>
            <a:r>
              <a:rPr lang="en-US" sz="1300" dirty="0">
                <a:solidFill>
                  <a:srgbClr val="41525B"/>
                </a:solidFill>
                <a:latin typeface="Calibri" pitchFamily="34" charset="0"/>
                <a:ea typeface="Calibri" pitchFamily="34" charset="-122"/>
                <a:cs typeface="Calibri" pitchFamily="34" charset="-120"/>
              </a:rPr>
              <a:t>Group by patient before splitting — honest, leakage-free validation.</a:t>
            </a:r>
            <a:endParaRPr lang="en-US" sz="1300" dirty="0"/>
          </a:p>
        </p:txBody>
      </p:sp>
      <p:sp>
        <p:nvSpPr>
          <p:cNvPr id="26" name="Shape 21"/>
          <p:cNvSpPr/>
          <p:nvPr/>
        </p:nvSpPr>
        <p:spPr>
          <a:xfrm>
            <a:off x="548640" y="4892040"/>
            <a:ext cx="11091672" cy="804672"/>
          </a:xfrm>
          <a:prstGeom prst="roundRect">
            <a:avLst>
              <a:gd name="adj" fmla="val 9091"/>
            </a:avLst>
          </a:prstGeom>
          <a:solidFill>
            <a:srgbClr val="F5F9FA"/>
          </a:solidFill>
          <a:ln w="12700">
            <a:solidFill>
              <a:srgbClr val="D3E1E6"/>
            </a:solidFill>
            <a:prstDash val="solid"/>
          </a:ln>
        </p:spPr>
        <p:txBody>
          <a:bodyPr/>
          <a:p/>
        </p:txBody>
      </p:sp>
      <p:sp>
        <p:nvSpPr>
          <p:cNvPr id="27" name="Shape 22"/>
          <p:cNvSpPr/>
          <p:nvPr/>
        </p:nvSpPr>
        <p:spPr>
          <a:xfrm>
            <a:off x="868680" y="4992624"/>
            <a:ext cx="603504" cy="603504"/>
          </a:xfrm>
          <a:prstGeom prst="ellipse">
            <a:avLst/>
          </a:prstGeom>
          <a:solidFill>
            <a:srgbClr val="CC4A3F"/>
          </a:solidFill>
          <a:ln/>
        </p:spPr>
        <p:txBody>
          <a:bodyPr/>
          <a:p/>
        </p:txBody>
      </p:sp>
      <p:pic>
        <p:nvPicPr>
          <p:cNvPr id="28" name="Image 3" descr="/tmp/build/assets/ic_mobile.png">    </p:cNvPr>
          <p:cNvPicPr>
            <a:picLocks noChangeAspect="1"/>
          </p:cNvPicPr>
          <p:nvPr/>
        </p:nvPicPr>
        <p:blipFill>
          <a:blip r:embed="rId4"/>
          <a:stretch>
            <a:fillRect/>
          </a:stretch>
        </p:blipFill>
        <p:spPr>
          <a:xfrm>
            <a:off x="1013521" y="5137465"/>
            <a:ext cx="313822" cy="313822"/>
          </a:xfrm>
          <a:prstGeom prst="rect">
            <a:avLst/>
          </a:prstGeom>
        </p:spPr>
      </p:pic>
      <p:sp>
        <p:nvSpPr>
          <p:cNvPr id="29" name="Text 23"/>
          <p:cNvSpPr txBox="1"/>
          <p:nvPr/>
        </p:nvSpPr>
        <p:spPr>
          <a:xfrm>
            <a:off x="1691640" y="5010912"/>
            <a:ext cx="3291840" cy="566928"/>
          </a:xfrm>
          <a:prstGeom prst="rect">
            <a:avLst/>
          </a:prstGeom>
          <a:noFill/>
          <a:ln/>
        </p:spPr>
        <p:txBody>
          <a:bodyPr wrap="square" lIns="0" tIns="0" rIns="0" bIns="0" rtlCol="0" anchor="ctr"/>
          <a:lstStyle/>
          <a:p>
            <a:pPr indent="0" marL="0">
              <a:buNone/>
            </a:pPr>
            <a:r>
              <a:rPr lang="en-US" sz="1600" b="1" dirty="0">
                <a:solidFill>
                  <a:srgbClr val="17262E"/>
                </a:solidFill>
                <a:latin typeface="Cambria" pitchFamily="34" charset="0"/>
                <a:ea typeface="Cambria" pitchFamily="34" charset="-122"/>
                <a:cs typeface="Cambria" pitchFamily="34" charset="-120"/>
              </a:rPr>
              <a:t>Lightweight architecture</a:t>
            </a:r>
            <a:endParaRPr lang="en-US" sz="1600" dirty="0"/>
          </a:p>
        </p:txBody>
      </p:sp>
      <p:sp>
        <p:nvSpPr>
          <p:cNvPr id="30" name="Shape 24"/>
          <p:cNvSpPr/>
          <p:nvPr/>
        </p:nvSpPr>
        <p:spPr>
          <a:xfrm>
            <a:off x="5074920" y="5129784"/>
            <a:ext cx="1600200" cy="329184"/>
          </a:xfrm>
          <a:prstGeom prst="roundRect">
            <a:avLst>
              <a:gd name="adj" fmla="val 50000"/>
            </a:avLst>
          </a:prstGeom>
          <a:solidFill>
            <a:srgbClr val="FFFFFF"/>
          </a:solidFill>
          <a:ln w="12700">
            <a:solidFill>
              <a:srgbClr val="137C8E"/>
            </a:solidFill>
            <a:prstDash val="solid"/>
          </a:ln>
        </p:spPr>
        <p:txBody>
          <a:bodyPr/>
          <a:p/>
        </p:txBody>
      </p:sp>
      <p:sp>
        <p:nvSpPr>
          <p:cNvPr id="31" name="Text 25"/>
          <p:cNvSpPr txBox="1"/>
          <p:nvPr/>
        </p:nvSpPr>
        <p:spPr>
          <a:xfrm>
            <a:off x="5074920" y="5129784"/>
            <a:ext cx="1600200" cy="329184"/>
          </a:xfrm>
          <a:prstGeom prst="rect">
            <a:avLst/>
          </a:prstGeom>
          <a:noFill/>
          <a:ln/>
        </p:spPr>
        <p:txBody>
          <a:bodyPr wrap="square" lIns="0" tIns="0" rIns="0" bIns="0" rtlCol="0" anchor="ctr"/>
          <a:lstStyle/>
          <a:p>
            <a:pPr algn="ctr" indent="0" marL="0">
              <a:buNone/>
            </a:pPr>
            <a:r>
              <a:rPr lang="en-US" sz="1050" b="1" dirty="0">
                <a:solidFill>
                  <a:srgbClr val="0E6274"/>
                </a:solidFill>
                <a:latin typeface="Calibri" pitchFamily="34" charset="0"/>
                <a:ea typeface="Calibri" pitchFamily="34" charset="-122"/>
                <a:cs typeface="Calibri" pitchFamily="34" charset="-120"/>
              </a:rPr>
              <a:t>From Masud [7] / Fuhad [5]</a:t>
            </a:r>
            <a:endParaRPr lang="en-US" sz="1050" dirty="0"/>
          </a:p>
        </p:txBody>
      </p:sp>
      <p:sp>
        <p:nvSpPr>
          <p:cNvPr id="32" name="Text 26"/>
          <p:cNvSpPr txBox="1"/>
          <p:nvPr/>
        </p:nvSpPr>
        <p:spPr>
          <a:xfrm>
            <a:off x="6858000" y="5010912"/>
            <a:ext cx="4617720" cy="566928"/>
          </a:xfrm>
          <a:prstGeom prst="rect">
            <a:avLst/>
          </a:prstGeom>
          <a:noFill/>
          <a:ln/>
        </p:spPr>
        <p:txBody>
          <a:bodyPr wrap="square" lIns="0" tIns="0" rIns="0" bIns="0" rtlCol="0" anchor="ctr"/>
          <a:lstStyle/>
          <a:p>
            <a:pPr indent="0" marL="0">
              <a:lnSpc>
                <a:spcPct val="103000"/>
              </a:lnSpc>
              <a:buNone/>
            </a:pPr>
            <a:r>
              <a:rPr lang="en-US" sz="1300" dirty="0">
                <a:solidFill>
                  <a:srgbClr val="41525B"/>
                </a:solidFill>
                <a:latin typeface="Calibri" pitchFamily="34" charset="0"/>
                <a:ea typeface="Calibri" pitchFamily="34" charset="-122"/>
                <a:cs typeface="Calibri" pitchFamily="34" charset="-120"/>
              </a:rPr>
              <a:t>Target real-time, on-device inference for low-resource settings.</a:t>
            </a:r>
            <a:endParaRPr lang="en-US" sz="1300" dirty="0"/>
          </a:p>
        </p:txBody>
      </p:sp>
      <p:sp>
        <p:nvSpPr>
          <p:cNvPr id="33" name="Text 27"/>
          <p:cNvSpPr txBox="1"/>
          <p:nvPr/>
        </p:nvSpPr>
        <p:spPr>
          <a:xfrm>
            <a:off x="548640" y="6455664"/>
            <a:ext cx="7315200" cy="274320"/>
          </a:xfrm>
          <a:prstGeom prst="rect">
            <a:avLst/>
          </a:prstGeom>
          <a:noFill/>
          <a:ln/>
        </p:spPr>
        <p:txBody>
          <a:bodyPr wrap="square" lIns="0" tIns="0" rIns="0" bIns="0" rtlCol="0" anchor="ctr"/>
          <a:lstStyle/>
          <a:p>
            <a:pPr algn="l" indent="0" marL="0">
              <a:buNone/>
            </a:pPr>
            <a:r>
              <a:rPr lang="en-US" sz="900" dirty="0">
                <a:solidFill>
                  <a:srgbClr val="7C8B93"/>
                </a:solidFill>
                <a:latin typeface="Calibri" pitchFamily="34" charset="0"/>
                <a:ea typeface="Calibri" pitchFamily="34" charset="-122"/>
                <a:cs typeface="Calibri" pitchFamily="34" charset="-120"/>
              </a:rPr>
              <a:t>Literature Review · Automated Malaria Cell Detection</a:t>
            </a:r>
            <a:endParaRPr lang="en-US" sz="900" dirty="0"/>
          </a:p>
        </p:txBody>
      </p:sp>
      <p:sp>
        <p:nvSpPr>
          <p:cNvPr id="34" name="Text 28"/>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0972800" y="5669280"/>
            <a:ext cx="1097280" cy="1097280"/>
          </a:xfrm>
          <a:prstGeom prst="ellipse">
            <a:avLst/>
          </a:prstGeom>
          <a:solidFill>
            <a:srgbClr val="137C8E">
              <a:alpha val="40000"/>
            </a:srgbClr>
          </a:solidFill>
          <a:ln/>
        </p:spPr>
        <p:txBody>
          <a:bodyPr/>
          <a:p/>
        </p:txBody>
      </p:sp>
      <p:sp>
        <p:nvSpPr>
          <p:cNvPr id="3" name="Shape 1"/>
          <p:cNvSpPr/>
          <p:nvPr/>
        </p:nvSpPr>
        <p:spPr>
          <a:xfrm>
            <a:off x="11521440" y="1188720"/>
            <a:ext cx="548640" cy="548640"/>
          </a:xfrm>
          <a:prstGeom prst="ellipse">
            <a:avLst/>
          </a:prstGeom>
          <a:solidFill>
            <a:srgbClr val="2EA79B">
              <a:alpha val="45000"/>
            </a:srgbClr>
          </a:solidFill>
          <a:ln/>
        </p:spPr>
        <p:txBody>
          <a:bodyPr/>
          <a:p/>
        </p:txBody>
      </p:sp>
      <p:sp>
        <p:nvSpPr>
          <p:cNvPr id="4" name="Text 2"/>
          <p:cNvSpPr txBox="1"/>
          <p:nvPr/>
        </p:nvSpPr>
        <p:spPr>
          <a:xfrm>
            <a:off x="685800" y="548640"/>
            <a:ext cx="10058400" cy="320040"/>
          </a:xfrm>
          <a:prstGeom prst="rect">
            <a:avLst/>
          </a:prstGeom>
          <a:noFill/>
          <a:ln/>
        </p:spPr>
        <p:txBody>
          <a:bodyPr wrap="square" lIns="0" tIns="0" rIns="0" bIns="0" rtlCol="0" anchor="ctr"/>
          <a:lstStyle/>
          <a:p>
            <a:pPr indent="0" marL="0">
              <a:buNone/>
            </a:pPr>
            <a:r>
              <a:rPr lang="en-US" sz="1300" b="1" spc="300" kern="0" dirty="0">
                <a:solidFill>
                  <a:srgbClr val="2EA79B"/>
                </a:solidFill>
                <a:latin typeface="Calibri" pitchFamily="34" charset="0"/>
                <a:ea typeface="Calibri" pitchFamily="34" charset="-122"/>
                <a:cs typeface="Calibri" pitchFamily="34" charset="-120"/>
              </a:rPr>
              <a:t>IN SUMMARY</a:t>
            </a:r>
            <a:endParaRPr lang="en-US" sz="1300" dirty="0"/>
          </a:p>
        </p:txBody>
      </p:sp>
      <p:sp>
        <p:nvSpPr>
          <p:cNvPr id="5" name="Text 3"/>
          <p:cNvSpPr txBox="1"/>
          <p:nvPr/>
        </p:nvSpPr>
        <p:spPr>
          <a:xfrm>
            <a:off x="685800" y="896112"/>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maturing field — and where we go next</a:t>
            </a:r>
            <a:endParaRPr lang="en-US" sz="3000" dirty="0"/>
          </a:p>
        </p:txBody>
      </p:sp>
      <p:sp>
        <p:nvSpPr>
          <p:cNvPr id="6" name="Shape 4"/>
          <p:cNvSpPr/>
          <p:nvPr/>
        </p:nvSpPr>
        <p:spPr>
          <a:xfrm>
            <a:off x="685800" y="1691640"/>
            <a:ext cx="10835640" cy="1417320"/>
          </a:xfrm>
          <a:prstGeom prst="roundRect">
            <a:avLst>
              <a:gd name="adj" fmla="val 6452"/>
            </a:avLst>
          </a:prstGeom>
          <a:solidFill>
            <a:srgbClr val="15455A"/>
          </a:solidFill>
          <a:ln w="12700">
            <a:solidFill>
              <a:srgbClr val="0E6274"/>
            </a:solidFill>
            <a:prstDash val="solid"/>
          </a:ln>
        </p:spPr>
        <p:txBody>
          <a:bodyPr/>
          <a:p/>
        </p:txBody>
      </p:sp>
      <p:sp>
        <p:nvSpPr>
          <p:cNvPr id="7" name="Text 5"/>
          <p:cNvSpPr txBox="1"/>
          <p:nvPr/>
        </p:nvSpPr>
        <p:spPr>
          <a:xfrm>
            <a:off x="1005840" y="1691640"/>
            <a:ext cx="10195560" cy="1417320"/>
          </a:xfrm>
          <a:prstGeom prst="rect">
            <a:avLst/>
          </a:prstGeom>
          <a:noFill/>
          <a:ln/>
        </p:spPr>
        <p:txBody>
          <a:bodyPr wrap="square" lIns="0" tIns="0" rIns="0" bIns="0" rtlCol="0" anchor="ctr"/>
          <a:lstStyle/>
          <a:p>
            <a:pPr indent="0" marL="0">
              <a:lnSpc>
                <a:spcPct val="110000"/>
              </a:lnSpc>
              <a:buNone/>
            </a:pPr>
            <a:r>
              <a:rPr lang="en-US" sz="1500" dirty="0">
                <a:solidFill>
                  <a:srgbClr val="E6F1F3"/>
                </a:solidFill>
                <a:latin typeface="Calibri" pitchFamily="34" charset="0"/>
                <a:ea typeface="Calibri" pitchFamily="34" charset="-122"/>
                <a:cs typeface="Calibri" pitchFamily="34" charset="-120"/>
              </a:rPr>
              <a:t>The field has moved from proof-of-concept CNNs → variance-reducing ensembles → capsule networks that preserve cell structure → lightweight models that run offline on a phone. </a:t>
            </a:r>
            <a:pPr indent="0" marL="0">
              <a:lnSpc>
                <a:spcPct val="110000"/>
              </a:lnSpc>
              <a:buNone/>
            </a:pPr>
            <a:r>
              <a:rPr lang="en-US" sz="1500" b="1" dirty="0">
                <a:solidFill>
                  <a:srgbClr val="2EA79B"/>
                </a:solidFill>
                <a:latin typeface="Calibri" pitchFamily="34" charset="0"/>
                <a:ea typeface="Calibri" pitchFamily="34" charset="-122"/>
                <a:cs typeface="Calibri" pitchFamily="34" charset="-120"/>
              </a:rPr>
              <a:t>Accuracy is largely solved on clean data; the open problems are now about trust and deployment.</a:t>
            </a:r>
            <a:endParaRPr lang="en-US" sz="1500" dirty="0"/>
          </a:p>
        </p:txBody>
      </p:sp>
      <p:sp>
        <p:nvSpPr>
          <p:cNvPr id="8" name="Text 6"/>
          <p:cNvSpPr txBox="1"/>
          <p:nvPr/>
        </p:nvSpPr>
        <p:spPr>
          <a:xfrm>
            <a:off x="685800" y="3337560"/>
            <a:ext cx="10058400" cy="274320"/>
          </a:xfrm>
          <a:prstGeom prst="rect">
            <a:avLst/>
          </a:prstGeom>
          <a:noFill/>
          <a:ln/>
        </p:spPr>
        <p:txBody>
          <a:bodyPr wrap="square" lIns="0" tIns="0" rIns="0" bIns="0" rtlCol="0" anchor="ctr"/>
          <a:lstStyle/>
          <a:p>
            <a:pPr indent="0" marL="0">
              <a:buNone/>
            </a:pPr>
            <a:r>
              <a:rPr lang="en-US" sz="1200" b="1" spc="200" kern="0" dirty="0">
                <a:solidFill>
                  <a:srgbClr val="9FC0C9"/>
                </a:solidFill>
                <a:latin typeface="Calibri" pitchFamily="34" charset="0"/>
                <a:ea typeface="Calibri" pitchFamily="34" charset="-122"/>
                <a:cs typeface="Calibri" pitchFamily="34" charset="-120"/>
              </a:rPr>
              <a:t>OUR NEXT STAGES</a:t>
            </a:r>
            <a:endParaRPr lang="en-US" sz="1200" dirty="0"/>
          </a:p>
        </p:txBody>
      </p:sp>
      <p:sp>
        <p:nvSpPr>
          <p:cNvPr id="9" name="Shape 7"/>
          <p:cNvSpPr/>
          <p:nvPr/>
        </p:nvSpPr>
        <p:spPr>
          <a:xfrm>
            <a:off x="1600200" y="4480560"/>
            <a:ext cx="8961120" cy="0"/>
          </a:xfrm>
          <a:prstGeom prst="line">
            <a:avLst/>
          </a:prstGeom>
          <a:noFill/>
          <a:ln w="25400">
            <a:solidFill>
              <a:srgbClr val="0E6274"/>
            </a:solidFill>
            <a:prstDash val="solid"/>
          </a:ln>
        </p:spPr>
        <p:txBody>
          <a:bodyPr/>
          <a:p/>
        </p:txBody>
      </p:sp>
      <p:sp>
        <p:nvSpPr>
          <p:cNvPr id="10" name="Shape 8"/>
          <p:cNvSpPr/>
          <p:nvPr/>
        </p:nvSpPr>
        <p:spPr>
          <a:xfrm>
            <a:off x="1280160" y="4160520"/>
            <a:ext cx="640080" cy="640080"/>
          </a:xfrm>
          <a:prstGeom prst="ellipse">
            <a:avLst/>
          </a:prstGeom>
          <a:solidFill>
            <a:srgbClr val="2EA79B"/>
          </a:solidFill>
          <a:ln/>
        </p:spPr>
        <p:txBody>
          <a:bodyPr/>
          <a:p/>
        </p:txBody>
      </p:sp>
      <p:sp>
        <p:nvSpPr>
          <p:cNvPr id="11" name="Text 9"/>
          <p:cNvSpPr txBox="1"/>
          <p:nvPr/>
        </p:nvSpPr>
        <p:spPr>
          <a:xfrm>
            <a:off x="128016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2" name="Text 10"/>
          <p:cNvSpPr txBox="1"/>
          <p:nvPr/>
        </p:nvSpPr>
        <p:spPr>
          <a:xfrm>
            <a:off x="64008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Pick base paper</a:t>
            </a:r>
            <a:endParaRPr lang="en-US" sz="1300" dirty="0"/>
          </a:p>
        </p:txBody>
      </p:sp>
      <p:sp>
        <p:nvSpPr>
          <p:cNvPr id="13" name="Text 11"/>
          <p:cNvSpPr txBox="1"/>
          <p:nvPr/>
        </p:nvSpPr>
        <p:spPr>
          <a:xfrm>
            <a:off x="59436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with public code, on the NIH set</a:t>
            </a:r>
            <a:endParaRPr lang="en-US" sz="1100" dirty="0"/>
          </a:p>
        </p:txBody>
      </p:sp>
      <p:sp>
        <p:nvSpPr>
          <p:cNvPr id="14" name="Shape 12"/>
          <p:cNvSpPr/>
          <p:nvPr/>
        </p:nvSpPr>
        <p:spPr>
          <a:xfrm>
            <a:off x="3520440" y="4160520"/>
            <a:ext cx="640080" cy="640080"/>
          </a:xfrm>
          <a:prstGeom prst="ellipse">
            <a:avLst/>
          </a:prstGeom>
          <a:solidFill>
            <a:srgbClr val="137C8E"/>
          </a:solidFill>
          <a:ln/>
        </p:spPr>
        <p:txBody>
          <a:bodyPr/>
          <a:p/>
        </p:txBody>
      </p:sp>
      <p:sp>
        <p:nvSpPr>
          <p:cNvPr id="15" name="Text 13"/>
          <p:cNvSpPr txBox="1"/>
          <p:nvPr/>
        </p:nvSpPr>
        <p:spPr>
          <a:xfrm>
            <a:off x="352044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4"/>
          <p:cNvSpPr txBox="1"/>
          <p:nvPr/>
        </p:nvSpPr>
        <p:spPr>
          <a:xfrm>
            <a:off x="288036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Reproduce baseline</a:t>
            </a:r>
            <a:endParaRPr lang="en-US" sz="1300" dirty="0"/>
          </a:p>
        </p:txBody>
      </p:sp>
      <p:sp>
        <p:nvSpPr>
          <p:cNvPr id="17" name="Text 15"/>
          <p:cNvSpPr txBox="1"/>
          <p:nvPr/>
        </p:nvSpPr>
        <p:spPr>
          <a:xfrm>
            <a:off x="283464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match its reported numbers</a:t>
            </a:r>
            <a:endParaRPr lang="en-US" sz="1100" dirty="0"/>
          </a:p>
        </p:txBody>
      </p:sp>
      <p:sp>
        <p:nvSpPr>
          <p:cNvPr id="18" name="Shape 16"/>
          <p:cNvSpPr/>
          <p:nvPr/>
        </p:nvSpPr>
        <p:spPr>
          <a:xfrm>
            <a:off x="5760720" y="4160520"/>
            <a:ext cx="640080" cy="640080"/>
          </a:xfrm>
          <a:prstGeom prst="ellipse">
            <a:avLst/>
          </a:prstGeom>
          <a:solidFill>
            <a:srgbClr val="137C8E"/>
          </a:solidFill>
          <a:ln/>
        </p:spPr>
        <p:txBody>
          <a:bodyPr/>
          <a:p/>
        </p:txBody>
      </p:sp>
      <p:sp>
        <p:nvSpPr>
          <p:cNvPr id="19" name="Text 17"/>
          <p:cNvSpPr txBox="1"/>
          <p:nvPr/>
        </p:nvSpPr>
        <p:spPr>
          <a:xfrm>
            <a:off x="576072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txBox="1"/>
          <p:nvPr/>
        </p:nvSpPr>
        <p:spPr>
          <a:xfrm>
            <a:off x="512064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Form a hypothesis</a:t>
            </a:r>
            <a:endParaRPr lang="en-US" sz="1300" dirty="0"/>
          </a:p>
        </p:txBody>
      </p:sp>
      <p:sp>
        <p:nvSpPr>
          <p:cNvPr id="21" name="Text 19"/>
          <p:cNvSpPr txBox="1"/>
          <p:nvPr/>
        </p:nvSpPr>
        <p:spPr>
          <a:xfrm>
            <a:off x="507492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one variable, a direction &amp; why</a:t>
            </a:r>
            <a:endParaRPr lang="en-US" sz="1100" dirty="0"/>
          </a:p>
        </p:txBody>
      </p:sp>
      <p:sp>
        <p:nvSpPr>
          <p:cNvPr id="22" name="Shape 20"/>
          <p:cNvSpPr/>
          <p:nvPr/>
        </p:nvSpPr>
        <p:spPr>
          <a:xfrm>
            <a:off x="8001000" y="4160520"/>
            <a:ext cx="640080" cy="640080"/>
          </a:xfrm>
          <a:prstGeom prst="ellipse">
            <a:avLst/>
          </a:prstGeom>
          <a:solidFill>
            <a:srgbClr val="137C8E"/>
          </a:solidFill>
          <a:ln/>
        </p:spPr>
        <p:txBody>
          <a:bodyPr/>
          <a:p/>
        </p:txBody>
      </p:sp>
      <p:sp>
        <p:nvSpPr>
          <p:cNvPr id="23" name="Text 21"/>
          <p:cNvSpPr txBox="1"/>
          <p:nvPr/>
        </p:nvSpPr>
        <p:spPr>
          <a:xfrm>
            <a:off x="800100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2"/>
          <p:cNvSpPr txBox="1"/>
          <p:nvPr/>
        </p:nvSpPr>
        <p:spPr>
          <a:xfrm>
            <a:off x="736092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Run ablations</a:t>
            </a:r>
            <a:endParaRPr lang="en-US" sz="1300" dirty="0"/>
          </a:p>
        </p:txBody>
      </p:sp>
      <p:sp>
        <p:nvSpPr>
          <p:cNvPr id="25" name="Text 23"/>
          <p:cNvSpPr txBox="1"/>
          <p:nvPr/>
        </p:nvSpPr>
        <p:spPr>
          <a:xfrm>
            <a:off x="731520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change one thing, compare</a:t>
            </a:r>
            <a:endParaRPr lang="en-US" sz="1100" dirty="0"/>
          </a:p>
        </p:txBody>
      </p:sp>
      <p:sp>
        <p:nvSpPr>
          <p:cNvPr id="26" name="Shape 24"/>
          <p:cNvSpPr/>
          <p:nvPr/>
        </p:nvSpPr>
        <p:spPr>
          <a:xfrm>
            <a:off x="10241280" y="4160520"/>
            <a:ext cx="640080" cy="640080"/>
          </a:xfrm>
          <a:prstGeom prst="ellipse">
            <a:avLst/>
          </a:prstGeom>
          <a:solidFill>
            <a:srgbClr val="137C8E"/>
          </a:solidFill>
          <a:ln/>
        </p:spPr>
        <p:txBody>
          <a:bodyPr/>
          <a:p/>
        </p:txBody>
      </p:sp>
      <p:sp>
        <p:nvSpPr>
          <p:cNvPr id="27" name="Text 25"/>
          <p:cNvSpPr txBox="1"/>
          <p:nvPr/>
        </p:nvSpPr>
        <p:spPr>
          <a:xfrm>
            <a:off x="10241280" y="41605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8" name="Text 26"/>
          <p:cNvSpPr txBox="1"/>
          <p:nvPr/>
        </p:nvSpPr>
        <p:spPr>
          <a:xfrm>
            <a:off x="9601200" y="4937760"/>
            <a:ext cx="1920240" cy="365760"/>
          </a:xfrm>
          <a:prstGeom prst="rect">
            <a:avLst/>
          </a:prstGeom>
          <a:noFill/>
          <a:ln/>
        </p:spPr>
        <p:txBody>
          <a:bodyPr wrap="square" lIns="0" tIns="0" rIns="0" bIns="0" rtlCol="0" anchor="ctr"/>
          <a:lstStyle/>
          <a:p>
            <a:pPr algn="ctr" indent="0" marL="0">
              <a:lnSpc>
                <a:spcPct val="95000"/>
              </a:lnSpc>
              <a:buNone/>
            </a:pPr>
            <a:r>
              <a:rPr lang="en-US" sz="1300" b="1" dirty="0">
                <a:solidFill>
                  <a:srgbClr val="FFFFFF"/>
                </a:solidFill>
                <a:latin typeface="Calibri" pitchFamily="34" charset="0"/>
                <a:ea typeface="Calibri" pitchFamily="34" charset="-122"/>
                <a:cs typeface="Calibri" pitchFamily="34" charset="-120"/>
              </a:rPr>
              <a:t>Analyse &amp; write up</a:t>
            </a:r>
            <a:endParaRPr lang="en-US" sz="1300" dirty="0"/>
          </a:p>
        </p:txBody>
      </p:sp>
      <p:sp>
        <p:nvSpPr>
          <p:cNvPr id="29" name="Text 27"/>
          <p:cNvSpPr txBox="1"/>
          <p:nvPr/>
        </p:nvSpPr>
        <p:spPr>
          <a:xfrm>
            <a:off x="9555480" y="5303520"/>
            <a:ext cx="2011680" cy="502920"/>
          </a:xfrm>
          <a:prstGeom prst="rect">
            <a:avLst/>
          </a:prstGeom>
          <a:noFill/>
          <a:ln/>
        </p:spPr>
        <p:txBody>
          <a:bodyPr wrap="square" lIns="0" tIns="0" rIns="0" bIns="0" rtlCol="0" anchor="ctr"/>
          <a:lstStyle/>
          <a:p>
            <a:pPr algn="ctr" indent="0" marL="0">
              <a:lnSpc>
                <a:spcPct val="95000"/>
              </a:lnSpc>
              <a:buNone/>
            </a:pPr>
            <a:r>
              <a:rPr lang="en-US" sz="1100" dirty="0">
                <a:solidFill>
                  <a:srgbClr val="BFD6DC"/>
                </a:solidFill>
                <a:latin typeface="Calibri" pitchFamily="34" charset="0"/>
                <a:ea typeface="Calibri" pitchFamily="34" charset="-122"/>
                <a:cs typeface="Calibri" pitchFamily="34" charset="-120"/>
              </a:rPr>
              <a:t>IEEE format, honest limits</a:t>
            </a:r>
            <a:endParaRPr lang="en-US" sz="1100" dirty="0"/>
          </a:p>
        </p:txBody>
      </p:sp>
      <p:sp>
        <p:nvSpPr>
          <p:cNvPr id="30" name="Text 28"/>
          <p:cNvSpPr txBox="1"/>
          <p:nvPr/>
        </p:nvSpPr>
        <p:spPr>
          <a:xfrm>
            <a:off x="685800" y="6053328"/>
            <a:ext cx="10835640" cy="457200"/>
          </a:xfrm>
          <a:prstGeom prst="rect">
            <a:avLst/>
          </a:prstGeom>
          <a:noFill/>
          <a:ln/>
        </p:spPr>
        <p:txBody>
          <a:bodyPr wrap="square" lIns="0" tIns="0" rIns="0" bIns="0" rtlCol="0" anchor="ctr"/>
          <a:lstStyle/>
          <a:p>
            <a:pPr algn="ctr" indent="0" marL="0">
              <a:buNone/>
            </a:pPr>
            <a:r>
              <a:rPr lang="en-US" sz="1400" i="1" dirty="0">
                <a:solidFill>
                  <a:srgbClr val="CFE3E8"/>
                </a:solidFill>
                <a:latin typeface="Calibri" pitchFamily="34" charset="0"/>
                <a:ea typeface="Calibri" pitchFamily="34" charset="-122"/>
                <a:cs typeface="Calibri" pitchFamily="34" charset="-120"/>
              </a:rPr>
              <a:t>Positioned to build a clinically reliable, deployable malaria-screening system — with the gaps above as our contribution.</a:t>
            </a:r>
            <a:endParaRPr lang="en-US" sz="14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972800" y="5669280"/>
            <a:ext cx="1097280" cy="1097280"/>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521440" y="1188720"/>
            <a:ext cx="548640" cy="54864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85800" y="548640"/>
            <a:ext cx="10058400" cy="320040"/>
          </a:xfrm>
          <a:prstGeom prst="rect">
            <a:avLst/>
          </a:prstGeom>
          <a:noFill/>
        </p:spPr>
        <p:txBody>
          <a:bodyPr wrap="square" lIns="0" rIns="0" tIns="0" bIns="0" anchor="t">
            <a:spAutoFit/>
          </a:bodyPr>
          <a:lstStyle/>
          <a:p>
            <a:pPr algn="l"/>
            <a:r>
              <a:rPr sz="1300" b="1" i="0">
                <a:solidFill>
                  <a:srgbClr val="2EA79B"/>
                </a:solidFill>
                <a:latin typeface="Calibri"/>
              </a:rPr>
              <a:t>PHASE 2 · INTRODUCTION</a:t>
            </a:r>
          </a:p>
        </p:txBody>
      </p:sp>
      <p:sp>
        <p:nvSpPr>
          <p:cNvPr id="5" name="TextBox 4"/>
          <p:cNvSpPr txBox="1"/>
          <p:nvPr/>
        </p:nvSpPr>
        <p:spPr>
          <a:xfrm>
            <a:off x="685800" y="896112"/>
            <a:ext cx="10972800" cy="640080"/>
          </a:xfrm>
          <a:prstGeom prst="rect">
            <a:avLst/>
          </a:prstGeom>
          <a:noFill/>
        </p:spPr>
        <p:txBody>
          <a:bodyPr wrap="square" lIns="0" rIns="0" tIns="0" bIns="0" anchor="t">
            <a:spAutoFit/>
          </a:bodyPr>
          <a:lstStyle/>
          <a:p>
            <a:pPr algn="l"/>
            <a:r>
              <a:rPr sz="3000" b="1" i="0">
                <a:solidFill>
                  <a:srgbClr val="FFFFFF"/>
                </a:solidFill>
                <a:latin typeface="Cambria"/>
              </a:rPr>
              <a:t>From literature review to a working baseline</a:t>
            </a:r>
          </a:p>
        </p:txBody>
      </p:sp>
      <p:sp>
        <p:nvSpPr>
          <p:cNvPr id="6" name="Rounded Rectangle 5"/>
          <p:cNvSpPr/>
          <p:nvPr/>
        </p:nvSpPr>
        <p:spPr>
          <a:xfrm>
            <a:off x="685800" y="1691640"/>
            <a:ext cx="10835640" cy="160020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1810512"/>
            <a:ext cx="10195560" cy="1371600"/>
          </a:xfrm>
          <a:prstGeom prst="rect">
            <a:avLst/>
          </a:prstGeom>
          <a:noFill/>
        </p:spPr>
        <p:txBody>
          <a:bodyPr wrap="square" lIns="0" rIns="0" tIns="0" bIns="0" anchor="ctr">
            <a:spAutoFit/>
          </a:bodyPr>
          <a:lstStyle/>
          <a:p>
            <a:pPr algn="l">
              <a:lnSpc>
                <a:spcPct val="108000"/>
              </a:lnSpc>
            </a:pPr>
            <a:r>
              <a:rPr sz="1500" b="0" i="0">
                <a:solidFill>
                  <a:srgbClr val="E6F1F3"/>
                </a:solidFill>
                <a:latin typeface="Calibri"/>
              </a:rPr>
              <a:t>Malaria is still confirmed by a technician scanning Giemsa-stained blood smears under a microscope: </a:t>
            </a:r>
            <a:r>
              <a:rPr sz="1500" b="1" i="0">
                <a:solidFill>
                  <a:srgbClr val="FFFFFF"/>
                </a:solidFill>
                <a:latin typeface="Calibri"/>
              </a:rPr>
              <a:t>slow, subjective and expert-dependent.</a:t>
            </a:r>
            <a:r>
              <a:rPr sz="1500" b="0" i="0">
                <a:solidFill>
                  <a:srgbClr val="E6F1F3"/>
                </a:solidFill>
                <a:latin typeface="Calibri"/>
              </a:rPr>
              <a:t> Deep CNNs trained on the NIH cell dataset now report 96–99.9 % accuracy, but our review found that most evaluate on </a:t>
            </a:r>
            <a:r>
              <a:rPr sz="1500" b="1" i="0">
                <a:solidFill>
                  <a:srgbClr val="FFFFFF"/>
                </a:solidFill>
                <a:latin typeface="Calibri"/>
              </a:rPr>
              <a:t>random image-level splits</a:t>
            </a:r>
            <a:r>
              <a:rPr sz="1500" b="0" i="0">
                <a:solidFill>
                  <a:srgbClr val="E6F1F3"/>
                </a:solidFill>
                <a:latin typeface="Calibri"/>
              </a:rPr>
              <a:t>, so cells from the same patient sit in both training and testing. Phase 2 makes this concrete: we rebuild one strong published model, then ask how it holds up under fairer, stain-robust conditions.</a:t>
            </a:r>
          </a:p>
        </p:txBody>
      </p:sp>
      <p:sp>
        <p:nvSpPr>
          <p:cNvPr id="8" name="TextBox 7"/>
          <p:cNvSpPr txBox="1"/>
          <p:nvPr/>
        </p:nvSpPr>
        <p:spPr>
          <a:xfrm>
            <a:off x="685800" y="3520440"/>
            <a:ext cx="10058400" cy="274320"/>
          </a:xfrm>
          <a:prstGeom prst="rect">
            <a:avLst/>
          </a:prstGeom>
          <a:noFill/>
        </p:spPr>
        <p:txBody>
          <a:bodyPr wrap="square" lIns="0" rIns="0" tIns="0" bIns="0" anchor="t">
            <a:spAutoFit/>
          </a:bodyPr>
          <a:lstStyle/>
          <a:p>
            <a:pPr algn="l"/>
            <a:r>
              <a:rPr sz="1200" b="1" i="0">
                <a:solidFill>
                  <a:srgbClr val="9FC0C9"/>
                </a:solidFill>
                <a:latin typeface="Calibri"/>
              </a:rPr>
              <a:t>WHAT THIS PHASE DELIVERS</a:t>
            </a:r>
          </a:p>
        </p:txBody>
      </p:sp>
      <p:sp>
        <p:nvSpPr>
          <p:cNvPr id="9" name="Rounded Rectangle 8"/>
          <p:cNvSpPr/>
          <p:nvPr/>
        </p:nvSpPr>
        <p:spPr>
          <a:xfrm>
            <a:off x="685800" y="3886200"/>
            <a:ext cx="3474720" cy="192024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41832" y="4114800"/>
            <a:ext cx="658368" cy="658368"/>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mage.png"/>
          <p:cNvPicPr>
            <a:picLocks noChangeAspect="1"/>
          </p:cNvPicPr>
          <p:nvPr/>
        </p:nvPicPr>
        <p:blipFill>
          <a:blip r:embed="rId2"/>
          <a:stretch>
            <a:fillRect/>
          </a:stretch>
        </p:blipFill>
        <p:spPr>
          <a:xfrm>
            <a:off x="1106424" y="4279392"/>
            <a:ext cx="329184" cy="329184"/>
          </a:xfrm>
          <a:prstGeom prst="rect">
            <a:avLst/>
          </a:prstGeom>
        </p:spPr>
      </p:pic>
      <p:sp>
        <p:nvSpPr>
          <p:cNvPr id="12" name="TextBox 11"/>
          <p:cNvSpPr txBox="1"/>
          <p:nvPr/>
        </p:nvSpPr>
        <p:spPr>
          <a:xfrm>
            <a:off x="1764792" y="4133087"/>
            <a:ext cx="2286000" cy="640080"/>
          </a:xfrm>
          <a:prstGeom prst="rect">
            <a:avLst/>
          </a:prstGeom>
          <a:noFill/>
        </p:spPr>
        <p:txBody>
          <a:bodyPr wrap="square" lIns="0" rIns="0" tIns="0" bIns="0" anchor="ctr">
            <a:spAutoFit/>
          </a:bodyPr>
          <a:lstStyle/>
          <a:p>
            <a:pPr algn="l"/>
            <a:r>
              <a:rPr sz="1600" b="1" i="0">
                <a:solidFill>
                  <a:srgbClr val="FFFFFF"/>
                </a:solidFill>
                <a:latin typeface="Cambria"/>
              </a:rPr>
              <a:t>1 · Pick a base paper</a:t>
            </a:r>
          </a:p>
        </p:txBody>
      </p:sp>
      <p:sp>
        <p:nvSpPr>
          <p:cNvPr id="13" name="TextBox 12"/>
          <p:cNvSpPr txBox="1"/>
          <p:nvPr/>
        </p:nvSpPr>
        <p:spPr>
          <a:xfrm>
            <a:off x="960120" y="4919472"/>
            <a:ext cx="2971800" cy="822960"/>
          </a:xfrm>
          <a:prstGeom prst="rect">
            <a:avLst/>
          </a:prstGeom>
          <a:noFill/>
        </p:spPr>
        <p:txBody>
          <a:bodyPr wrap="square" lIns="0" rIns="0" tIns="0" bIns="0" anchor="t">
            <a:spAutoFit/>
          </a:bodyPr>
          <a:lstStyle/>
          <a:p>
            <a:pPr algn="l"/>
            <a:r>
              <a:rPr sz="1250" b="0" i="0">
                <a:solidFill>
                  <a:srgbClr val="D5E6EA"/>
                </a:solidFill>
                <a:latin typeface="Calibri"/>
              </a:rPr>
              <a:t>Marques et al. [8]: EfficientNet-B0 with a stratified 10-fold ensemble. Open-source, strict CV, 98.29 %.</a:t>
            </a:r>
          </a:p>
        </p:txBody>
      </p:sp>
      <p:sp>
        <p:nvSpPr>
          <p:cNvPr id="14" name="Rounded Rectangle 13"/>
          <p:cNvSpPr/>
          <p:nvPr/>
        </p:nvSpPr>
        <p:spPr>
          <a:xfrm>
            <a:off x="4343400" y="3886200"/>
            <a:ext cx="3474720" cy="192024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99432" y="4114800"/>
            <a:ext cx="658368" cy="658368"/>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image.png"/>
          <p:cNvPicPr>
            <a:picLocks noChangeAspect="1"/>
          </p:cNvPicPr>
          <p:nvPr/>
        </p:nvPicPr>
        <p:blipFill>
          <a:blip r:embed="rId3"/>
          <a:stretch>
            <a:fillRect/>
          </a:stretch>
        </p:blipFill>
        <p:spPr>
          <a:xfrm>
            <a:off x="4764024" y="4279392"/>
            <a:ext cx="329184" cy="329184"/>
          </a:xfrm>
          <a:prstGeom prst="rect">
            <a:avLst/>
          </a:prstGeom>
        </p:spPr>
      </p:pic>
      <p:sp>
        <p:nvSpPr>
          <p:cNvPr id="17" name="TextBox 16"/>
          <p:cNvSpPr txBox="1"/>
          <p:nvPr/>
        </p:nvSpPr>
        <p:spPr>
          <a:xfrm>
            <a:off x="5422392" y="4133087"/>
            <a:ext cx="2286000" cy="640080"/>
          </a:xfrm>
          <a:prstGeom prst="rect">
            <a:avLst/>
          </a:prstGeom>
          <a:noFill/>
        </p:spPr>
        <p:txBody>
          <a:bodyPr wrap="square" lIns="0" rIns="0" tIns="0" bIns="0" anchor="ctr">
            <a:spAutoFit/>
          </a:bodyPr>
          <a:lstStyle/>
          <a:p>
            <a:pPr algn="l"/>
            <a:r>
              <a:rPr sz="1600" b="1" i="0">
                <a:solidFill>
                  <a:srgbClr val="FFFFFF"/>
                </a:solidFill>
                <a:latin typeface="Cambria"/>
              </a:rPr>
              <a:t>2 · Reproduce it</a:t>
            </a:r>
          </a:p>
        </p:txBody>
      </p:sp>
      <p:sp>
        <p:nvSpPr>
          <p:cNvPr id="18" name="TextBox 17"/>
          <p:cNvSpPr txBox="1"/>
          <p:nvPr/>
        </p:nvSpPr>
        <p:spPr>
          <a:xfrm>
            <a:off x="4617720" y="4919472"/>
            <a:ext cx="2971800" cy="822960"/>
          </a:xfrm>
          <a:prstGeom prst="rect">
            <a:avLst/>
          </a:prstGeom>
          <a:noFill/>
        </p:spPr>
        <p:txBody>
          <a:bodyPr wrap="square" lIns="0" rIns="0" tIns="0" bIns="0" anchor="t">
            <a:spAutoFit/>
          </a:bodyPr>
          <a:lstStyle/>
          <a:p>
            <a:pPr algn="l"/>
            <a:r>
              <a:rPr sz="1250" b="0" i="0">
                <a:solidFill>
                  <a:srgbClr val="D5E6EA"/>
                </a:solidFill>
                <a:latin typeface="Calibri"/>
              </a:rPr>
              <a:t>Rebuild its training recipe on the NIH set and match its numbers. This becomes our baseline.</a:t>
            </a:r>
          </a:p>
        </p:txBody>
      </p:sp>
      <p:sp>
        <p:nvSpPr>
          <p:cNvPr id="19" name="Rounded Rectangle 18"/>
          <p:cNvSpPr/>
          <p:nvPr/>
        </p:nvSpPr>
        <p:spPr>
          <a:xfrm>
            <a:off x="8001000" y="3886200"/>
            <a:ext cx="3474720" cy="192024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57031" y="4114800"/>
            <a:ext cx="658368" cy="658368"/>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image.png"/>
          <p:cNvPicPr>
            <a:picLocks noChangeAspect="1"/>
          </p:cNvPicPr>
          <p:nvPr/>
        </p:nvPicPr>
        <p:blipFill>
          <a:blip r:embed="rId4"/>
          <a:stretch>
            <a:fillRect/>
          </a:stretch>
        </p:blipFill>
        <p:spPr>
          <a:xfrm>
            <a:off x="8421624" y="4279392"/>
            <a:ext cx="329184" cy="329184"/>
          </a:xfrm>
          <a:prstGeom prst="rect">
            <a:avLst/>
          </a:prstGeom>
        </p:spPr>
      </p:pic>
      <p:sp>
        <p:nvSpPr>
          <p:cNvPr id="22" name="TextBox 21"/>
          <p:cNvSpPr txBox="1"/>
          <p:nvPr/>
        </p:nvSpPr>
        <p:spPr>
          <a:xfrm>
            <a:off x="9079992" y="4133087"/>
            <a:ext cx="2286000" cy="640080"/>
          </a:xfrm>
          <a:prstGeom prst="rect">
            <a:avLst/>
          </a:prstGeom>
          <a:noFill/>
        </p:spPr>
        <p:txBody>
          <a:bodyPr wrap="square" lIns="0" rIns="0" tIns="0" bIns="0" anchor="ctr">
            <a:spAutoFit/>
          </a:bodyPr>
          <a:lstStyle/>
          <a:p>
            <a:pPr algn="l"/>
            <a:r>
              <a:rPr sz="1600" b="1" i="0">
                <a:solidFill>
                  <a:srgbClr val="FFFFFF"/>
                </a:solidFill>
                <a:latin typeface="Cambria"/>
              </a:rPr>
              <a:t>3 · State our hypothesis</a:t>
            </a:r>
          </a:p>
        </p:txBody>
      </p:sp>
      <p:sp>
        <p:nvSpPr>
          <p:cNvPr id="23" name="TextBox 22"/>
          <p:cNvSpPr txBox="1"/>
          <p:nvPr/>
        </p:nvSpPr>
        <p:spPr>
          <a:xfrm>
            <a:off x="8275320" y="4919472"/>
            <a:ext cx="2971800" cy="822960"/>
          </a:xfrm>
          <a:prstGeom prst="rect">
            <a:avLst/>
          </a:prstGeom>
          <a:noFill/>
        </p:spPr>
        <p:txBody>
          <a:bodyPr wrap="square" lIns="0" rIns="0" tIns="0" bIns="0" anchor="t">
            <a:spAutoFit/>
          </a:bodyPr>
          <a:lstStyle/>
          <a:p>
            <a:pPr algn="l"/>
            <a:r>
              <a:rPr sz="1250" b="0" i="0">
                <a:solidFill>
                  <a:srgbClr val="D5E6EA"/>
                </a:solidFill>
                <a:latin typeface="Calibri"/>
              </a:rPr>
              <a:t>Two changes, one variable each: a leakage-free split (H1) and YUV stain normalisation (H2).</a:t>
            </a:r>
          </a:p>
        </p:txBody>
      </p:sp>
      <p:sp>
        <p:nvSpPr>
          <p:cNvPr id="24" name="TextBox 23"/>
          <p:cNvSpPr txBox="1"/>
          <p:nvPr/>
        </p:nvSpPr>
        <p:spPr>
          <a:xfrm>
            <a:off x="685800" y="6053328"/>
            <a:ext cx="10058400" cy="365760"/>
          </a:xfrm>
          <a:prstGeom prst="rect">
            <a:avLst/>
          </a:prstGeom>
          <a:noFill/>
        </p:spPr>
        <p:txBody>
          <a:bodyPr wrap="square" lIns="0" rIns="0" tIns="0" bIns="0" anchor="t">
            <a:spAutoFit/>
          </a:bodyPr>
          <a:lstStyle/>
          <a:p>
            <a:pPr algn="l"/>
            <a:r>
              <a:rPr sz="1400" b="1" i="0">
                <a:solidFill>
                  <a:srgbClr val="2EA79B"/>
                </a:solidFill>
                <a:latin typeface="Calibri"/>
              </a:rPr>
              <a:t>Milestones 2 &amp; 3:  </a:t>
            </a:r>
            <a:r>
              <a:rPr sz="1400" b="0" i="0">
                <a:solidFill>
                  <a:srgbClr val="CFE3E8"/>
                </a:solidFill>
                <a:latin typeface="Calibri"/>
              </a:rPr>
              <a:t>baseline reproduction (notebook) + hypothesis for the proposed changes.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BASE PAPER · MARQUES ET AL. [8], 2022</a:t>
            </a:r>
          </a:p>
        </p:txBody>
      </p:sp>
      <p:sp>
        <p:nvSpPr>
          <p:cNvPr id="3"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Why EfficientNet-B0 + a 10-fold ensemble</a:t>
            </a:r>
          </a:p>
        </p:txBody>
      </p:sp>
      <p:sp>
        <p:nvSpPr>
          <p:cNvPr id="4"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Multimedia Tools and Applications 81 (2022). Chosen from the 11 papers in our Phase 1 survey: the strongest-documented, reproducible model to compare our changes against.</a:t>
            </a:r>
          </a:p>
        </p:txBody>
      </p:sp>
      <p:sp>
        <p:nvSpPr>
          <p:cNvPr id="5" name="Rounded Rectangle 4"/>
          <p:cNvSpPr/>
          <p:nvPr/>
        </p:nvSpPr>
        <p:spPr>
          <a:xfrm>
            <a:off x="548640" y="2103120"/>
            <a:ext cx="5760720" cy="786384"/>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9808" y="2221991"/>
            <a:ext cx="548640" cy="548640"/>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mage.png"/>
          <p:cNvPicPr>
            <a:picLocks noChangeAspect="1"/>
          </p:cNvPicPr>
          <p:nvPr/>
        </p:nvPicPr>
        <p:blipFill>
          <a:blip r:embed="rId2"/>
          <a:stretch>
            <a:fillRect/>
          </a:stretch>
        </p:blipFill>
        <p:spPr>
          <a:xfrm>
            <a:off x="886968" y="2359151"/>
            <a:ext cx="274320" cy="274320"/>
          </a:xfrm>
          <a:prstGeom prst="rect">
            <a:avLst/>
          </a:prstGeom>
        </p:spPr>
      </p:pic>
      <p:sp>
        <p:nvSpPr>
          <p:cNvPr id="8" name="TextBox 7"/>
          <p:cNvSpPr txBox="1"/>
          <p:nvPr/>
        </p:nvSpPr>
        <p:spPr>
          <a:xfrm>
            <a:off x="1481328" y="2194560"/>
            <a:ext cx="4709160" cy="292608"/>
          </a:xfrm>
          <a:prstGeom prst="rect">
            <a:avLst/>
          </a:prstGeom>
          <a:noFill/>
        </p:spPr>
        <p:txBody>
          <a:bodyPr wrap="square" lIns="0" rIns="0" tIns="0" bIns="0" anchor="t">
            <a:spAutoFit/>
          </a:bodyPr>
          <a:lstStyle/>
          <a:p>
            <a:pPr algn="l"/>
            <a:r>
              <a:rPr sz="1450" b="1" i="0">
                <a:solidFill>
                  <a:srgbClr val="17262E"/>
                </a:solidFill>
                <a:latin typeface="Cambria"/>
              </a:rPr>
              <a:t>Open-source code</a:t>
            </a:r>
          </a:p>
        </p:txBody>
      </p:sp>
      <p:sp>
        <p:nvSpPr>
          <p:cNvPr id="9" name="TextBox 8"/>
          <p:cNvSpPr txBox="1"/>
          <p:nvPr/>
        </p:nvSpPr>
        <p:spPr>
          <a:xfrm>
            <a:off x="1481328" y="2496312"/>
            <a:ext cx="4709160" cy="365760"/>
          </a:xfrm>
          <a:prstGeom prst="rect">
            <a:avLst/>
          </a:prstGeom>
          <a:noFill/>
        </p:spPr>
        <p:txBody>
          <a:bodyPr wrap="square" lIns="0" rIns="0" tIns="0" bIns="0" anchor="t">
            <a:spAutoFit/>
          </a:bodyPr>
          <a:lstStyle/>
          <a:p>
            <a:pPr algn="l"/>
            <a:r>
              <a:rPr sz="1150" b="0" i="0">
                <a:solidFill>
                  <a:srgbClr val="41525B"/>
                </a:solidFill>
                <a:latin typeface="Calibri"/>
              </a:rPr>
              <a:t>Authors released their code, so a fair, faithful reproduction is possible.</a:t>
            </a:r>
          </a:p>
        </p:txBody>
      </p:sp>
      <p:sp>
        <p:nvSpPr>
          <p:cNvPr id="10" name="Rounded Rectangle 9"/>
          <p:cNvSpPr/>
          <p:nvPr/>
        </p:nvSpPr>
        <p:spPr>
          <a:xfrm>
            <a:off x="548640" y="2999232"/>
            <a:ext cx="5760720" cy="786384"/>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49808" y="3118103"/>
            <a:ext cx="548640" cy="548640"/>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png"/>
          <p:cNvPicPr>
            <a:picLocks noChangeAspect="1"/>
          </p:cNvPicPr>
          <p:nvPr/>
        </p:nvPicPr>
        <p:blipFill>
          <a:blip r:embed="rId3"/>
          <a:stretch>
            <a:fillRect/>
          </a:stretch>
        </p:blipFill>
        <p:spPr>
          <a:xfrm>
            <a:off x="886968" y="3255263"/>
            <a:ext cx="274320" cy="274320"/>
          </a:xfrm>
          <a:prstGeom prst="rect">
            <a:avLst/>
          </a:prstGeom>
        </p:spPr>
      </p:pic>
      <p:sp>
        <p:nvSpPr>
          <p:cNvPr id="13" name="TextBox 12"/>
          <p:cNvSpPr txBox="1"/>
          <p:nvPr/>
        </p:nvSpPr>
        <p:spPr>
          <a:xfrm>
            <a:off x="1481328" y="3090672"/>
            <a:ext cx="4709160" cy="292608"/>
          </a:xfrm>
          <a:prstGeom prst="rect">
            <a:avLst/>
          </a:prstGeom>
          <a:noFill/>
        </p:spPr>
        <p:txBody>
          <a:bodyPr wrap="square" lIns="0" rIns="0" tIns="0" bIns="0" anchor="t">
            <a:spAutoFit/>
          </a:bodyPr>
          <a:lstStyle/>
          <a:p>
            <a:pPr algn="l"/>
            <a:r>
              <a:rPr sz="1450" b="1" i="0">
                <a:solidFill>
                  <a:srgbClr val="17262E"/>
                </a:solidFill>
                <a:latin typeface="Cambria"/>
              </a:rPr>
              <a:t>Strict, stratified 10-fold CV</a:t>
            </a:r>
          </a:p>
        </p:txBody>
      </p:sp>
      <p:sp>
        <p:nvSpPr>
          <p:cNvPr id="14" name="TextBox 13"/>
          <p:cNvSpPr txBox="1"/>
          <p:nvPr/>
        </p:nvSpPr>
        <p:spPr>
          <a:xfrm>
            <a:off x="1481328" y="3392424"/>
            <a:ext cx="4709160" cy="365760"/>
          </a:xfrm>
          <a:prstGeom prst="rect">
            <a:avLst/>
          </a:prstGeom>
          <a:noFill/>
        </p:spPr>
        <p:txBody>
          <a:bodyPr wrap="square" lIns="0" rIns="0" tIns="0" bIns="0" anchor="t">
            <a:spAutoFit/>
          </a:bodyPr>
          <a:lstStyle/>
          <a:p>
            <a:pPr algn="l"/>
            <a:r>
              <a:rPr sz="1150" b="0" i="0">
                <a:solidFill>
                  <a:srgbClr val="41525B"/>
                </a:solidFill>
                <a:latin typeface="Calibri"/>
              </a:rPr>
              <a:t>The most rigorous protocol in our review. Every image is validated once.</a:t>
            </a:r>
          </a:p>
        </p:txBody>
      </p:sp>
      <p:sp>
        <p:nvSpPr>
          <p:cNvPr id="15" name="Rounded Rectangle 14"/>
          <p:cNvSpPr/>
          <p:nvPr/>
        </p:nvSpPr>
        <p:spPr>
          <a:xfrm>
            <a:off x="548640" y="3895344"/>
            <a:ext cx="5760720" cy="786384"/>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49808" y="4014215"/>
            <a:ext cx="548640" cy="54864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mage.png"/>
          <p:cNvPicPr>
            <a:picLocks noChangeAspect="1"/>
          </p:cNvPicPr>
          <p:nvPr/>
        </p:nvPicPr>
        <p:blipFill>
          <a:blip r:embed="rId4"/>
          <a:stretch>
            <a:fillRect/>
          </a:stretch>
        </p:blipFill>
        <p:spPr>
          <a:xfrm>
            <a:off x="886968" y="4151376"/>
            <a:ext cx="274320" cy="274320"/>
          </a:xfrm>
          <a:prstGeom prst="rect">
            <a:avLst/>
          </a:prstGeom>
        </p:spPr>
      </p:pic>
      <p:sp>
        <p:nvSpPr>
          <p:cNvPr id="18" name="TextBox 17"/>
          <p:cNvSpPr txBox="1"/>
          <p:nvPr/>
        </p:nvSpPr>
        <p:spPr>
          <a:xfrm>
            <a:off x="1481328" y="3986783"/>
            <a:ext cx="4709160" cy="292608"/>
          </a:xfrm>
          <a:prstGeom prst="rect">
            <a:avLst/>
          </a:prstGeom>
          <a:noFill/>
        </p:spPr>
        <p:txBody>
          <a:bodyPr wrap="square" lIns="0" rIns="0" tIns="0" bIns="0" anchor="t">
            <a:spAutoFit/>
          </a:bodyPr>
          <a:lstStyle/>
          <a:p>
            <a:pPr algn="l"/>
            <a:r>
              <a:rPr sz="1450" b="1" i="0">
                <a:solidFill>
                  <a:srgbClr val="17262E"/>
                </a:solidFill>
                <a:latin typeface="Cambria"/>
              </a:rPr>
              <a:t>Light backbone (~4–5 M params)</a:t>
            </a:r>
          </a:p>
        </p:txBody>
      </p:sp>
      <p:sp>
        <p:nvSpPr>
          <p:cNvPr id="19" name="TextBox 18"/>
          <p:cNvSpPr txBox="1"/>
          <p:nvPr/>
        </p:nvSpPr>
        <p:spPr>
          <a:xfrm>
            <a:off x="1481328" y="4288536"/>
            <a:ext cx="4709160" cy="365760"/>
          </a:xfrm>
          <a:prstGeom prst="rect">
            <a:avLst/>
          </a:prstGeom>
          <a:noFill/>
        </p:spPr>
        <p:txBody>
          <a:bodyPr wrap="square" lIns="0" rIns="0" tIns="0" bIns="0" anchor="t">
            <a:spAutoFit/>
          </a:bodyPr>
          <a:lstStyle/>
          <a:p>
            <a:pPr algn="l"/>
            <a:r>
              <a:rPr sz="1150" b="0" i="0">
                <a:solidFill>
                  <a:srgbClr val="41525B"/>
                </a:solidFill>
                <a:latin typeface="Calibri"/>
              </a:rPr>
              <a:t>B0 is the smallest EfficientNet, so it stays close to our deployability goal.</a:t>
            </a:r>
          </a:p>
        </p:txBody>
      </p:sp>
      <p:sp>
        <p:nvSpPr>
          <p:cNvPr id="20" name="Rounded Rectangle 19"/>
          <p:cNvSpPr/>
          <p:nvPr/>
        </p:nvSpPr>
        <p:spPr>
          <a:xfrm>
            <a:off x="548640" y="4791456"/>
            <a:ext cx="5760720" cy="786384"/>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49808" y="4910328"/>
            <a:ext cx="548640" cy="548640"/>
          </a:xfrm>
          <a:prstGeom prst="ellipse">
            <a:avLst/>
          </a:prstGeom>
          <a:solidFill>
            <a:srgbClr val="CC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mage.png"/>
          <p:cNvPicPr>
            <a:picLocks noChangeAspect="1"/>
          </p:cNvPicPr>
          <p:nvPr/>
        </p:nvPicPr>
        <p:blipFill>
          <a:blip r:embed="rId5"/>
          <a:stretch>
            <a:fillRect/>
          </a:stretch>
        </p:blipFill>
        <p:spPr>
          <a:xfrm>
            <a:off x="886968" y="5047488"/>
            <a:ext cx="274320" cy="274320"/>
          </a:xfrm>
          <a:prstGeom prst="rect">
            <a:avLst/>
          </a:prstGeom>
        </p:spPr>
      </p:pic>
      <p:sp>
        <p:nvSpPr>
          <p:cNvPr id="23" name="TextBox 22"/>
          <p:cNvSpPr txBox="1"/>
          <p:nvPr/>
        </p:nvSpPr>
        <p:spPr>
          <a:xfrm>
            <a:off x="1481328" y="4882896"/>
            <a:ext cx="4709160" cy="292608"/>
          </a:xfrm>
          <a:prstGeom prst="rect">
            <a:avLst/>
          </a:prstGeom>
          <a:noFill/>
        </p:spPr>
        <p:txBody>
          <a:bodyPr wrap="square" lIns="0" rIns="0" tIns="0" bIns="0" anchor="t">
            <a:spAutoFit/>
          </a:bodyPr>
          <a:lstStyle/>
          <a:p>
            <a:pPr algn="l"/>
            <a:r>
              <a:rPr sz="1450" b="1" i="0">
                <a:solidFill>
                  <a:srgbClr val="17262E"/>
                </a:solidFill>
                <a:latin typeface="Cambria"/>
              </a:rPr>
              <a:t>Strong, but not at the ceiling</a:t>
            </a:r>
          </a:p>
        </p:txBody>
      </p:sp>
      <p:sp>
        <p:nvSpPr>
          <p:cNvPr id="24" name="TextBox 23"/>
          <p:cNvSpPr txBox="1"/>
          <p:nvPr/>
        </p:nvSpPr>
        <p:spPr>
          <a:xfrm>
            <a:off x="1481328" y="5184648"/>
            <a:ext cx="4709160" cy="365760"/>
          </a:xfrm>
          <a:prstGeom prst="rect">
            <a:avLst/>
          </a:prstGeom>
          <a:noFill/>
        </p:spPr>
        <p:txBody>
          <a:bodyPr wrap="square" lIns="0" rIns="0" tIns="0" bIns="0" anchor="t">
            <a:spAutoFit/>
          </a:bodyPr>
          <a:lstStyle/>
          <a:p>
            <a:pPr algn="l"/>
            <a:r>
              <a:rPr sz="1150" b="0" i="0">
                <a:solidFill>
                  <a:srgbClr val="41525B"/>
                </a:solidFill>
                <a:latin typeface="Calibri"/>
              </a:rPr>
              <a:t>98.29 % leaves room to measure whether a change helps or hurts.</a:t>
            </a:r>
          </a:p>
        </p:txBody>
      </p:sp>
      <p:sp>
        <p:nvSpPr>
          <p:cNvPr id="25" name="Rounded Rectangle 24"/>
          <p:cNvSpPr/>
          <p:nvPr/>
        </p:nvSpPr>
        <p:spPr>
          <a:xfrm>
            <a:off x="6583680" y="2103120"/>
            <a:ext cx="5056632" cy="3474720"/>
          </a:xfrm>
          <a:prstGeom prst="roundRect">
            <a:avLst>
              <a:gd name="adj" fmla="val 6000"/>
            </a:avLst>
          </a:prstGeom>
          <a:solidFill>
            <a:srgbClr val="172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0" y="2240280"/>
            <a:ext cx="4572000" cy="274320"/>
          </a:xfrm>
          <a:prstGeom prst="rect">
            <a:avLst/>
          </a:prstGeom>
          <a:noFill/>
        </p:spPr>
        <p:txBody>
          <a:bodyPr wrap="square" lIns="0" rIns="0" tIns="0" bIns="0" anchor="t">
            <a:spAutoFit/>
          </a:bodyPr>
          <a:lstStyle/>
          <a:p>
            <a:pPr algn="l"/>
            <a:r>
              <a:rPr sz="1100" b="1" i="0">
                <a:solidFill>
                  <a:srgbClr val="2EA79B"/>
                </a:solidFill>
                <a:latin typeface="Calibri"/>
              </a:rPr>
              <a:t>THE METHOD WE REPRODUCE</a:t>
            </a:r>
          </a:p>
        </p:txBody>
      </p:sp>
      <p:sp>
        <p:nvSpPr>
          <p:cNvPr id="27" name="Oval 26"/>
          <p:cNvSpPr/>
          <p:nvPr/>
        </p:nvSpPr>
        <p:spPr>
          <a:xfrm>
            <a:off x="6858000" y="2642616"/>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0" y="2642616"/>
            <a:ext cx="310896" cy="310896"/>
          </a:xfrm>
          <a:prstGeom prst="rect">
            <a:avLst/>
          </a:prstGeom>
          <a:noFill/>
        </p:spPr>
        <p:txBody>
          <a:bodyPr wrap="square" lIns="0" rIns="0" tIns="0" bIns="0" anchor="ctr">
            <a:spAutoFit/>
          </a:bodyPr>
          <a:lstStyle/>
          <a:p>
            <a:pPr algn="ctr"/>
            <a:r>
              <a:rPr sz="1100" b="1" i="0">
                <a:solidFill>
                  <a:srgbClr val="FFFFFF"/>
                </a:solidFill>
                <a:latin typeface="Calibri"/>
              </a:rPr>
              <a:t>1</a:t>
            </a:r>
          </a:p>
        </p:txBody>
      </p:sp>
      <p:sp>
        <p:nvSpPr>
          <p:cNvPr id="29" name="TextBox 28"/>
          <p:cNvSpPr txBox="1"/>
          <p:nvPr/>
        </p:nvSpPr>
        <p:spPr>
          <a:xfrm>
            <a:off x="7315200" y="2606040"/>
            <a:ext cx="1600200" cy="384048"/>
          </a:xfrm>
          <a:prstGeom prst="rect">
            <a:avLst/>
          </a:prstGeom>
          <a:noFill/>
        </p:spPr>
        <p:txBody>
          <a:bodyPr wrap="square" lIns="0" rIns="0" tIns="0" bIns="0" anchor="ctr">
            <a:spAutoFit/>
          </a:bodyPr>
          <a:lstStyle/>
          <a:p>
            <a:pPr algn="l"/>
            <a:r>
              <a:rPr sz="1300" b="1" i="0">
                <a:solidFill>
                  <a:srgbClr val="FFFFFF"/>
                </a:solidFill>
                <a:latin typeface="Calibri"/>
              </a:rPr>
              <a:t>NIH cells</a:t>
            </a:r>
          </a:p>
        </p:txBody>
      </p:sp>
      <p:sp>
        <p:nvSpPr>
          <p:cNvPr id="30" name="TextBox 29"/>
          <p:cNvSpPr txBox="1"/>
          <p:nvPr/>
        </p:nvSpPr>
        <p:spPr>
          <a:xfrm>
            <a:off x="8869680" y="2606040"/>
            <a:ext cx="2697480" cy="384048"/>
          </a:xfrm>
          <a:prstGeom prst="rect">
            <a:avLst/>
          </a:prstGeom>
          <a:noFill/>
        </p:spPr>
        <p:txBody>
          <a:bodyPr wrap="square" lIns="0" rIns="0" tIns="0" bIns="0" anchor="ctr">
            <a:spAutoFit/>
          </a:bodyPr>
          <a:lstStyle/>
          <a:p>
            <a:pPr algn="l"/>
            <a:r>
              <a:rPr sz="1100" b="0" i="0">
                <a:solidFill>
                  <a:srgbClr val="BFD6DC"/>
                </a:solidFill>
                <a:latin typeface="Calibri"/>
              </a:rPr>
              <a:t>27,558 crops · balanced</a:t>
            </a:r>
          </a:p>
        </p:txBody>
      </p:sp>
      <p:sp>
        <p:nvSpPr>
          <p:cNvPr id="31" name="Oval 30"/>
          <p:cNvSpPr/>
          <p:nvPr/>
        </p:nvSpPr>
        <p:spPr>
          <a:xfrm>
            <a:off x="6858000" y="3127248"/>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0" y="3127248"/>
            <a:ext cx="310896" cy="310896"/>
          </a:xfrm>
          <a:prstGeom prst="rect">
            <a:avLst/>
          </a:prstGeom>
          <a:noFill/>
        </p:spPr>
        <p:txBody>
          <a:bodyPr wrap="square" lIns="0" rIns="0" tIns="0" bIns="0" anchor="ctr">
            <a:spAutoFit/>
          </a:bodyPr>
          <a:lstStyle/>
          <a:p>
            <a:pPr algn="ctr"/>
            <a:r>
              <a:rPr sz="1100" b="1" i="0">
                <a:solidFill>
                  <a:srgbClr val="FFFFFF"/>
                </a:solidFill>
                <a:latin typeface="Calibri"/>
              </a:rPr>
              <a:t>2</a:t>
            </a:r>
          </a:p>
        </p:txBody>
      </p:sp>
      <p:sp>
        <p:nvSpPr>
          <p:cNvPr id="33" name="TextBox 32"/>
          <p:cNvSpPr txBox="1"/>
          <p:nvPr/>
        </p:nvSpPr>
        <p:spPr>
          <a:xfrm>
            <a:off x="7315200" y="3090672"/>
            <a:ext cx="1600200" cy="384048"/>
          </a:xfrm>
          <a:prstGeom prst="rect">
            <a:avLst/>
          </a:prstGeom>
          <a:noFill/>
        </p:spPr>
        <p:txBody>
          <a:bodyPr wrap="square" lIns="0" rIns="0" tIns="0" bIns="0" anchor="ctr">
            <a:spAutoFit/>
          </a:bodyPr>
          <a:lstStyle/>
          <a:p>
            <a:pPr algn="l"/>
            <a:r>
              <a:rPr sz="1300" b="1" i="0">
                <a:solidFill>
                  <a:srgbClr val="FFFFFF"/>
                </a:solidFill>
                <a:latin typeface="Calibri"/>
              </a:rPr>
              <a:t>Resize</a:t>
            </a:r>
          </a:p>
        </p:txBody>
      </p:sp>
      <p:sp>
        <p:nvSpPr>
          <p:cNvPr id="34" name="TextBox 33"/>
          <p:cNvSpPr txBox="1"/>
          <p:nvPr/>
        </p:nvSpPr>
        <p:spPr>
          <a:xfrm>
            <a:off x="8869680" y="3090672"/>
            <a:ext cx="2697480" cy="384048"/>
          </a:xfrm>
          <a:prstGeom prst="rect">
            <a:avLst/>
          </a:prstGeom>
          <a:noFill/>
        </p:spPr>
        <p:txBody>
          <a:bodyPr wrap="square" lIns="0" rIns="0" tIns="0" bIns="0" anchor="ctr">
            <a:spAutoFit/>
          </a:bodyPr>
          <a:lstStyle/>
          <a:p>
            <a:pPr algn="l"/>
            <a:r>
              <a:rPr sz="1100" b="0" i="0">
                <a:solidFill>
                  <a:srgbClr val="BFD6DC"/>
                </a:solidFill>
                <a:latin typeface="Calibri"/>
              </a:rPr>
              <a:t>224 × 224 RGB</a:t>
            </a:r>
          </a:p>
        </p:txBody>
      </p:sp>
      <p:sp>
        <p:nvSpPr>
          <p:cNvPr id="35" name="Oval 34"/>
          <p:cNvSpPr/>
          <p:nvPr/>
        </p:nvSpPr>
        <p:spPr>
          <a:xfrm>
            <a:off x="6858000" y="3611880"/>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58000" y="3611880"/>
            <a:ext cx="310896" cy="310896"/>
          </a:xfrm>
          <a:prstGeom prst="rect">
            <a:avLst/>
          </a:prstGeom>
          <a:noFill/>
        </p:spPr>
        <p:txBody>
          <a:bodyPr wrap="square" lIns="0" rIns="0" tIns="0" bIns="0" anchor="ctr">
            <a:spAutoFit/>
          </a:bodyPr>
          <a:lstStyle/>
          <a:p>
            <a:pPr algn="ctr"/>
            <a:r>
              <a:rPr sz="1100" b="1" i="0">
                <a:solidFill>
                  <a:srgbClr val="FFFFFF"/>
                </a:solidFill>
                <a:latin typeface="Calibri"/>
              </a:rPr>
              <a:t>3</a:t>
            </a:r>
          </a:p>
        </p:txBody>
      </p:sp>
      <p:sp>
        <p:nvSpPr>
          <p:cNvPr id="37" name="TextBox 36"/>
          <p:cNvSpPr txBox="1"/>
          <p:nvPr/>
        </p:nvSpPr>
        <p:spPr>
          <a:xfrm>
            <a:off x="7315200" y="3575304"/>
            <a:ext cx="1600200" cy="384048"/>
          </a:xfrm>
          <a:prstGeom prst="rect">
            <a:avLst/>
          </a:prstGeom>
          <a:noFill/>
        </p:spPr>
        <p:txBody>
          <a:bodyPr wrap="square" lIns="0" rIns="0" tIns="0" bIns="0" anchor="ctr">
            <a:spAutoFit/>
          </a:bodyPr>
          <a:lstStyle/>
          <a:p>
            <a:pPr algn="l"/>
            <a:r>
              <a:rPr sz="1300" b="1" i="0">
                <a:solidFill>
                  <a:srgbClr val="FFFFFF"/>
                </a:solidFill>
                <a:latin typeface="Calibri"/>
              </a:rPr>
              <a:t>EfficientNet-B0</a:t>
            </a:r>
          </a:p>
        </p:txBody>
      </p:sp>
      <p:sp>
        <p:nvSpPr>
          <p:cNvPr id="38" name="TextBox 37"/>
          <p:cNvSpPr txBox="1"/>
          <p:nvPr/>
        </p:nvSpPr>
        <p:spPr>
          <a:xfrm>
            <a:off x="8869680" y="3575304"/>
            <a:ext cx="2697480" cy="384048"/>
          </a:xfrm>
          <a:prstGeom prst="rect">
            <a:avLst/>
          </a:prstGeom>
          <a:noFill/>
        </p:spPr>
        <p:txBody>
          <a:bodyPr wrap="square" lIns="0" rIns="0" tIns="0" bIns="0" anchor="ctr">
            <a:spAutoFit/>
          </a:bodyPr>
          <a:lstStyle/>
          <a:p>
            <a:pPr algn="l"/>
            <a:r>
              <a:rPr sz="1100" b="0" i="0">
                <a:solidFill>
                  <a:srgbClr val="BFD6DC"/>
                </a:solidFill>
                <a:latin typeface="Calibri"/>
              </a:rPr>
              <a:t>ImageNet weights, fully fine-tuned</a:t>
            </a:r>
          </a:p>
        </p:txBody>
      </p:sp>
      <p:sp>
        <p:nvSpPr>
          <p:cNvPr id="39" name="Oval 38"/>
          <p:cNvSpPr/>
          <p:nvPr/>
        </p:nvSpPr>
        <p:spPr>
          <a:xfrm>
            <a:off x="6858000" y="4096512"/>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858000" y="4096512"/>
            <a:ext cx="310896" cy="310896"/>
          </a:xfrm>
          <a:prstGeom prst="rect">
            <a:avLst/>
          </a:prstGeom>
          <a:noFill/>
        </p:spPr>
        <p:txBody>
          <a:bodyPr wrap="square" lIns="0" rIns="0" tIns="0" bIns="0" anchor="ctr">
            <a:spAutoFit/>
          </a:bodyPr>
          <a:lstStyle/>
          <a:p>
            <a:pPr algn="ctr"/>
            <a:r>
              <a:rPr sz="1100" b="1" i="0">
                <a:solidFill>
                  <a:srgbClr val="FFFFFF"/>
                </a:solidFill>
                <a:latin typeface="Calibri"/>
              </a:rPr>
              <a:t>4</a:t>
            </a:r>
          </a:p>
        </p:txBody>
      </p:sp>
      <p:sp>
        <p:nvSpPr>
          <p:cNvPr id="41" name="TextBox 40"/>
          <p:cNvSpPr txBox="1"/>
          <p:nvPr/>
        </p:nvSpPr>
        <p:spPr>
          <a:xfrm>
            <a:off x="7315200" y="4059936"/>
            <a:ext cx="1600200" cy="384048"/>
          </a:xfrm>
          <a:prstGeom prst="rect">
            <a:avLst/>
          </a:prstGeom>
          <a:noFill/>
        </p:spPr>
        <p:txBody>
          <a:bodyPr wrap="square" lIns="0" rIns="0" tIns="0" bIns="0" anchor="ctr">
            <a:spAutoFit/>
          </a:bodyPr>
          <a:lstStyle/>
          <a:p>
            <a:pPr algn="l"/>
            <a:r>
              <a:rPr sz="1300" b="1" i="0">
                <a:solidFill>
                  <a:srgbClr val="FFFFFF"/>
                </a:solidFill>
                <a:latin typeface="Calibri"/>
              </a:rPr>
              <a:t>Train</a:t>
            </a:r>
          </a:p>
        </p:txBody>
      </p:sp>
      <p:sp>
        <p:nvSpPr>
          <p:cNvPr id="42" name="TextBox 41"/>
          <p:cNvSpPr txBox="1"/>
          <p:nvPr/>
        </p:nvSpPr>
        <p:spPr>
          <a:xfrm>
            <a:off x="8869680" y="4059936"/>
            <a:ext cx="2697480" cy="384048"/>
          </a:xfrm>
          <a:prstGeom prst="rect">
            <a:avLst/>
          </a:prstGeom>
          <a:noFill/>
        </p:spPr>
        <p:txBody>
          <a:bodyPr wrap="square" lIns="0" rIns="0" tIns="0" bIns="0" anchor="ctr">
            <a:spAutoFit/>
          </a:bodyPr>
          <a:lstStyle/>
          <a:p>
            <a:pPr algn="l"/>
            <a:r>
              <a:rPr sz="1100" b="0" i="0">
                <a:solidFill>
                  <a:srgbClr val="BFD6DC"/>
                </a:solidFill>
                <a:latin typeface="Calibri"/>
              </a:rPr>
              <a:t>Adam 1e-4 · LR plateau decay → 1e-6</a:t>
            </a:r>
          </a:p>
        </p:txBody>
      </p:sp>
      <p:sp>
        <p:nvSpPr>
          <p:cNvPr id="43" name="Oval 42"/>
          <p:cNvSpPr/>
          <p:nvPr/>
        </p:nvSpPr>
        <p:spPr>
          <a:xfrm>
            <a:off x="6858000" y="4581144"/>
            <a:ext cx="310896" cy="310896"/>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858000" y="4581144"/>
            <a:ext cx="310896" cy="310896"/>
          </a:xfrm>
          <a:prstGeom prst="rect">
            <a:avLst/>
          </a:prstGeom>
          <a:noFill/>
        </p:spPr>
        <p:txBody>
          <a:bodyPr wrap="square" lIns="0" rIns="0" tIns="0" bIns="0" anchor="ctr">
            <a:spAutoFit/>
          </a:bodyPr>
          <a:lstStyle/>
          <a:p>
            <a:pPr algn="ctr"/>
            <a:r>
              <a:rPr sz="1100" b="1" i="0">
                <a:solidFill>
                  <a:srgbClr val="FFFFFF"/>
                </a:solidFill>
                <a:latin typeface="Calibri"/>
              </a:rPr>
              <a:t>5</a:t>
            </a:r>
          </a:p>
        </p:txBody>
      </p:sp>
      <p:sp>
        <p:nvSpPr>
          <p:cNvPr id="45" name="TextBox 44"/>
          <p:cNvSpPr txBox="1"/>
          <p:nvPr/>
        </p:nvSpPr>
        <p:spPr>
          <a:xfrm>
            <a:off x="7315200" y="4544568"/>
            <a:ext cx="1600200" cy="384048"/>
          </a:xfrm>
          <a:prstGeom prst="rect">
            <a:avLst/>
          </a:prstGeom>
          <a:noFill/>
        </p:spPr>
        <p:txBody>
          <a:bodyPr wrap="square" lIns="0" rIns="0" tIns="0" bIns="0" anchor="ctr">
            <a:spAutoFit/>
          </a:bodyPr>
          <a:lstStyle/>
          <a:p>
            <a:pPr algn="l"/>
            <a:r>
              <a:rPr sz="1300" b="1" i="0">
                <a:solidFill>
                  <a:srgbClr val="FFFFFF"/>
                </a:solidFill>
                <a:latin typeface="Calibri"/>
              </a:rPr>
              <a:t>Validate</a:t>
            </a:r>
          </a:p>
        </p:txBody>
      </p:sp>
      <p:sp>
        <p:nvSpPr>
          <p:cNvPr id="46" name="TextBox 45"/>
          <p:cNvSpPr txBox="1"/>
          <p:nvPr/>
        </p:nvSpPr>
        <p:spPr>
          <a:xfrm>
            <a:off x="8869680" y="4544568"/>
            <a:ext cx="2697480" cy="384048"/>
          </a:xfrm>
          <a:prstGeom prst="rect">
            <a:avLst/>
          </a:prstGeom>
          <a:noFill/>
        </p:spPr>
        <p:txBody>
          <a:bodyPr wrap="square" lIns="0" rIns="0" tIns="0" bIns="0" anchor="ctr">
            <a:spAutoFit/>
          </a:bodyPr>
          <a:lstStyle/>
          <a:p>
            <a:pPr algn="l"/>
            <a:r>
              <a:rPr sz="1100" b="0" i="0">
                <a:solidFill>
                  <a:srgbClr val="BFD6DC"/>
                </a:solidFill>
                <a:latin typeface="Calibri"/>
              </a:rPr>
              <a:t>stratified 10-fold cross-validation</a:t>
            </a:r>
          </a:p>
        </p:txBody>
      </p:sp>
      <p:sp>
        <p:nvSpPr>
          <p:cNvPr id="47" name="Oval 46"/>
          <p:cNvSpPr/>
          <p:nvPr/>
        </p:nvSpPr>
        <p:spPr>
          <a:xfrm>
            <a:off x="6858000" y="5065776"/>
            <a:ext cx="310896" cy="310896"/>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858000" y="5065776"/>
            <a:ext cx="310896" cy="310896"/>
          </a:xfrm>
          <a:prstGeom prst="rect">
            <a:avLst/>
          </a:prstGeom>
          <a:noFill/>
        </p:spPr>
        <p:txBody>
          <a:bodyPr wrap="square" lIns="0" rIns="0" tIns="0" bIns="0" anchor="ctr">
            <a:spAutoFit/>
          </a:bodyPr>
          <a:lstStyle/>
          <a:p>
            <a:pPr algn="ctr"/>
            <a:r>
              <a:rPr sz="1100" b="1" i="0">
                <a:solidFill>
                  <a:srgbClr val="FFFFFF"/>
                </a:solidFill>
                <a:latin typeface="Calibri"/>
              </a:rPr>
              <a:t>6</a:t>
            </a:r>
          </a:p>
        </p:txBody>
      </p:sp>
      <p:sp>
        <p:nvSpPr>
          <p:cNvPr id="49" name="TextBox 48"/>
          <p:cNvSpPr txBox="1"/>
          <p:nvPr/>
        </p:nvSpPr>
        <p:spPr>
          <a:xfrm>
            <a:off x="7315200" y="5029200"/>
            <a:ext cx="1600200" cy="384048"/>
          </a:xfrm>
          <a:prstGeom prst="rect">
            <a:avLst/>
          </a:prstGeom>
          <a:noFill/>
        </p:spPr>
        <p:txBody>
          <a:bodyPr wrap="square" lIns="0" rIns="0" tIns="0" bIns="0" anchor="ctr">
            <a:spAutoFit/>
          </a:bodyPr>
          <a:lstStyle/>
          <a:p>
            <a:pPr algn="l"/>
            <a:r>
              <a:rPr sz="1300" b="1" i="0">
                <a:solidFill>
                  <a:srgbClr val="FFFFFF"/>
                </a:solidFill>
                <a:latin typeface="Calibri"/>
              </a:rPr>
              <a:t>Ensemble</a:t>
            </a:r>
          </a:p>
        </p:txBody>
      </p:sp>
      <p:sp>
        <p:nvSpPr>
          <p:cNvPr id="50" name="TextBox 49"/>
          <p:cNvSpPr txBox="1"/>
          <p:nvPr/>
        </p:nvSpPr>
        <p:spPr>
          <a:xfrm>
            <a:off x="8869680" y="5029200"/>
            <a:ext cx="2697480" cy="384048"/>
          </a:xfrm>
          <a:prstGeom prst="rect">
            <a:avLst/>
          </a:prstGeom>
          <a:noFill/>
        </p:spPr>
        <p:txBody>
          <a:bodyPr wrap="square" lIns="0" rIns="0" tIns="0" bIns="0" anchor="ctr">
            <a:spAutoFit/>
          </a:bodyPr>
          <a:lstStyle/>
          <a:p>
            <a:pPr algn="l"/>
            <a:r>
              <a:rPr sz="1100" b="0" i="0">
                <a:solidFill>
                  <a:srgbClr val="BFD6DC"/>
                </a:solidFill>
                <a:latin typeface="Calibri"/>
              </a:rPr>
              <a:t>average the 10 fold models' probabilities</a:t>
            </a:r>
          </a:p>
        </p:txBody>
      </p:sp>
      <p:sp>
        <p:nvSpPr>
          <p:cNvPr id="51" name="TextBox 50"/>
          <p:cNvSpPr txBox="1"/>
          <p:nvPr/>
        </p:nvSpPr>
        <p:spPr>
          <a:xfrm>
            <a:off x="548640" y="5715000"/>
            <a:ext cx="2651760" cy="438912"/>
          </a:xfrm>
          <a:prstGeom prst="rect">
            <a:avLst/>
          </a:prstGeom>
          <a:noFill/>
        </p:spPr>
        <p:txBody>
          <a:bodyPr wrap="square" lIns="0" rIns="0" tIns="0" bIns="0" anchor="t">
            <a:spAutoFit/>
          </a:bodyPr>
          <a:lstStyle/>
          <a:p>
            <a:pPr algn="l"/>
            <a:r>
              <a:rPr sz="2400" b="1" i="0">
                <a:solidFill>
                  <a:srgbClr val="137C8E"/>
                </a:solidFill>
                <a:latin typeface="Cambria"/>
              </a:rPr>
              <a:t>97.70 %</a:t>
            </a:r>
          </a:p>
        </p:txBody>
      </p:sp>
      <p:sp>
        <p:nvSpPr>
          <p:cNvPr id="52" name="TextBox 51"/>
          <p:cNvSpPr txBox="1"/>
          <p:nvPr/>
        </p:nvSpPr>
        <p:spPr>
          <a:xfrm>
            <a:off x="548640" y="6126480"/>
            <a:ext cx="2651760" cy="256032"/>
          </a:xfrm>
          <a:prstGeom prst="rect">
            <a:avLst/>
          </a:prstGeom>
          <a:noFill/>
        </p:spPr>
        <p:txBody>
          <a:bodyPr wrap="square" lIns="0" rIns="0" tIns="0" bIns="0" anchor="t">
            <a:spAutoFit/>
          </a:bodyPr>
          <a:lstStyle/>
          <a:p>
            <a:pPr algn="l"/>
            <a:r>
              <a:rPr sz="1100" b="0" i="0">
                <a:solidFill>
                  <a:srgbClr val="41525B"/>
                </a:solidFill>
                <a:latin typeface="Calibri"/>
              </a:rPr>
              <a:t>mean single-fold accuracy</a:t>
            </a:r>
          </a:p>
        </p:txBody>
      </p:sp>
      <p:sp>
        <p:nvSpPr>
          <p:cNvPr id="53" name="TextBox 52"/>
          <p:cNvSpPr txBox="1"/>
          <p:nvPr/>
        </p:nvSpPr>
        <p:spPr>
          <a:xfrm>
            <a:off x="3346704" y="5715000"/>
            <a:ext cx="2651760" cy="438912"/>
          </a:xfrm>
          <a:prstGeom prst="rect">
            <a:avLst/>
          </a:prstGeom>
          <a:noFill/>
        </p:spPr>
        <p:txBody>
          <a:bodyPr wrap="square" lIns="0" rIns="0" tIns="0" bIns="0" anchor="t">
            <a:spAutoFit/>
          </a:bodyPr>
          <a:lstStyle/>
          <a:p>
            <a:pPr algn="l"/>
            <a:r>
              <a:rPr sz="2400" b="1" i="0">
                <a:solidFill>
                  <a:srgbClr val="137C8E"/>
                </a:solidFill>
                <a:latin typeface="Cambria"/>
              </a:rPr>
              <a:t>98.29 %</a:t>
            </a:r>
          </a:p>
        </p:txBody>
      </p:sp>
      <p:sp>
        <p:nvSpPr>
          <p:cNvPr id="54" name="TextBox 53"/>
          <p:cNvSpPr txBox="1"/>
          <p:nvPr/>
        </p:nvSpPr>
        <p:spPr>
          <a:xfrm>
            <a:off x="3346704" y="6126480"/>
            <a:ext cx="2651760" cy="256032"/>
          </a:xfrm>
          <a:prstGeom prst="rect">
            <a:avLst/>
          </a:prstGeom>
          <a:noFill/>
        </p:spPr>
        <p:txBody>
          <a:bodyPr wrap="square" lIns="0" rIns="0" tIns="0" bIns="0" anchor="t">
            <a:spAutoFit/>
          </a:bodyPr>
          <a:lstStyle/>
          <a:p>
            <a:pPr algn="l"/>
            <a:r>
              <a:rPr sz="1100" b="0" i="0">
                <a:solidFill>
                  <a:srgbClr val="41525B"/>
                </a:solidFill>
                <a:latin typeface="Calibri"/>
              </a:rPr>
              <a:t>ensemble accuracy</a:t>
            </a:r>
          </a:p>
        </p:txBody>
      </p:sp>
      <p:sp>
        <p:nvSpPr>
          <p:cNvPr id="55" name="TextBox 54"/>
          <p:cNvSpPr txBox="1"/>
          <p:nvPr/>
        </p:nvSpPr>
        <p:spPr>
          <a:xfrm>
            <a:off x="6144768" y="5715000"/>
            <a:ext cx="2651760" cy="438912"/>
          </a:xfrm>
          <a:prstGeom prst="rect">
            <a:avLst/>
          </a:prstGeom>
          <a:noFill/>
        </p:spPr>
        <p:txBody>
          <a:bodyPr wrap="square" lIns="0" rIns="0" tIns="0" bIns="0" anchor="t">
            <a:spAutoFit/>
          </a:bodyPr>
          <a:lstStyle/>
          <a:p>
            <a:pPr algn="l"/>
            <a:r>
              <a:rPr sz="2400" b="1" i="0">
                <a:solidFill>
                  <a:srgbClr val="137C8E"/>
                </a:solidFill>
                <a:latin typeface="Cambria"/>
              </a:rPr>
              <a:t>98.82 %</a:t>
            </a:r>
          </a:p>
        </p:txBody>
      </p:sp>
      <p:sp>
        <p:nvSpPr>
          <p:cNvPr id="56" name="TextBox 55"/>
          <p:cNvSpPr txBox="1"/>
          <p:nvPr/>
        </p:nvSpPr>
        <p:spPr>
          <a:xfrm>
            <a:off x="6144768" y="6126480"/>
            <a:ext cx="2651760" cy="256032"/>
          </a:xfrm>
          <a:prstGeom prst="rect">
            <a:avLst/>
          </a:prstGeom>
          <a:noFill/>
        </p:spPr>
        <p:txBody>
          <a:bodyPr wrap="square" lIns="0" rIns="0" tIns="0" bIns="0" anchor="t">
            <a:spAutoFit/>
          </a:bodyPr>
          <a:lstStyle/>
          <a:p>
            <a:pPr algn="l"/>
            <a:r>
              <a:rPr sz="1100" b="0" i="0">
                <a:solidFill>
                  <a:srgbClr val="41525B"/>
                </a:solidFill>
                <a:latin typeface="Calibri"/>
              </a:rPr>
              <a:t>ensemble recall</a:t>
            </a:r>
          </a:p>
        </p:txBody>
      </p:sp>
      <p:sp>
        <p:nvSpPr>
          <p:cNvPr id="57" name="TextBox 56"/>
          <p:cNvSpPr txBox="1"/>
          <p:nvPr/>
        </p:nvSpPr>
        <p:spPr>
          <a:xfrm>
            <a:off x="8942832" y="5715000"/>
            <a:ext cx="2651760" cy="438912"/>
          </a:xfrm>
          <a:prstGeom prst="rect">
            <a:avLst/>
          </a:prstGeom>
          <a:noFill/>
        </p:spPr>
        <p:txBody>
          <a:bodyPr wrap="square" lIns="0" rIns="0" tIns="0" bIns="0" anchor="t">
            <a:spAutoFit/>
          </a:bodyPr>
          <a:lstStyle/>
          <a:p>
            <a:pPr algn="l"/>
            <a:r>
              <a:rPr sz="2400" b="1" i="0">
                <a:solidFill>
                  <a:srgbClr val="137C8E"/>
                </a:solidFill>
                <a:latin typeface="Cambria"/>
              </a:rPr>
              <a:t>99.76 %</a:t>
            </a:r>
          </a:p>
        </p:txBody>
      </p:sp>
      <p:sp>
        <p:nvSpPr>
          <p:cNvPr id="58" name="TextBox 57"/>
          <p:cNvSpPr txBox="1"/>
          <p:nvPr/>
        </p:nvSpPr>
        <p:spPr>
          <a:xfrm>
            <a:off x="8942832" y="6126480"/>
            <a:ext cx="2651760" cy="256032"/>
          </a:xfrm>
          <a:prstGeom prst="rect">
            <a:avLst/>
          </a:prstGeom>
          <a:noFill/>
        </p:spPr>
        <p:txBody>
          <a:bodyPr wrap="square" lIns="0" rIns="0" tIns="0" bIns="0" anchor="t">
            <a:spAutoFit/>
          </a:bodyPr>
          <a:lstStyle/>
          <a:p>
            <a:pPr algn="l"/>
            <a:r>
              <a:rPr sz="1100" b="0" i="0">
                <a:solidFill>
                  <a:srgbClr val="41525B"/>
                </a:solidFill>
                <a:latin typeface="Calibri"/>
              </a:rPr>
              <a:t>ensemble ROC-AUC</a:t>
            </a:r>
          </a:p>
        </p:txBody>
      </p:sp>
      <p:sp>
        <p:nvSpPr>
          <p:cNvPr id="59" name="TextBox 58"/>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60" name="TextBox 59"/>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MILESTONE 2 · BASELINE REPRODUCTION</a:t>
            </a:r>
          </a:p>
        </p:txBody>
      </p:sp>
      <p:sp>
        <p:nvSpPr>
          <p:cNvPr id="3"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Rebuilding the paper's recipe</a:t>
            </a:r>
          </a:p>
        </p:txBody>
      </p:sp>
      <p:sp>
        <p:nvSpPr>
          <p:cNvPr id="4"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Same data, backbone, optimiser, schedule and validation. Deviations are listed openly.</a:t>
            </a:r>
          </a:p>
        </p:txBody>
      </p:sp>
      <p:graphicFrame>
        <p:nvGraphicFramePr>
          <p:cNvPr id="5" name="Table 4"/>
          <p:cNvGraphicFramePr>
            <a:graphicFrameLocks noGrp="1"/>
          </p:cNvGraphicFramePr>
          <p:nvPr/>
        </p:nvGraphicFramePr>
        <p:xfrm>
          <a:off x="548640" y="2057400"/>
          <a:ext cx="5897880" cy="3456432"/>
        </p:xfrm>
        <a:graphic>
          <a:graphicData uri="http://schemas.openxmlformats.org/drawingml/2006/table">
            <a:tbl>
              <a:tblPr firstRow="1" bandRow="0">
                <a:tableStyleId>{5C22544A-7EE6-4342-B048-85BDC9FD1C3A}</a:tableStyleId>
              </a:tblPr>
              <a:tblGrid>
                <a:gridCol w="1417320"/>
                <a:gridCol w="2103120"/>
                <a:gridCol w="2377440"/>
              </a:tblGrid>
              <a:tr h="384048">
                <a:tc>
                  <a:txBody>
                    <a:bodyPr wrap="square"/>
                    <a:lstStyle/>
                    <a:p>
                      <a:r>
                        <a:rPr sz="1100" b="1">
                          <a:solidFill>
                            <a:srgbClr val="FFFFFF"/>
                          </a:solidFill>
                          <a:latin typeface="Calibri"/>
                        </a:rPr>
                        <a:t>Setting</a:t>
                      </a:r>
                    </a:p>
                  </a:txBody>
                  <a:tcPr marL="73152" marR="73152" marT="27432" marB="27432" anchor="ctr">
                    <a:solidFill>
                      <a:srgbClr val="17262E"/>
                    </a:solidFill>
                  </a:tcPr>
                </a:tc>
                <a:tc>
                  <a:txBody>
                    <a:bodyPr wrap="square"/>
                    <a:lstStyle/>
                    <a:p>
                      <a:r>
                        <a:rPr sz="1100" b="1">
                          <a:solidFill>
                            <a:srgbClr val="FFFFFF"/>
                          </a:solidFill>
                          <a:latin typeface="Calibri"/>
                        </a:rPr>
                        <a:t>Paper [8]</a:t>
                      </a:r>
                    </a:p>
                  </a:txBody>
                  <a:tcPr marL="73152" marR="73152" marT="27432" marB="27432" anchor="ctr">
                    <a:solidFill>
                      <a:srgbClr val="17262E"/>
                    </a:solidFill>
                  </a:tcPr>
                </a:tc>
                <a:tc>
                  <a:txBody>
                    <a:bodyPr wrap="square"/>
                    <a:lstStyle/>
                    <a:p>
                      <a:r>
                        <a:rPr sz="1100" b="1">
                          <a:solidFill>
                            <a:srgbClr val="FFFFFF"/>
                          </a:solidFill>
                          <a:latin typeface="Calibri"/>
                        </a:rPr>
                        <a:t>Our notebook</a:t>
                      </a:r>
                    </a:p>
                  </a:txBody>
                  <a:tcPr marL="73152" marR="73152" marT="27432" marB="27432" anchor="ctr">
                    <a:solidFill>
                      <a:srgbClr val="17262E"/>
                    </a:solidFill>
                  </a:tcPr>
                </a:tc>
              </a:tr>
              <a:tr h="384048">
                <a:tc>
                  <a:txBody>
                    <a:bodyPr wrap="square"/>
                    <a:lstStyle/>
                    <a:p>
                      <a:r>
                        <a:rPr sz="1100" b="1">
                          <a:solidFill>
                            <a:srgbClr val="17262E"/>
                          </a:solidFill>
                          <a:latin typeface="Calibri"/>
                        </a:rPr>
                        <a:t>Data</a:t>
                      </a:r>
                    </a:p>
                  </a:txBody>
                  <a:tcPr marL="73152" marR="73152" marT="27432" marB="27432" anchor="ctr">
                    <a:solidFill>
                      <a:srgbClr val="FFFFFF"/>
                    </a:solidFill>
                  </a:tcPr>
                </a:tc>
                <a:tc>
                  <a:txBody>
                    <a:bodyPr wrap="square"/>
                    <a:lstStyle/>
                    <a:p>
                      <a:r>
                        <a:rPr sz="1100" b="0">
                          <a:solidFill>
                            <a:srgbClr val="41525B"/>
                          </a:solidFill>
                          <a:latin typeface="Calibri"/>
                        </a:rPr>
                        <a:t>NIH, 27,558 cells</a:t>
                      </a:r>
                    </a:p>
                  </a:txBody>
                  <a:tcPr marL="73152" marR="73152" marT="27432" marB="27432" anchor="ctr">
                    <a:solidFill>
                      <a:srgbClr val="FFFFFF"/>
                    </a:solidFill>
                  </a:tcPr>
                </a:tc>
                <a:tc>
                  <a:txBody>
                    <a:bodyPr wrap="square"/>
                    <a:lstStyle/>
                    <a:p>
                      <a:r>
                        <a:rPr sz="1100" b="1">
                          <a:solidFill>
                            <a:srgbClr val="2EA79B"/>
                          </a:solidFill>
                          <a:latin typeface="Calibri"/>
                        </a:rPr>
                        <a:t>Same</a:t>
                      </a:r>
                      <a:r>
                        <a:rPr sz="1100" b="0">
                          <a:solidFill>
                            <a:srgbClr val="41525B"/>
                          </a:solidFill>
                          <a:latin typeface="Calibri"/>
                        </a:rPr>
                        <a:t> (Kaggle mirror)</a:t>
                      </a:r>
                    </a:p>
                  </a:txBody>
                  <a:tcPr marL="73152" marR="73152" marT="27432" marB="27432" anchor="ctr">
                    <a:solidFill>
                      <a:srgbClr val="FFFFFF"/>
                    </a:solidFill>
                  </a:tcPr>
                </a:tc>
              </a:tr>
              <a:tr h="384048">
                <a:tc>
                  <a:txBody>
                    <a:bodyPr wrap="square"/>
                    <a:lstStyle/>
                    <a:p>
                      <a:r>
                        <a:rPr sz="1100" b="1">
                          <a:solidFill>
                            <a:srgbClr val="17262E"/>
                          </a:solidFill>
                          <a:latin typeface="Calibri"/>
                        </a:rPr>
                        <a:t>Backbone</a:t>
                      </a:r>
                    </a:p>
                  </a:txBody>
                  <a:tcPr marL="73152" marR="73152" marT="27432" marB="27432" anchor="ctr">
                    <a:solidFill>
                      <a:srgbClr val="F5F9FA"/>
                    </a:solidFill>
                  </a:tcPr>
                </a:tc>
                <a:tc>
                  <a:txBody>
                    <a:bodyPr wrap="square"/>
                    <a:lstStyle/>
                    <a:p>
                      <a:r>
                        <a:rPr sz="1100" b="0">
                          <a:solidFill>
                            <a:srgbClr val="41525B"/>
                          </a:solidFill>
                          <a:latin typeface="Calibri"/>
                        </a:rPr>
                        <a:t>EfficientNet-B0, ImageNet</a:t>
                      </a:r>
                    </a:p>
                  </a:txBody>
                  <a:tcPr marL="73152" marR="73152" marT="27432" marB="27432" anchor="ctr">
                    <a:solidFill>
                      <a:srgbClr val="F5F9FA"/>
                    </a:solidFill>
                  </a:tcPr>
                </a:tc>
                <a:tc>
                  <a:txBody>
                    <a:bodyPr wrap="square"/>
                    <a:lstStyle/>
                    <a:p>
                      <a:r>
                        <a:rPr sz="1100" b="1">
                          <a:solidFill>
                            <a:srgbClr val="2EA79B"/>
                          </a:solidFill>
                          <a:latin typeface="Calibri"/>
                        </a:rPr>
                        <a:t>Same</a:t>
                      </a:r>
                    </a:p>
                  </a:txBody>
                  <a:tcPr marL="73152" marR="73152" marT="27432" marB="27432" anchor="ctr">
                    <a:solidFill>
                      <a:srgbClr val="F5F9FA"/>
                    </a:solidFill>
                  </a:tcPr>
                </a:tc>
              </a:tr>
              <a:tr h="384048">
                <a:tc>
                  <a:txBody>
                    <a:bodyPr wrap="square"/>
                    <a:lstStyle/>
                    <a:p>
                      <a:r>
                        <a:rPr sz="1100" b="1">
                          <a:solidFill>
                            <a:srgbClr val="17262E"/>
                          </a:solidFill>
                          <a:latin typeface="Calibri"/>
                        </a:rPr>
                        <a:t>Optimiser</a:t>
                      </a:r>
                    </a:p>
                  </a:txBody>
                  <a:tcPr marL="73152" marR="73152" marT="27432" marB="27432" anchor="ctr">
                    <a:solidFill>
                      <a:srgbClr val="FFFFFF"/>
                    </a:solidFill>
                  </a:tcPr>
                </a:tc>
                <a:tc>
                  <a:txBody>
                    <a:bodyPr wrap="square"/>
                    <a:lstStyle/>
                    <a:p>
                      <a:r>
                        <a:rPr sz="1100" b="0">
                          <a:solidFill>
                            <a:srgbClr val="41525B"/>
                          </a:solidFill>
                          <a:latin typeface="Calibri"/>
                        </a:rPr>
                        <a:t>Adam, lr 1e-4</a:t>
                      </a:r>
                    </a:p>
                  </a:txBody>
                  <a:tcPr marL="73152" marR="73152" marT="27432" marB="27432" anchor="ctr">
                    <a:solidFill>
                      <a:srgbClr val="FFFFFF"/>
                    </a:solidFill>
                  </a:tcPr>
                </a:tc>
                <a:tc>
                  <a:txBody>
                    <a:bodyPr wrap="square"/>
                    <a:lstStyle/>
                    <a:p>
                      <a:r>
                        <a:rPr sz="1100" b="1">
                          <a:solidFill>
                            <a:srgbClr val="2EA79B"/>
                          </a:solidFill>
                          <a:latin typeface="Calibri"/>
                        </a:rPr>
                        <a:t>Same</a:t>
                      </a:r>
                    </a:p>
                  </a:txBody>
                  <a:tcPr marL="73152" marR="73152" marT="27432" marB="27432" anchor="ctr">
                    <a:solidFill>
                      <a:srgbClr val="FFFFFF"/>
                    </a:solidFill>
                  </a:tcPr>
                </a:tc>
              </a:tr>
              <a:tr h="384048">
                <a:tc>
                  <a:txBody>
                    <a:bodyPr wrap="square"/>
                    <a:lstStyle/>
                    <a:p>
                      <a:r>
                        <a:rPr sz="1100" b="1">
                          <a:solidFill>
                            <a:srgbClr val="17262E"/>
                          </a:solidFill>
                          <a:latin typeface="Calibri"/>
                        </a:rPr>
                        <a:t>LR schedule</a:t>
                      </a:r>
                    </a:p>
                  </a:txBody>
                  <a:tcPr marL="73152" marR="73152" marT="27432" marB="27432" anchor="ctr">
                    <a:solidFill>
                      <a:srgbClr val="F5F9FA"/>
                    </a:solidFill>
                  </a:tcPr>
                </a:tc>
                <a:tc>
                  <a:txBody>
                    <a:bodyPr wrap="square"/>
                    <a:lstStyle/>
                    <a:p>
                      <a:r>
                        <a:rPr sz="1100" b="0">
                          <a:solidFill>
                            <a:srgbClr val="41525B"/>
                          </a:solidFill>
                          <a:latin typeface="Calibri"/>
                        </a:rPr>
                        <a:t>Plateau, p = 6 → 1e-6</a:t>
                      </a:r>
                    </a:p>
                  </a:txBody>
                  <a:tcPr marL="73152" marR="73152" marT="27432" marB="27432" anchor="ctr">
                    <a:solidFill>
                      <a:srgbClr val="F5F9FA"/>
                    </a:solidFill>
                  </a:tcPr>
                </a:tc>
                <a:tc>
                  <a:txBody>
                    <a:bodyPr wrap="square"/>
                    <a:lstStyle/>
                    <a:p>
                      <a:r>
                        <a:rPr sz="1100" b="1">
                          <a:solidFill>
                            <a:srgbClr val="2EA79B"/>
                          </a:solidFill>
                          <a:latin typeface="Calibri"/>
                        </a:rPr>
                        <a:t>Same</a:t>
                      </a:r>
                    </a:p>
                  </a:txBody>
                  <a:tcPr marL="73152" marR="73152" marT="27432" marB="27432" anchor="ctr">
                    <a:solidFill>
                      <a:srgbClr val="F5F9FA"/>
                    </a:solidFill>
                  </a:tcPr>
                </a:tc>
              </a:tr>
              <a:tr h="384048">
                <a:tc>
                  <a:txBody>
                    <a:bodyPr wrap="square"/>
                    <a:lstStyle/>
                    <a:p>
                      <a:r>
                        <a:rPr sz="1100" b="1">
                          <a:solidFill>
                            <a:srgbClr val="17262E"/>
                          </a:solidFill>
                          <a:latin typeface="Calibri"/>
                        </a:rPr>
                        <a:t>Validation</a:t>
                      </a:r>
                    </a:p>
                  </a:txBody>
                  <a:tcPr marL="73152" marR="73152" marT="27432" marB="27432" anchor="ctr">
                    <a:solidFill>
                      <a:srgbClr val="FFFFFF"/>
                    </a:solidFill>
                  </a:tcPr>
                </a:tc>
                <a:tc>
                  <a:txBody>
                    <a:bodyPr wrap="square"/>
                    <a:lstStyle/>
                    <a:p>
                      <a:r>
                        <a:rPr sz="1100" b="0">
                          <a:solidFill>
                            <a:srgbClr val="41525B"/>
                          </a:solidFill>
                          <a:latin typeface="Calibri"/>
                        </a:rPr>
                        <a:t>Stratified 10-fold</a:t>
                      </a:r>
                    </a:p>
                  </a:txBody>
                  <a:tcPr marL="73152" marR="73152" marT="27432" marB="27432" anchor="ctr">
                    <a:solidFill>
                      <a:srgbClr val="FFFFFF"/>
                    </a:solidFill>
                  </a:tcPr>
                </a:tc>
                <a:tc>
                  <a:txBody>
                    <a:bodyPr wrap="square"/>
                    <a:lstStyle/>
                    <a:p>
                      <a:r>
                        <a:rPr sz="1100" b="1">
                          <a:solidFill>
                            <a:srgbClr val="2EA79B"/>
                          </a:solidFill>
                          <a:latin typeface="Calibri"/>
                        </a:rPr>
                        <a:t>Same</a:t>
                      </a:r>
                      <a:r>
                        <a:rPr sz="1100" b="0">
                          <a:solidFill>
                            <a:srgbClr val="41525B"/>
                          </a:solidFill>
                          <a:latin typeface="Calibri"/>
                        </a:rPr>
                        <a:t> + 10 % untouched test</a:t>
                      </a:r>
                    </a:p>
                  </a:txBody>
                  <a:tcPr marL="73152" marR="73152" marT="27432" marB="27432" anchor="ctr">
                    <a:solidFill>
                      <a:srgbClr val="FFFFFF"/>
                    </a:solidFill>
                  </a:tcPr>
                </a:tc>
              </a:tr>
              <a:tr h="384048">
                <a:tc>
                  <a:txBody>
                    <a:bodyPr wrap="square"/>
                    <a:lstStyle/>
                    <a:p>
                      <a:r>
                        <a:rPr sz="1100" b="1">
                          <a:solidFill>
                            <a:srgbClr val="17262E"/>
                          </a:solidFill>
                          <a:latin typeface="Calibri"/>
                        </a:rPr>
                        <a:t>Augmentation</a:t>
                      </a:r>
                    </a:p>
                  </a:txBody>
                  <a:tcPr marL="73152" marR="73152" marT="27432" marB="27432" anchor="ctr">
                    <a:solidFill>
                      <a:srgbClr val="F5F9FA"/>
                    </a:solidFill>
                  </a:tcPr>
                </a:tc>
                <a:tc>
                  <a:txBody>
                    <a:bodyPr wrap="square"/>
                    <a:lstStyle/>
                    <a:p>
                      <a:r>
                        <a:rPr sz="1100" b="0">
                          <a:solidFill>
                            <a:srgbClr val="41525B"/>
                          </a:solidFill>
                          <a:latin typeface="Calibri"/>
                        </a:rPr>
                        <a:t>Albumentations (unlisted)</a:t>
                      </a:r>
                    </a:p>
                  </a:txBody>
                  <a:tcPr marL="73152" marR="73152" marT="27432" marB="27432" anchor="ctr">
                    <a:solidFill>
                      <a:srgbClr val="F5F9FA"/>
                    </a:solidFill>
                  </a:tcPr>
                </a:tc>
                <a:tc>
                  <a:txBody>
                    <a:bodyPr wrap="square"/>
                    <a:lstStyle/>
                    <a:p>
                      <a:r>
                        <a:rPr sz="1100" b="1">
                          <a:solidFill>
                            <a:srgbClr val="D99A00"/>
                          </a:solidFill>
                          <a:latin typeface="Calibri"/>
                        </a:rPr>
                        <a:t>Flips + 90° rotations</a:t>
                      </a:r>
                    </a:p>
                  </a:txBody>
                  <a:tcPr marL="73152" marR="73152" marT="27432" marB="27432" anchor="ctr">
                    <a:solidFill>
                      <a:srgbClr val="F5F9FA"/>
                    </a:solidFill>
                  </a:tcPr>
                </a:tc>
              </a:tr>
              <a:tr h="384048">
                <a:tc>
                  <a:txBody>
                    <a:bodyPr wrap="square"/>
                    <a:lstStyle/>
                    <a:p>
                      <a:r>
                        <a:rPr sz="1100" b="1">
                          <a:solidFill>
                            <a:srgbClr val="17262E"/>
                          </a:solidFill>
                          <a:latin typeface="Calibri"/>
                        </a:rPr>
                        <a:t>Epochs</a:t>
                      </a:r>
                    </a:p>
                  </a:txBody>
                  <a:tcPr marL="73152" marR="73152" marT="27432" marB="27432" anchor="ctr">
                    <a:solidFill>
                      <a:srgbClr val="FFFFFF"/>
                    </a:solidFill>
                  </a:tcPr>
                </a:tc>
                <a:tc>
                  <a:txBody>
                    <a:bodyPr wrap="square"/>
                    <a:lstStyle/>
                    <a:p>
                      <a:r>
                        <a:rPr sz="1100" b="0">
                          <a:solidFill>
                            <a:srgbClr val="41525B"/>
                          </a:solidFill>
                          <a:latin typeface="Calibri"/>
                        </a:rPr>
                        <a:t>Not reported</a:t>
                      </a:r>
                    </a:p>
                  </a:txBody>
                  <a:tcPr marL="73152" marR="73152" marT="27432" marB="27432" anchor="ctr">
                    <a:solidFill>
                      <a:srgbClr val="FFFFFF"/>
                    </a:solidFill>
                  </a:tcPr>
                </a:tc>
                <a:tc>
                  <a:txBody>
                    <a:bodyPr wrap="square"/>
                    <a:lstStyle/>
                    <a:p>
                      <a:r>
                        <a:rPr sz="1100" b="1">
                          <a:solidFill>
                            <a:srgbClr val="D99A00"/>
                          </a:solidFill>
                          <a:latin typeface="Calibri"/>
                        </a:rPr>
                        <a:t>≤ 15, early stop (p = 5)</a:t>
                      </a:r>
                    </a:p>
                  </a:txBody>
                  <a:tcPr marL="73152" marR="73152" marT="27432" marB="27432" anchor="ctr">
                    <a:solidFill>
                      <a:srgbClr val="FFFFFF"/>
                    </a:solidFill>
                  </a:tcPr>
                </a:tc>
              </a:tr>
              <a:tr h="384048">
                <a:tc>
                  <a:txBody>
                    <a:bodyPr wrap="square"/>
                    <a:lstStyle/>
                    <a:p>
                      <a:r>
                        <a:rPr sz="1100" b="1">
                          <a:solidFill>
                            <a:srgbClr val="17262E"/>
                          </a:solidFill>
                          <a:latin typeface="Calibri"/>
                        </a:rPr>
                        <a:t>Folds trained</a:t>
                      </a:r>
                    </a:p>
                  </a:txBody>
                  <a:tcPr marL="73152" marR="73152" marT="27432" marB="27432" anchor="ctr">
                    <a:solidFill>
                      <a:srgbClr val="F5F9FA"/>
                    </a:solidFill>
                  </a:tcPr>
                </a:tc>
                <a:tc>
                  <a:txBody>
                    <a:bodyPr wrap="square"/>
                    <a:lstStyle/>
                    <a:p>
                      <a:r>
                        <a:rPr sz="1100" b="0">
                          <a:solidFill>
                            <a:srgbClr val="41525B"/>
                          </a:solidFill>
                          <a:latin typeface="Calibri"/>
                        </a:rPr>
                        <a:t>10</a:t>
                      </a:r>
                    </a:p>
                  </a:txBody>
                  <a:tcPr marL="73152" marR="73152" marT="27432" marB="27432" anchor="ctr">
                    <a:solidFill>
                      <a:srgbClr val="F5F9FA"/>
                    </a:solidFill>
                  </a:tcPr>
                </a:tc>
                <a:tc>
                  <a:txBody>
                    <a:bodyPr wrap="square"/>
                    <a:lstStyle/>
                    <a:p>
                      <a:r>
                        <a:rPr sz="1100" b="1">
                          <a:solidFill>
                            <a:srgbClr val="D99A00"/>
                          </a:solidFill>
                          <a:latin typeface="Calibri"/>
                        </a:rPr>
                        <a:t>3 of 10 (free GPU)</a:t>
                      </a:r>
                    </a:p>
                  </a:txBody>
                  <a:tcPr marL="73152" marR="73152" marT="27432" marB="27432" anchor="ctr">
                    <a:solidFill>
                      <a:srgbClr val="F5F9FA"/>
                    </a:solidFill>
                  </a:tcPr>
                </a:tc>
              </a:tr>
            </a:tbl>
          </a:graphicData>
        </a:graphic>
      </p:graphicFrame>
      <p:sp>
        <p:nvSpPr>
          <p:cNvPr id="6" name="TextBox 5"/>
          <p:cNvSpPr txBox="1"/>
          <p:nvPr/>
        </p:nvSpPr>
        <p:spPr>
          <a:xfrm>
            <a:off x="548640" y="5623560"/>
            <a:ext cx="5897880" cy="502920"/>
          </a:xfrm>
          <a:prstGeom prst="rect">
            <a:avLst/>
          </a:prstGeom>
          <a:noFill/>
        </p:spPr>
        <p:txBody>
          <a:bodyPr wrap="square" lIns="0" rIns="0" tIns="0" bIns="0" anchor="t">
            <a:spAutoFit/>
          </a:bodyPr>
          <a:lstStyle/>
          <a:p>
            <a:pPr algn="l"/>
            <a:r>
              <a:rPr sz="1050" b="1" i="0">
                <a:solidFill>
                  <a:srgbClr val="2EA79B"/>
                </a:solidFill>
                <a:latin typeface="Calibri"/>
              </a:rPr>
              <a:t>Same</a:t>
            </a:r>
            <a:r>
              <a:rPr sz="1050" b="0" i="0">
                <a:solidFill>
                  <a:srgbClr val="41525B"/>
                </a:solidFill>
                <a:latin typeface="Calibri"/>
              </a:rPr>
              <a:t>  = matches the paper     </a:t>
            </a:r>
            <a:r>
              <a:rPr sz="1050" b="1" i="0">
                <a:solidFill>
                  <a:srgbClr val="D99A00"/>
                </a:solidFill>
                <a:latin typeface="Calibri"/>
              </a:rPr>
              <a:t>Amber</a:t>
            </a:r>
            <a:r>
              <a:rPr sz="1050" b="0" i="0">
                <a:solidFill>
                  <a:srgbClr val="41525B"/>
                </a:solidFill>
                <a:latin typeface="Calibri"/>
              </a:rPr>
              <a:t>  = documented deviation (missing detail or compute budget)</a:t>
            </a:r>
          </a:p>
        </p:txBody>
      </p:sp>
      <p:sp>
        <p:nvSpPr>
          <p:cNvPr id="7" name="Rounded Rectangle 6"/>
          <p:cNvSpPr/>
          <p:nvPr/>
        </p:nvSpPr>
        <p:spPr>
          <a:xfrm>
            <a:off x="6720840" y="2057400"/>
            <a:ext cx="4919472" cy="4069080"/>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949440" y="2194560"/>
            <a:ext cx="4480560" cy="274320"/>
          </a:xfrm>
          <a:prstGeom prst="rect">
            <a:avLst/>
          </a:prstGeom>
          <a:noFill/>
        </p:spPr>
        <p:txBody>
          <a:bodyPr wrap="square" lIns="0" rIns="0" tIns="0" bIns="0" anchor="t">
            <a:spAutoFit/>
          </a:bodyPr>
          <a:lstStyle/>
          <a:p>
            <a:pPr algn="l"/>
            <a:r>
              <a:rPr sz="1100" b="1" i="0">
                <a:solidFill>
                  <a:srgbClr val="137C8E"/>
                </a:solidFill>
                <a:latin typeface="Calibri"/>
              </a:rPr>
              <a:t>RESULTS · NIH TEST SET</a:t>
            </a:r>
          </a:p>
        </p:txBody>
      </p:sp>
      <p:graphicFrame>
        <p:nvGraphicFramePr>
          <p:cNvPr id="9" name="Table 8"/>
          <p:cNvGraphicFramePr>
            <a:graphicFrameLocks noGrp="1"/>
          </p:cNvGraphicFramePr>
          <p:nvPr/>
        </p:nvGraphicFramePr>
        <p:xfrm>
          <a:off x="6949440" y="2560320"/>
          <a:ext cx="4462272" cy="2779776"/>
        </p:xfrm>
        <a:graphic>
          <a:graphicData uri="http://schemas.openxmlformats.org/drawingml/2006/table">
            <a:tbl>
              <a:tblPr firstRow="1" bandRow="0">
                <a:tableStyleId>{5C22544A-7EE6-4342-B048-85BDC9FD1C3A}</a:tableStyleId>
              </a:tblPr>
              <a:tblGrid>
                <a:gridCol w="1920240"/>
                <a:gridCol w="1271016"/>
                <a:gridCol w="1271016"/>
              </a:tblGrid>
              <a:tr h="347472">
                <a:tc>
                  <a:txBody>
                    <a:bodyPr wrap="square"/>
                    <a:lstStyle/>
                    <a:p>
                      <a:r>
                        <a:rPr sz="1150" b="1">
                          <a:solidFill>
                            <a:srgbClr val="FFFFFF"/>
                          </a:solidFill>
                          <a:latin typeface="Calibri"/>
                        </a:rPr>
                        <a:t>Metric</a:t>
                      </a:r>
                    </a:p>
                  </a:txBody>
                  <a:tcPr marL="73152" marR="73152" marT="27432" marB="27432" anchor="ctr">
                    <a:solidFill>
                      <a:srgbClr val="17262E"/>
                    </a:solidFill>
                  </a:tcPr>
                </a:tc>
                <a:tc>
                  <a:txBody>
                    <a:bodyPr wrap="square"/>
                    <a:lstStyle/>
                    <a:p>
                      <a:r>
                        <a:rPr sz="1150" b="1">
                          <a:solidFill>
                            <a:srgbClr val="FFFFFF"/>
                          </a:solidFill>
                          <a:latin typeface="Calibri"/>
                        </a:rPr>
                        <a:t>Paper</a:t>
                      </a:r>
                    </a:p>
                  </a:txBody>
                  <a:tcPr marL="73152" marR="73152" marT="27432" marB="27432" anchor="ctr">
                    <a:solidFill>
                      <a:srgbClr val="17262E"/>
                    </a:solidFill>
                  </a:tcPr>
                </a:tc>
                <a:tc>
                  <a:txBody>
                    <a:bodyPr wrap="square"/>
                    <a:lstStyle/>
                    <a:p>
                      <a:r>
                        <a:rPr sz="1150" b="1">
                          <a:solidFill>
                            <a:srgbClr val="FFFFFF"/>
                          </a:solidFill>
                          <a:latin typeface="Calibri"/>
                        </a:rPr>
                        <a:t>Ours</a:t>
                      </a:r>
                    </a:p>
                  </a:txBody>
                  <a:tcPr marL="73152" marR="73152" marT="27432" marB="27432" anchor="ctr">
                    <a:solidFill>
                      <a:srgbClr val="17262E"/>
                    </a:solidFill>
                  </a:tcPr>
                </a:tc>
              </a:tr>
              <a:tr h="347472">
                <a:tc>
                  <a:txBody>
                    <a:bodyPr wrap="square"/>
                    <a:lstStyle/>
                    <a:p>
                      <a:r>
                        <a:rPr sz="1150" b="1">
                          <a:solidFill>
                            <a:srgbClr val="17262E"/>
                          </a:solidFill>
                          <a:latin typeface="Calibri"/>
                        </a:rPr>
                        <a:t>Mean fold accuracy</a:t>
                      </a:r>
                    </a:p>
                  </a:txBody>
                  <a:tcPr marL="73152" marR="73152" marT="27432" marB="27432" anchor="ctr">
                    <a:solidFill>
                      <a:srgbClr val="FFFFFF"/>
                    </a:solidFill>
                  </a:tcPr>
                </a:tc>
                <a:tc>
                  <a:txBody>
                    <a:bodyPr wrap="square"/>
                    <a:lstStyle/>
                    <a:p>
                      <a:r>
                        <a:rPr sz="1150" b="0">
                          <a:solidFill>
                            <a:srgbClr val="41525B"/>
                          </a:solidFill>
                          <a:latin typeface="Calibri"/>
                        </a:rPr>
                        <a:t>97.70 %</a:t>
                      </a:r>
                    </a:p>
                  </a:txBody>
                  <a:tcPr marL="73152" marR="73152" marT="27432" marB="27432" anchor="ctr">
                    <a:solidFill>
                      <a:srgbClr val="FFFFFF"/>
                    </a:solidFill>
                  </a:tcPr>
                </a:tc>
                <a:tc>
                  <a:txBody>
                    <a:bodyPr wrap="square"/>
                    <a:lstStyle/>
                    <a:p>
                      <a:r>
                        <a:rPr sz="1150" b="0">
                          <a:solidFill>
                            <a:srgbClr val="137C8E"/>
                          </a:solidFill>
                          <a:latin typeface="Calibri"/>
                        </a:rPr>
                        <a:t>97.38 %</a:t>
                      </a:r>
                    </a:p>
                  </a:txBody>
                  <a:tcPr marL="73152" marR="73152" marT="27432" marB="27432" anchor="ctr">
                    <a:solidFill>
                      <a:srgbClr val="FFFFFF"/>
                    </a:solidFill>
                  </a:tcPr>
                </a:tc>
              </a:tr>
              <a:tr h="347472">
                <a:tc>
                  <a:txBody>
                    <a:bodyPr wrap="square"/>
                    <a:lstStyle/>
                    <a:p>
                      <a:r>
                        <a:rPr sz="1150" b="1">
                          <a:solidFill>
                            <a:srgbClr val="17262E"/>
                          </a:solidFill>
                          <a:latin typeface="Calibri"/>
                        </a:rPr>
                        <a:t>Ensemble accuracy</a:t>
                      </a:r>
                    </a:p>
                  </a:txBody>
                  <a:tcPr marL="73152" marR="73152" marT="27432" marB="27432" anchor="ctr">
                    <a:solidFill>
                      <a:srgbClr val="F5F9FA"/>
                    </a:solidFill>
                  </a:tcPr>
                </a:tc>
                <a:tc>
                  <a:txBody>
                    <a:bodyPr wrap="square"/>
                    <a:lstStyle/>
                    <a:p>
                      <a:r>
                        <a:rPr sz="1150" b="0">
                          <a:solidFill>
                            <a:srgbClr val="41525B"/>
                          </a:solidFill>
                          <a:latin typeface="Calibri"/>
                        </a:rPr>
                        <a:t>98.29 %</a:t>
                      </a:r>
                    </a:p>
                  </a:txBody>
                  <a:tcPr marL="73152" marR="73152" marT="27432" marB="27432" anchor="ctr">
                    <a:solidFill>
                      <a:srgbClr val="F5F9FA"/>
                    </a:solidFill>
                  </a:tcPr>
                </a:tc>
                <a:tc>
                  <a:txBody>
                    <a:bodyPr wrap="square"/>
                    <a:lstStyle/>
                    <a:p>
                      <a:r>
                        <a:rPr sz="1150" b="0">
                          <a:solidFill>
                            <a:srgbClr val="137C8E"/>
                          </a:solidFill>
                          <a:latin typeface="Calibri"/>
                        </a:rPr>
                        <a:t>97.57 %</a:t>
                      </a:r>
                    </a:p>
                  </a:txBody>
                  <a:tcPr marL="73152" marR="73152" marT="27432" marB="27432" anchor="ctr">
                    <a:solidFill>
                      <a:srgbClr val="F5F9FA"/>
                    </a:solidFill>
                  </a:tcPr>
                </a:tc>
              </a:tr>
              <a:tr h="347472">
                <a:tc>
                  <a:txBody>
                    <a:bodyPr wrap="square"/>
                    <a:lstStyle/>
                    <a:p>
                      <a:r>
                        <a:rPr sz="1150" b="1">
                          <a:solidFill>
                            <a:srgbClr val="17262E"/>
                          </a:solidFill>
                          <a:latin typeface="Calibri"/>
                        </a:rPr>
                        <a:t>Recall (sensitivity)</a:t>
                      </a:r>
                    </a:p>
                  </a:txBody>
                  <a:tcPr marL="73152" marR="73152" marT="27432" marB="27432" anchor="ctr">
                    <a:solidFill>
                      <a:srgbClr val="FFFFFF"/>
                    </a:solidFill>
                  </a:tcPr>
                </a:tc>
                <a:tc>
                  <a:txBody>
                    <a:bodyPr wrap="square"/>
                    <a:lstStyle/>
                    <a:p>
                      <a:r>
                        <a:rPr sz="1150" b="0">
                          <a:solidFill>
                            <a:srgbClr val="41525B"/>
                          </a:solidFill>
                          <a:latin typeface="Calibri"/>
                        </a:rPr>
                        <a:t>98.82 %</a:t>
                      </a:r>
                    </a:p>
                  </a:txBody>
                  <a:tcPr marL="73152" marR="73152" marT="27432" marB="27432" anchor="ctr">
                    <a:solidFill>
                      <a:srgbClr val="FFFFFF"/>
                    </a:solidFill>
                  </a:tcPr>
                </a:tc>
                <a:tc>
                  <a:txBody>
                    <a:bodyPr wrap="square"/>
                    <a:lstStyle/>
                    <a:p>
                      <a:r>
                        <a:rPr sz="1150" b="0">
                          <a:solidFill>
                            <a:srgbClr val="137C8E"/>
                          </a:solidFill>
                          <a:latin typeface="Calibri"/>
                        </a:rPr>
                        <a:t>96.81 %</a:t>
                      </a:r>
                    </a:p>
                  </a:txBody>
                  <a:tcPr marL="73152" marR="73152" marT="27432" marB="27432" anchor="ctr">
                    <a:solidFill>
                      <a:srgbClr val="FFFFFF"/>
                    </a:solidFill>
                  </a:tcPr>
                </a:tc>
              </a:tr>
              <a:tr h="347472">
                <a:tc>
                  <a:txBody>
                    <a:bodyPr wrap="square"/>
                    <a:lstStyle/>
                    <a:p>
                      <a:r>
                        <a:rPr sz="1150" b="1">
                          <a:solidFill>
                            <a:srgbClr val="17262E"/>
                          </a:solidFill>
                          <a:latin typeface="Calibri"/>
                        </a:rPr>
                        <a:t>Precision</a:t>
                      </a:r>
                    </a:p>
                  </a:txBody>
                  <a:tcPr marL="73152" marR="73152" marT="27432" marB="27432" anchor="ctr">
                    <a:solidFill>
                      <a:srgbClr val="F5F9FA"/>
                    </a:solidFill>
                  </a:tcPr>
                </a:tc>
                <a:tc>
                  <a:txBody>
                    <a:bodyPr wrap="square"/>
                    <a:lstStyle/>
                    <a:p>
                      <a:r>
                        <a:rPr sz="1150" b="0">
                          <a:solidFill>
                            <a:srgbClr val="41525B"/>
                          </a:solidFill>
                          <a:latin typeface="Calibri"/>
                        </a:rPr>
                        <a:t>97.74 %</a:t>
                      </a:r>
                    </a:p>
                  </a:txBody>
                  <a:tcPr marL="73152" marR="73152" marT="27432" marB="27432" anchor="ctr">
                    <a:solidFill>
                      <a:srgbClr val="F5F9FA"/>
                    </a:solidFill>
                  </a:tcPr>
                </a:tc>
                <a:tc>
                  <a:txBody>
                    <a:bodyPr wrap="square"/>
                    <a:lstStyle/>
                    <a:p>
                      <a:r>
                        <a:rPr sz="1150" b="0">
                          <a:solidFill>
                            <a:srgbClr val="137C8E"/>
                          </a:solidFill>
                          <a:latin typeface="Calibri"/>
                        </a:rPr>
                        <a:t>98.31 %</a:t>
                      </a:r>
                    </a:p>
                  </a:txBody>
                  <a:tcPr marL="73152" marR="73152" marT="27432" marB="27432" anchor="ctr">
                    <a:solidFill>
                      <a:srgbClr val="F5F9FA"/>
                    </a:solidFill>
                  </a:tcPr>
                </a:tc>
              </a:tr>
              <a:tr h="347472">
                <a:tc>
                  <a:txBody>
                    <a:bodyPr wrap="square"/>
                    <a:lstStyle/>
                    <a:p>
                      <a:r>
                        <a:rPr sz="1150" b="1">
                          <a:solidFill>
                            <a:srgbClr val="17262E"/>
                          </a:solidFill>
                          <a:latin typeface="Calibri"/>
                        </a:rPr>
                        <a:t>F1-score</a:t>
                      </a:r>
                    </a:p>
                  </a:txBody>
                  <a:tcPr marL="73152" marR="73152" marT="27432" marB="27432" anchor="ctr">
                    <a:solidFill>
                      <a:srgbClr val="FFFFFF"/>
                    </a:solidFill>
                  </a:tcPr>
                </a:tc>
                <a:tc>
                  <a:txBody>
                    <a:bodyPr wrap="square"/>
                    <a:lstStyle/>
                    <a:p>
                      <a:r>
                        <a:rPr sz="1150" b="0">
                          <a:solidFill>
                            <a:srgbClr val="41525B"/>
                          </a:solidFill>
                          <a:latin typeface="Calibri"/>
                        </a:rPr>
                        <a:t>98.28 %</a:t>
                      </a:r>
                    </a:p>
                  </a:txBody>
                  <a:tcPr marL="73152" marR="73152" marT="27432" marB="27432" anchor="ctr">
                    <a:solidFill>
                      <a:srgbClr val="FFFFFF"/>
                    </a:solidFill>
                  </a:tcPr>
                </a:tc>
                <a:tc>
                  <a:txBody>
                    <a:bodyPr wrap="square"/>
                    <a:lstStyle/>
                    <a:p>
                      <a:r>
                        <a:rPr sz="1150" b="0">
                          <a:solidFill>
                            <a:srgbClr val="137C8E"/>
                          </a:solidFill>
                          <a:latin typeface="Calibri"/>
                        </a:rPr>
                        <a:t>97.55 %</a:t>
                      </a:r>
                    </a:p>
                  </a:txBody>
                  <a:tcPr marL="73152" marR="73152" marT="27432" marB="27432" anchor="ctr">
                    <a:solidFill>
                      <a:srgbClr val="FFFFFF"/>
                    </a:solidFill>
                  </a:tcPr>
                </a:tc>
              </a:tr>
              <a:tr h="347472">
                <a:tc>
                  <a:txBody>
                    <a:bodyPr wrap="square"/>
                    <a:lstStyle/>
                    <a:p>
                      <a:r>
                        <a:rPr sz="1150" b="1">
                          <a:solidFill>
                            <a:srgbClr val="17262E"/>
                          </a:solidFill>
                          <a:latin typeface="Calibri"/>
                        </a:rPr>
                        <a:t>ROC-AUC</a:t>
                      </a:r>
                    </a:p>
                  </a:txBody>
                  <a:tcPr marL="73152" marR="73152" marT="27432" marB="27432" anchor="ctr">
                    <a:solidFill>
                      <a:srgbClr val="F5F9FA"/>
                    </a:solidFill>
                  </a:tcPr>
                </a:tc>
                <a:tc>
                  <a:txBody>
                    <a:bodyPr wrap="square"/>
                    <a:lstStyle/>
                    <a:p>
                      <a:r>
                        <a:rPr sz="1150" b="0">
                          <a:solidFill>
                            <a:srgbClr val="41525B"/>
                          </a:solidFill>
                          <a:latin typeface="Calibri"/>
                        </a:rPr>
                        <a:t>99.76 %</a:t>
                      </a:r>
                    </a:p>
                  </a:txBody>
                  <a:tcPr marL="73152" marR="73152" marT="27432" marB="27432" anchor="ctr">
                    <a:solidFill>
                      <a:srgbClr val="F5F9FA"/>
                    </a:solidFill>
                  </a:tcPr>
                </a:tc>
                <a:tc>
                  <a:txBody>
                    <a:bodyPr wrap="square"/>
                    <a:lstStyle/>
                    <a:p>
                      <a:r>
                        <a:rPr sz="1150" b="0">
                          <a:solidFill>
                            <a:srgbClr val="137C8E"/>
                          </a:solidFill>
                          <a:latin typeface="Calibri"/>
                        </a:rPr>
                        <a:t>99.76 %</a:t>
                      </a:r>
                    </a:p>
                  </a:txBody>
                  <a:tcPr marL="73152" marR="73152" marT="27432" marB="27432" anchor="ctr">
                    <a:solidFill>
                      <a:srgbClr val="F5F9FA"/>
                    </a:solidFill>
                  </a:tcPr>
                </a:tc>
              </a:tr>
              <a:tr h="347472">
                <a:tc>
                  <a:txBody>
                    <a:bodyPr wrap="square"/>
                    <a:lstStyle/>
                    <a:p>
                      <a:r>
                        <a:rPr sz="1150" b="1">
                          <a:solidFill>
                            <a:srgbClr val="17262E"/>
                          </a:solidFill>
                          <a:latin typeface="Calibri"/>
                        </a:rPr>
                        <a:t>MCC</a:t>
                      </a:r>
                    </a:p>
                  </a:txBody>
                  <a:tcPr marL="73152" marR="73152" marT="27432" marB="27432" anchor="ctr">
                    <a:solidFill>
                      <a:srgbClr val="FFFFFF"/>
                    </a:solidFill>
                  </a:tcPr>
                </a:tc>
                <a:tc>
                  <a:txBody>
                    <a:bodyPr wrap="square"/>
                    <a:lstStyle/>
                    <a:p>
                      <a:r>
                        <a:rPr sz="1150" b="0">
                          <a:solidFill>
                            <a:srgbClr val="41525B"/>
                          </a:solidFill>
                          <a:latin typeface="Calibri"/>
                        </a:rPr>
                        <a:t>not reported</a:t>
                      </a:r>
                    </a:p>
                  </a:txBody>
                  <a:tcPr marL="73152" marR="73152" marT="27432" marB="27432" anchor="ctr">
                    <a:solidFill>
                      <a:srgbClr val="FFFFFF"/>
                    </a:solidFill>
                  </a:tcPr>
                </a:tc>
                <a:tc>
                  <a:txBody>
                    <a:bodyPr wrap="square"/>
                    <a:lstStyle/>
                    <a:p>
                      <a:r>
                        <a:rPr sz="1150" b="0">
                          <a:solidFill>
                            <a:srgbClr val="137C8E"/>
                          </a:solidFill>
                          <a:latin typeface="Calibri"/>
                        </a:rPr>
                        <a:t>0.95</a:t>
                      </a:r>
                    </a:p>
                  </a:txBody>
                  <a:tcPr marL="73152" marR="73152" marT="27432" marB="27432" anchor="ctr">
                    <a:solidFill>
                      <a:srgbClr val="FFFFFF"/>
                    </a:solidFill>
                  </a:tcPr>
                </a:tc>
              </a:tr>
            </a:tbl>
          </a:graphicData>
        </a:graphic>
      </p:graphicFrame>
      <p:sp>
        <p:nvSpPr>
          <p:cNvPr id="10" name="TextBox 9"/>
          <p:cNvSpPr txBox="1"/>
          <p:nvPr/>
        </p:nvSpPr>
        <p:spPr>
          <a:xfrm>
            <a:off x="6949440" y="5440680"/>
            <a:ext cx="4480560" cy="594360"/>
          </a:xfrm>
          <a:prstGeom prst="rect">
            <a:avLst/>
          </a:prstGeom>
          <a:noFill/>
        </p:spPr>
        <p:txBody>
          <a:bodyPr wrap="square" lIns="0" rIns="0" tIns="0" bIns="0" anchor="t">
            <a:spAutoFit/>
          </a:bodyPr>
          <a:lstStyle/>
          <a:p>
            <a:pPr algn="l"/>
            <a:r>
              <a:rPr sz="1100" b="1" i="0">
                <a:solidFill>
                  <a:srgbClr val="17262E"/>
                </a:solidFill>
                <a:latin typeface="Calibri"/>
              </a:rPr>
              <a:t>Success criterion: </a:t>
            </a:r>
            <a:r>
              <a:rPr sz="1100" b="0" i="0">
                <a:solidFill>
                  <a:srgbClr val="41525B"/>
                </a:solidFill>
                <a:latin typeface="Calibri"/>
              </a:rPr>
              <a:t>within ≈ 1 pp of the paper. Ours = notebook §10 output (Kaggle 2× T4 GPU).</a:t>
            </a:r>
          </a:p>
        </p:txBody>
      </p:sp>
      <p:sp>
        <p:nvSpPr>
          <p:cNvPr id="11" name="TextBox 10"/>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12" name="TextBox 11"/>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MILESTONE 2 · BASELINE REPRODUCTION</a:t>
            </a:r>
          </a:p>
        </p:txBody>
      </p:sp>
      <p:sp>
        <p:nvSpPr>
          <p:cNvPr id="4"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A0 results at a glance</a:t>
            </a:r>
          </a:p>
        </p:txBody>
      </p:sp>
      <p:sp>
        <p:nvSpPr>
          <p:cNvPr id="5"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Ensemble of our 3 fold models on the 2,756-image hold-out test set, next to what Marques et al. [8] report.</a:t>
            </a:r>
          </a:p>
        </p:txBody>
      </p:sp>
      <p:sp>
        <p:nvSpPr>
          <p:cNvPr id="6" name="Rounded Rectangle 6"/>
          <p:cNvSpPr/>
          <p:nvPr/>
        </p:nvSpPr>
        <p:spPr>
          <a:xfrm>
            <a:off x="548640" y="2057400"/>
            <a:ext cx="4454730" cy="2312244"/>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7"/>
          <p:cNvSpPr txBox="1"/>
          <p:nvPr/>
        </p:nvSpPr>
        <p:spPr>
          <a:xfrm>
            <a:off x="685800" y="2194560"/>
            <a:ext cx="4180410" cy="274320"/>
          </a:xfrm>
          <a:prstGeom prst="rect">
            <a:avLst/>
          </a:prstGeom>
          <a:noFill/>
        </p:spPr>
        <p:txBody>
          <a:bodyPr wrap="square" lIns="0" rIns="0" tIns="0" bIns="0" anchor="t">
            <a:spAutoFit/>
          </a:bodyPr>
          <a:lstStyle/>
          <a:p>
            <a:pPr algn="l"/>
            <a:r>
              <a:rPr sz="1100" b="1" i="0">
                <a:solidFill>
                  <a:srgbClr val="137C8E"/>
                </a:solidFill>
                <a:latin typeface="Calibri"/>
              </a:rPr>
              <a:t>PAPER VS. OURS</a:t>
            </a:r>
          </a:p>
        </p:txBody>
      </p:sp>
      <p:pic>
        <p:nvPicPr>
          <p:cNvPr id="8" name="Figure Paper" descr="A0_vs_paper.png"/>
          <p:cNvPicPr>
            <a:picLocks noChangeAspect="1"/>
          </p:cNvPicPr>
          <p:nvPr/>
        </p:nvPicPr>
        <p:blipFill>
          <a:blip r:embed="rId2"/>
          <a:stretch>
            <a:fillRect/>
          </a:stretch>
        </p:blipFill>
        <p:spPr>
          <a:xfrm>
            <a:off x="685800" y="2560320"/>
            <a:ext cx="4180410" cy="1672164"/>
          </a:xfrm>
          <a:prstGeom prst="rect">
            <a:avLst/>
          </a:prstGeom>
        </p:spPr>
      </p:pic>
      <p:sp>
        <p:nvSpPr>
          <p:cNvPr id="9" name="Rounded Rectangle 6"/>
          <p:cNvSpPr/>
          <p:nvPr/>
        </p:nvSpPr>
        <p:spPr>
          <a:xfrm>
            <a:off x="5186250" y="2057400"/>
            <a:ext cx="6454056" cy="2312244"/>
          </a:xfrm>
          <a:prstGeom prst="roundRect">
            <a:avLst>
              <a:gd name="adj" fmla="val 6000"/>
            </a:avLst>
          </a:prstGeom>
          <a:solidFill>
            <a:srgbClr val="EAF3F5"/>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7"/>
          <p:cNvSpPr txBox="1"/>
          <p:nvPr/>
        </p:nvSpPr>
        <p:spPr>
          <a:xfrm>
            <a:off x="5323410" y="2194560"/>
            <a:ext cx="6179736" cy="274320"/>
          </a:xfrm>
          <a:prstGeom prst="rect">
            <a:avLst/>
          </a:prstGeom>
          <a:noFill/>
        </p:spPr>
        <p:txBody>
          <a:bodyPr wrap="square" lIns="0" rIns="0" tIns="0" bIns="0" anchor="t">
            <a:spAutoFit/>
          </a:bodyPr>
          <a:lstStyle/>
          <a:p>
            <a:pPr algn="l"/>
            <a:r>
              <a:rPr sz="1100" b="1" i="0">
                <a:solidFill>
                  <a:srgbClr val="137C8E"/>
                </a:solidFill>
                <a:latin typeface="Calibri"/>
              </a:rPr>
              <a:t>TRAINING CURVES · CONFUSION MATRIX · ROC</a:t>
            </a:r>
          </a:p>
        </p:txBody>
      </p:sp>
      <p:pic>
        <p:nvPicPr>
          <p:cNvPr id="11" name="Figure Training" descr="A0_curves_cm_roc.png"/>
          <p:cNvPicPr>
            <a:picLocks noChangeAspect="1"/>
          </p:cNvPicPr>
          <p:nvPr/>
        </p:nvPicPr>
        <p:blipFill>
          <a:blip r:embed="rId3"/>
          <a:stretch>
            <a:fillRect/>
          </a:stretch>
        </p:blipFill>
        <p:spPr>
          <a:xfrm>
            <a:off x="5323410" y="2560320"/>
            <a:ext cx="6179736" cy="1672164"/>
          </a:xfrm>
          <a:prstGeom prst="rect">
            <a:avLst/>
          </a:prstGeom>
        </p:spPr>
      </p:pic>
      <p:sp>
        <p:nvSpPr>
          <p:cNvPr id="12" name="Shape 15"/>
          <p:cNvSpPr/>
          <p:nvPr/>
        </p:nvSpPr>
        <p:spPr>
          <a:xfrm>
            <a:off x="548640" y="4689684"/>
            <a:ext cx="11091672" cy="868680"/>
          </a:xfrm>
          <a:prstGeom prst="roundRect">
            <a:avLst>
              <a:gd name="adj" fmla="val 10526"/>
            </a:avLst>
          </a:prstGeom>
          <a:solidFill>
            <a:srgbClr val="0F2E3D"/>
          </a:solidFill>
          <a:ln/>
        </p:spPr>
        <p:txBody>
          <a:bodyPr/>
          <a:p/>
        </p:txBody>
      </p:sp>
      <p:sp>
        <p:nvSpPr>
          <p:cNvPr id="13" name="Shape 16"/>
          <p:cNvSpPr/>
          <p:nvPr/>
        </p:nvSpPr>
        <p:spPr>
          <a:xfrm>
            <a:off x="905256" y="4790268"/>
            <a:ext cx="658368" cy="658368"/>
          </a:xfrm>
          <a:prstGeom prst="ellipse">
            <a:avLst/>
          </a:prstGeom>
          <a:solidFill>
            <a:srgbClr val="2EA79B"/>
          </a:solidFill>
          <a:ln/>
        </p:spPr>
        <p:txBody>
          <a:bodyPr/>
          <a:p/>
        </p:txBody>
      </p:sp>
      <p:pic>
        <p:nvPicPr>
          <p:cNvPr id="14" name="Image 3" descr="/tmp/build/assets/ic_bolt.png">    </p:cNvPr>
          <p:cNvPicPr>
            <a:picLocks noChangeAspect="1"/>
          </p:cNvPicPr>
          <p:nvPr/>
        </p:nvPicPr>
        <p:blipFill>
          <a:blip r:embed="rId4"/>
          <a:stretch>
            <a:fillRect/>
          </a:stretch>
        </p:blipFill>
        <p:spPr>
          <a:xfrm>
            <a:off x="1069848" y="4954860"/>
            <a:ext cx="329184" cy="329184"/>
          </a:xfrm>
          <a:prstGeom prst="rect">
            <a:avLst/>
          </a:prstGeom>
        </p:spPr>
      </p:pic>
      <p:sp>
        <p:nvSpPr>
          <p:cNvPr id="15" name="Text 17"/>
          <p:cNvSpPr txBox="1"/>
          <p:nvPr/>
        </p:nvSpPr>
        <p:spPr>
          <a:xfrm>
            <a:off x="1783080" y="4689684"/>
            <a:ext cx="9601200" cy="868680"/>
          </a:xfrm>
          <a:prstGeom prst="rect">
            <a:avLst/>
          </a:prstGeom>
          <a:noFill/>
          <a:ln/>
        </p:spPr>
        <p:txBody>
          <a:bodyPr wrap="square" lIns="0" tIns="0" rIns="0" bIns="0" rtlCol="0" anchor="ctr"/>
          <a:lstStyle/>
          <a:p>
            <a:pPr indent="0" marL="0">
              <a:lnSpc>
                <a:spcPct val="105000"/>
              </a:lnSpc>
              <a:buNone/>
            </a:pPr>
            <a:r>
              <a:rPr lang="en-US" sz="1550" b="1" dirty="0">
                <a:solidFill>
                  <a:srgbClr val="2EA79B"/>
                </a:solidFill>
                <a:latin typeface="Calibri" pitchFamily="34" charset="0"/>
                <a:ea typeface="Calibri" pitchFamily="34" charset="-122"/>
                <a:cs typeface="Calibri" pitchFamily="34" charset="-120"/>
              </a:rPr>
              <a:t>Takeaway:  </a:t>
            </a:r>
            <a:pPr indent="0" marL="0">
              <a:lnSpc>
                <a:spcPct val="105000"/>
              </a:lnSpc>
              <a:buNone/>
            </a:pPr>
            <a:r>
              <a:rPr lang="en-US" sz="1550" dirty="0">
                <a:solidFill>
                  <a:srgbClr val="E8F2F4"/>
                </a:solidFill>
                <a:latin typeface="Calibri" pitchFamily="34" charset="0"/>
                <a:ea typeface="Calibri" pitchFamily="34" charset="-122"/>
                <a:cs typeface="Calibri" pitchFamily="34" charset="-120"/>
              </a:rPr>
              <a:t>Within 1 pp of the paper on both headline accuracies; recall is 2 pp lower (44 missed infected cells).</a:t>
            </a:r>
            <a:endParaRPr lang="en-US" sz="1550" dirty="0"/>
          </a:p>
        </p:txBody>
      </p:sp>
      <p:sp>
        <p:nvSpPr>
          <p:cNvPr id="16" name="TextBox 10"/>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17" name="TextBox 11"/>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MILESTONE 2 · BASELINE REPRODUCTION</a:t>
            </a:r>
          </a:p>
        </p:txBody>
      </p:sp>
      <p:sp>
        <p:nvSpPr>
          <p:cNvPr id="4"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A0 per-fold results</a:t>
            </a:r>
          </a:p>
        </p:txBody>
      </p:sp>
      <p:sp>
        <p:nvSpPr>
          <p:cNvPr id="5"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Each fold model scored on its own validation split (2,481 cells). Last row: mean ± SD over the 3 folds. MCC as a coefficient (0–1).</a:t>
            </a:r>
          </a:p>
        </p:txBody>
      </p:sp>
      <p:graphicFrame>
        <p:nvGraphicFramePr>
          <p:cNvPr id="6" name="Table 8"/>
          <p:cNvGraphicFramePr>
            <a:graphicFrameLocks noGrp="1"/>
          </p:cNvGraphicFramePr>
          <p:nvPr/>
        </p:nvGraphicFramePr>
        <p:xfrm>
          <a:off x="548640" y="2103120"/>
          <a:ext cx="11091672" cy="2286000"/>
        </p:xfrm>
        <a:graphic>
          <a:graphicData uri="http://schemas.openxmlformats.org/drawingml/2006/table">
            <a:tbl>
              <a:tblPr firstRow="1" bandRow="0">
                <a:tableStyleId>{5C22544A-7EE6-4342-B048-85BDC9FD1C3A}</a:tableStyleId>
              </a:tblPr>
              <a:tblGrid>
                <a:gridCol w="1645920"/>
                <a:gridCol w="1574292"/>
                <a:gridCol w="1574292"/>
                <a:gridCol w="1574292"/>
                <a:gridCol w="1574292"/>
                <a:gridCol w="1574292"/>
                <a:gridCol w="1574292"/>
              </a:tblGrid>
              <a:tr h="457200">
                <a:tc>
                  <a:txBody>
                    <a:bodyPr wrap="square"/>
                    <a:lstStyle/>
                    <a:p>
                      <a:r>
                        <a:rPr sz="1400" b="1">
                          <a:solidFill>
                            <a:srgbClr val="FFFFFF"/>
                          </a:solidFill>
                          <a:latin typeface="Calibri"/>
                        </a:rPr>
                        <a:t>Fold</a:t>
                      </a:r>
                    </a:p>
                  </a:txBody>
                  <a:tcPr marL="73152" marR="73152" marT="27432" marB="27432" anchor="ctr">
                    <a:solidFill>
                      <a:srgbClr val="17262E"/>
                    </a:solidFill>
                  </a:tcPr>
                </a:tc>
                <a:tc>
                  <a:txBody>
                    <a:bodyPr wrap="square"/>
                    <a:lstStyle/>
                    <a:p>
                      <a:pPr algn="ctr"/>
                      <a:r>
                        <a:rPr sz="1400" b="1">
                          <a:solidFill>
                            <a:srgbClr val="FFFFFF"/>
                          </a:solidFill>
                          <a:latin typeface="Calibri"/>
                        </a:rPr>
                        <a:t>Epochs</a:t>
                      </a:r>
                    </a:p>
                  </a:txBody>
                  <a:tcPr marL="73152" marR="73152" marT="27432" marB="27432" anchor="ctr">
                    <a:solidFill>
                      <a:srgbClr val="17262E"/>
                    </a:solidFill>
                  </a:tcPr>
                </a:tc>
                <a:tc>
                  <a:txBody>
                    <a:bodyPr wrap="square"/>
                    <a:lstStyle/>
                    <a:p>
                      <a:pPr algn="ctr"/>
                      <a:r>
                        <a:rPr sz="1400" b="1">
                          <a:solidFill>
                            <a:srgbClr val="FFFFFF"/>
                          </a:solidFill>
                          <a:latin typeface="Calibri"/>
                        </a:rPr>
                        <a:t>Minutes</a:t>
                      </a:r>
                    </a:p>
                  </a:txBody>
                  <a:tcPr marL="73152" marR="73152" marT="27432" marB="27432" anchor="ctr">
                    <a:solidFill>
                      <a:srgbClr val="17262E"/>
                    </a:solidFill>
                  </a:tcPr>
                </a:tc>
                <a:tc>
                  <a:txBody>
                    <a:bodyPr wrap="square"/>
                    <a:lstStyle/>
                    <a:p>
                      <a:pPr algn="ctr"/>
                      <a:r>
                        <a:rPr sz="1400" b="1">
                          <a:solidFill>
                            <a:srgbClr val="FFFFFF"/>
                          </a:solidFill>
                          <a:latin typeface="Calibri"/>
                        </a:rPr>
                        <a:t>Accuracy</a:t>
                      </a:r>
                    </a:p>
                  </a:txBody>
                  <a:tcPr marL="73152" marR="73152" marT="27432" marB="27432" anchor="ctr">
                    <a:solidFill>
                      <a:srgbClr val="17262E"/>
                    </a:solidFill>
                  </a:tcPr>
                </a:tc>
                <a:tc>
                  <a:txBody>
                    <a:bodyPr wrap="square"/>
                    <a:lstStyle/>
                    <a:p>
                      <a:pPr algn="ctr"/>
                      <a:r>
                        <a:rPr sz="1400" b="1">
                          <a:solidFill>
                            <a:srgbClr val="FFFFFF"/>
                          </a:solidFill>
                          <a:latin typeface="Calibri"/>
                        </a:rPr>
                        <a:t>Recall</a:t>
                      </a:r>
                    </a:p>
                  </a:txBody>
                  <a:tcPr marL="73152" marR="73152" marT="27432" marB="27432" anchor="ctr">
                    <a:solidFill>
                      <a:srgbClr val="17262E"/>
                    </a:solidFill>
                  </a:tcPr>
                </a:tc>
                <a:tc>
                  <a:txBody>
                    <a:bodyPr wrap="square"/>
                    <a:lstStyle/>
                    <a:p>
                      <a:pPr algn="ctr"/>
                      <a:r>
                        <a:rPr sz="1400" b="1">
                          <a:solidFill>
                            <a:srgbClr val="FFFFFF"/>
                          </a:solidFill>
                          <a:latin typeface="Calibri"/>
                        </a:rPr>
                        <a:t>Precision</a:t>
                      </a:r>
                    </a:p>
                  </a:txBody>
                  <a:tcPr marL="73152" marR="73152" marT="27432" marB="27432" anchor="ctr">
                    <a:solidFill>
                      <a:srgbClr val="17262E"/>
                    </a:solidFill>
                  </a:tcPr>
                </a:tc>
                <a:tc>
                  <a:txBody>
                    <a:bodyPr wrap="square"/>
                    <a:lstStyle/>
                    <a:p>
                      <a:pPr algn="ctr"/>
                      <a:r>
                        <a:rPr sz="1400" b="1">
                          <a:solidFill>
                            <a:srgbClr val="FFFFFF"/>
                          </a:solidFill>
                          <a:latin typeface="Calibri"/>
                        </a:rPr>
                        <a:t>MCC</a:t>
                      </a:r>
                    </a:p>
                  </a:txBody>
                  <a:tcPr marL="73152" marR="73152" marT="27432" marB="27432" anchor="ctr">
                    <a:solidFill>
                      <a:srgbClr val="17262E"/>
                    </a:solidFill>
                  </a:tcPr>
                </a:tc>
              </a:tr>
              <a:tr h="457200">
                <a:tc>
                  <a:txBody>
                    <a:bodyPr wrap="square"/>
                    <a:lstStyle/>
                    <a:p>
                      <a:r>
                        <a:rPr sz="1400" b="1">
                          <a:solidFill>
                            <a:srgbClr val="17262E"/>
                          </a:solidFill>
                          <a:latin typeface="Calibri"/>
                        </a:rPr>
                        <a:t>Fold 1</a:t>
                      </a:r>
                    </a:p>
                  </a:txBody>
                  <a:tcPr marL="73152" marR="73152" marT="27432" marB="27432" anchor="ctr">
                    <a:solidFill>
                      <a:srgbClr val="FFFFFF"/>
                    </a:solidFill>
                  </a:tcPr>
                </a:tc>
                <a:tc>
                  <a:txBody>
                    <a:bodyPr wrap="square"/>
                    <a:lstStyle/>
                    <a:p>
                      <a:pPr algn="ctr"/>
                      <a:r>
                        <a:rPr sz="1400" b="0">
                          <a:solidFill>
                            <a:srgbClr val="41525B"/>
                          </a:solidFill>
                          <a:latin typeface="Calibri"/>
                        </a:rPr>
                        <a:t>9</a:t>
                      </a:r>
                    </a:p>
                  </a:txBody>
                  <a:tcPr marL="73152" marR="73152" marT="27432" marB="27432" anchor="ctr">
                    <a:solidFill>
                      <a:srgbClr val="FFFFFF"/>
                    </a:solidFill>
                  </a:tcPr>
                </a:tc>
                <a:tc>
                  <a:txBody>
                    <a:bodyPr wrap="square"/>
                    <a:lstStyle/>
                    <a:p>
                      <a:pPr algn="ctr"/>
                      <a:r>
                        <a:rPr sz="1400" b="0">
                          <a:solidFill>
                            <a:srgbClr val="41525B"/>
                          </a:solidFill>
                          <a:latin typeface="Calibri"/>
                        </a:rPr>
                        <a:t>20.7</a:t>
                      </a:r>
                    </a:p>
                  </a:txBody>
                  <a:tcPr marL="73152" marR="73152" marT="27432" marB="27432" anchor="ctr">
                    <a:solidFill>
                      <a:srgbClr val="FFFFFF"/>
                    </a:solidFill>
                  </a:tcPr>
                </a:tc>
                <a:tc>
                  <a:txBody>
                    <a:bodyPr wrap="square"/>
                    <a:lstStyle/>
                    <a:p>
                      <a:pPr algn="ctr"/>
                      <a:r>
                        <a:rPr sz="1400" b="0">
                          <a:solidFill>
                            <a:srgbClr val="41525B"/>
                          </a:solidFill>
                          <a:latin typeface="Calibri"/>
                        </a:rPr>
                        <a:t>96.57 %</a:t>
                      </a:r>
                    </a:p>
                  </a:txBody>
                  <a:tcPr marL="73152" marR="73152" marT="27432" marB="27432" anchor="ctr">
                    <a:solidFill>
                      <a:srgbClr val="FFFFFF"/>
                    </a:solidFill>
                  </a:tcPr>
                </a:tc>
                <a:tc>
                  <a:txBody>
                    <a:bodyPr wrap="square"/>
                    <a:lstStyle/>
                    <a:p>
                      <a:pPr algn="ctr"/>
                      <a:r>
                        <a:rPr sz="1400" b="1">
                          <a:solidFill>
                            <a:srgbClr val="D99A00"/>
                          </a:solidFill>
                          <a:latin typeface="Calibri"/>
                        </a:rPr>
                        <a:t>94.84 %</a:t>
                      </a:r>
                    </a:p>
                  </a:txBody>
                  <a:tcPr marL="73152" marR="73152" marT="27432" marB="27432" anchor="ctr">
                    <a:solidFill>
                      <a:srgbClr val="FFFFFF"/>
                    </a:solidFill>
                  </a:tcPr>
                </a:tc>
                <a:tc>
                  <a:txBody>
                    <a:bodyPr wrap="square"/>
                    <a:lstStyle/>
                    <a:p>
                      <a:pPr algn="ctr"/>
                      <a:r>
                        <a:rPr sz="1400" b="0">
                          <a:solidFill>
                            <a:srgbClr val="41525B"/>
                          </a:solidFill>
                          <a:latin typeface="Calibri"/>
                        </a:rPr>
                        <a:t>98.25 %</a:t>
                      </a:r>
                    </a:p>
                  </a:txBody>
                  <a:tcPr marL="73152" marR="73152" marT="27432" marB="27432" anchor="ctr">
                    <a:solidFill>
                      <a:srgbClr val="FFFFFF"/>
                    </a:solidFill>
                  </a:tcPr>
                </a:tc>
                <a:tc>
                  <a:txBody>
                    <a:bodyPr wrap="square"/>
                    <a:lstStyle/>
                    <a:p>
                      <a:pPr algn="ctr"/>
                      <a:r>
                        <a:rPr sz="1400" b="0">
                          <a:solidFill>
                            <a:srgbClr val="41525B"/>
                          </a:solidFill>
                          <a:latin typeface="Calibri"/>
                        </a:rPr>
                        <a:t>0.93</a:t>
                      </a:r>
                    </a:p>
                  </a:txBody>
                  <a:tcPr marL="73152" marR="73152" marT="27432" marB="27432" anchor="ctr">
                    <a:solidFill>
                      <a:srgbClr val="FFFFFF"/>
                    </a:solidFill>
                  </a:tcPr>
                </a:tc>
              </a:tr>
              <a:tr h="457200">
                <a:tc>
                  <a:txBody>
                    <a:bodyPr wrap="square"/>
                    <a:lstStyle/>
                    <a:p>
                      <a:r>
                        <a:rPr sz="1400" b="1">
                          <a:solidFill>
                            <a:srgbClr val="17262E"/>
                          </a:solidFill>
                          <a:latin typeface="Calibri"/>
                        </a:rPr>
                        <a:t>Fold 2</a:t>
                      </a:r>
                    </a:p>
                  </a:txBody>
                  <a:tcPr marL="73152" marR="73152" marT="27432" marB="27432" anchor="ctr">
                    <a:solidFill>
                      <a:srgbClr val="F5F9FA"/>
                    </a:solidFill>
                  </a:tcPr>
                </a:tc>
                <a:tc>
                  <a:txBody>
                    <a:bodyPr wrap="square"/>
                    <a:lstStyle/>
                    <a:p>
                      <a:pPr algn="ctr"/>
                      <a:r>
                        <a:rPr sz="1400" b="0">
                          <a:solidFill>
                            <a:srgbClr val="41525B"/>
                          </a:solidFill>
                          <a:latin typeface="Calibri"/>
                        </a:rPr>
                        <a:t>10</a:t>
                      </a:r>
                    </a:p>
                  </a:txBody>
                  <a:tcPr marL="73152" marR="73152" marT="27432" marB="27432" anchor="ctr">
                    <a:solidFill>
                      <a:srgbClr val="F5F9FA"/>
                    </a:solidFill>
                  </a:tcPr>
                </a:tc>
                <a:tc>
                  <a:txBody>
                    <a:bodyPr wrap="square"/>
                    <a:lstStyle/>
                    <a:p>
                      <a:pPr algn="ctr"/>
                      <a:r>
                        <a:rPr sz="1400" b="0">
                          <a:solidFill>
                            <a:srgbClr val="41525B"/>
                          </a:solidFill>
                          <a:latin typeface="Calibri"/>
                        </a:rPr>
                        <a:t>21.9</a:t>
                      </a:r>
                    </a:p>
                  </a:txBody>
                  <a:tcPr marL="73152" marR="73152" marT="27432" marB="27432" anchor="ctr">
                    <a:solidFill>
                      <a:srgbClr val="F5F9FA"/>
                    </a:solidFill>
                  </a:tcPr>
                </a:tc>
                <a:tc>
                  <a:txBody>
                    <a:bodyPr wrap="square"/>
                    <a:lstStyle/>
                    <a:p>
                      <a:pPr algn="ctr"/>
                      <a:r>
                        <a:rPr sz="1400" b="0">
                          <a:solidFill>
                            <a:srgbClr val="41525B"/>
                          </a:solidFill>
                          <a:latin typeface="Calibri"/>
                        </a:rPr>
                        <a:t>98.02 %</a:t>
                      </a:r>
                    </a:p>
                  </a:txBody>
                  <a:tcPr marL="73152" marR="73152" marT="27432" marB="27432" anchor="ctr">
                    <a:solidFill>
                      <a:srgbClr val="F5F9FA"/>
                    </a:solidFill>
                  </a:tcPr>
                </a:tc>
                <a:tc>
                  <a:txBody>
                    <a:bodyPr wrap="square"/>
                    <a:lstStyle/>
                    <a:p>
                      <a:pPr algn="ctr"/>
                      <a:r>
                        <a:rPr sz="1400" b="0">
                          <a:solidFill>
                            <a:srgbClr val="41525B"/>
                          </a:solidFill>
                          <a:latin typeface="Calibri"/>
                        </a:rPr>
                        <a:t>97.90 %</a:t>
                      </a:r>
                    </a:p>
                  </a:txBody>
                  <a:tcPr marL="73152" marR="73152" marT="27432" marB="27432" anchor="ctr">
                    <a:solidFill>
                      <a:srgbClr val="F5F9FA"/>
                    </a:solidFill>
                  </a:tcPr>
                </a:tc>
                <a:tc>
                  <a:txBody>
                    <a:bodyPr wrap="square"/>
                    <a:lstStyle/>
                    <a:p>
                      <a:pPr algn="ctr"/>
                      <a:r>
                        <a:rPr sz="1400" b="0">
                          <a:solidFill>
                            <a:srgbClr val="41525B"/>
                          </a:solidFill>
                          <a:latin typeface="Calibri"/>
                        </a:rPr>
                        <a:t>98.14 %</a:t>
                      </a:r>
                    </a:p>
                  </a:txBody>
                  <a:tcPr marL="73152" marR="73152" marT="27432" marB="27432" anchor="ctr">
                    <a:solidFill>
                      <a:srgbClr val="F5F9FA"/>
                    </a:solidFill>
                  </a:tcPr>
                </a:tc>
                <a:tc>
                  <a:txBody>
                    <a:bodyPr wrap="square"/>
                    <a:lstStyle/>
                    <a:p>
                      <a:pPr algn="ctr"/>
                      <a:r>
                        <a:rPr sz="1400" b="0">
                          <a:solidFill>
                            <a:srgbClr val="41525B"/>
                          </a:solidFill>
                          <a:latin typeface="Calibri"/>
                        </a:rPr>
                        <a:t>0.96</a:t>
                      </a:r>
                    </a:p>
                  </a:txBody>
                  <a:tcPr marL="73152" marR="73152" marT="27432" marB="27432" anchor="ctr">
                    <a:solidFill>
                      <a:srgbClr val="F5F9FA"/>
                    </a:solidFill>
                  </a:tcPr>
                </a:tc>
              </a:tr>
              <a:tr h="457200">
                <a:tc>
                  <a:txBody>
                    <a:bodyPr wrap="square"/>
                    <a:lstStyle/>
                    <a:p>
                      <a:r>
                        <a:rPr sz="1400" b="1">
                          <a:solidFill>
                            <a:srgbClr val="17262E"/>
                          </a:solidFill>
                          <a:latin typeface="Calibri"/>
                        </a:rPr>
                        <a:t>Fold 3</a:t>
                      </a:r>
                    </a:p>
                  </a:txBody>
                  <a:tcPr marL="73152" marR="73152" marT="27432" marB="27432" anchor="ctr">
                    <a:solidFill>
                      <a:srgbClr val="FFFFFF"/>
                    </a:solidFill>
                  </a:tcPr>
                </a:tc>
                <a:tc>
                  <a:txBody>
                    <a:bodyPr wrap="square"/>
                    <a:lstStyle/>
                    <a:p>
                      <a:pPr algn="ctr"/>
                      <a:r>
                        <a:rPr sz="1400" b="0">
                          <a:solidFill>
                            <a:srgbClr val="41525B"/>
                          </a:solidFill>
                          <a:latin typeface="Calibri"/>
                        </a:rPr>
                        <a:t>10</a:t>
                      </a:r>
                    </a:p>
                  </a:txBody>
                  <a:tcPr marL="73152" marR="73152" marT="27432" marB="27432" anchor="ctr">
                    <a:solidFill>
                      <a:srgbClr val="FFFFFF"/>
                    </a:solidFill>
                  </a:tcPr>
                </a:tc>
                <a:tc>
                  <a:txBody>
                    <a:bodyPr wrap="square"/>
                    <a:lstStyle/>
                    <a:p>
                      <a:pPr algn="ctr"/>
                      <a:r>
                        <a:rPr sz="1400" b="0">
                          <a:solidFill>
                            <a:srgbClr val="41525B"/>
                          </a:solidFill>
                          <a:latin typeface="Calibri"/>
                        </a:rPr>
                        <a:t>21.7</a:t>
                      </a:r>
                    </a:p>
                  </a:txBody>
                  <a:tcPr marL="73152" marR="73152" marT="27432" marB="27432" anchor="ctr">
                    <a:solidFill>
                      <a:srgbClr val="FFFFFF"/>
                    </a:solidFill>
                  </a:tcPr>
                </a:tc>
                <a:tc>
                  <a:txBody>
                    <a:bodyPr wrap="square"/>
                    <a:lstStyle/>
                    <a:p>
                      <a:pPr algn="ctr"/>
                      <a:r>
                        <a:rPr sz="1400" b="0">
                          <a:solidFill>
                            <a:srgbClr val="41525B"/>
                          </a:solidFill>
                          <a:latin typeface="Calibri"/>
                        </a:rPr>
                        <a:t>97.54 %</a:t>
                      </a:r>
                    </a:p>
                  </a:txBody>
                  <a:tcPr marL="73152" marR="73152" marT="27432" marB="27432" anchor="ctr">
                    <a:solidFill>
                      <a:srgbClr val="FFFFFF"/>
                    </a:solidFill>
                  </a:tcPr>
                </a:tc>
                <a:tc>
                  <a:txBody>
                    <a:bodyPr wrap="square"/>
                    <a:lstStyle/>
                    <a:p>
                      <a:pPr algn="ctr"/>
                      <a:r>
                        <a:rPr sz="1400" b="0">
                          <a:solidFill>
                            <a:srgbClr val="41525B"/>
                          </a:solidFill>
                          <a:latin typeface="Calibri"/>
                        </a:rPr>
                        <a:t>97.18 %</a:t>
                      </a:r>
                    </a:p>
                  </a:txBody>
                  <a:tcPr marL="73152" marR="73152" marT="27432" marB="27432" anchor="ctr">
                    <a:solidFill>
                      <a:srgbClr val="FFFFFF"/>
                    </a:solidFill>
                  </a:tcPr>
                </a:tc>
                <a:tc>
                  <a:txBody>
                    <a:bodyPr wrap="square"/>
                    <a:lstStyle/>
                    <a:p>
                      <a:pPr algn="ctr"/>
                      <a:r>
                        <a:rPr sz="1400" b="0">
                          <a:solidFill>
                            <a:srgbClr val="41525B"/>
                          </a:solidFill>
                          <a:latin typeface="Calibri"/>
                        </a:rPr>
                        <a:t>97.89 %</a:t>
                      </a:r>
                    </a:p>
                  </a:txBody>
                  <a:tcPr marL="73152" marR="73152" marT="27432" marB="27432" anchor="ctr">
                    <a:solidFill>
                      <a:srgbClr val="FFFFFF"/>
                    </a:solidFill>
                  </a:tcPr>
                </a:tc>
                <a:tc>
                  <a:txBody>
                    <a:bodyPr wrap="square"/>
                    <a:lstStyle/>
                    <a:p>
                      <a:pPr algn="ctr"/>
                      <a:r>
                        <a:rPr sz="1400" b="0">
                          <a:solidFill>
                            <a:srgbClr val="41525B"/>
                          </a:solidFill>
                          <a:latin typeface="Calibri"/>
                        </a:rPr>
                        <a:t>0.95</a:t>
                      </a:r>
                    </a:p>
                  </a:txBody>
                  <a:tcPr marL="73152" marR="73152" marT="27432" marB="27432" anchor="ctr">
                    <a:solidFill>
                      <a:srgbClr val="FFFFFF"/>
                    </a:solidFill>
                  </a:tcPr>
                </a:tc>
              </a:tr>
              <a:tr h="457200">
                <a:tc>
                  <a:txBody>
                    <a:bodyPr wrap="square"/>
                    <a:lstStyle/>
                    <a:p>
                      <a:r>
                        <a:rPr sz="1400" b="1">
                          <a:solidFill>
                            <a:srgbClr val="137C8E"/>
                          </a:solidFill>
                          <a:latin typeface="Calibri"/>
                        </a:rPr>
                        <a:t>Mean ± SD</a:t>
                      </a:r>
                    </a:p>
                  </a:txBody>
                  <a:tcPr marL="73152" marR="73152" marT="27432" marB="27432" anchor="ctr">
                    <a:solidFill>
                      <a:srgbClr val="EAF3F5"/>
                    </a:solidFill>
                  </a:tcPr>
                </a:tc>
                <a:tc>
                  <a:txBody>
                    <a:bodyPr wrap="square"/>
                    <a:lstStyle/>
                    <a:p>
                      <a:pPr algn="ctr"/>
                      <a:r>
                        <a:rPr sz="1400" b="1">
                          <a:solidFill>
                            <a:srgbClr val="137C8E"/>
                          </a:solidFill>
                          <a:latin typeface="Calibri"/>
                        </a:rPr>
                        <a:t>—</a:t>
                      </a:r>
                    </a:p>
                  </a:txBody>
                  <a:tcPr marL="73152" marR="73152" marT="27432" marB="27432" anchor="ctr">
                    <a:solidFill>
                      <a:srgbClr val="EAF3F5"/>
                    </a:solidFill>
                  </a:tcPr>
                </a:tc>
                <a:tc>
                  <a:txBody>
                    <a:bodyPr wrap="square"/>
                    <a:lstStyle/>
                    <a:p>
                      <a:pPr algn="ctr"/>
                      <a:r>
                        <a:rPr sz="1400" b="1">
                          <a:solidFill>
                            <a:srgbClr val="137C8E"/>
                          </a:solidFill>
                          <a:latin typeface="Calibri"/>
                        </a:rPr>
                        <a:t>—</a:t>
                      </a:r>
                    </a:p>
                  </a:txBody>
                  <a:tcPr marL="73152" marR="73152" marT="27432" marB="27432" anchor="ctr">
                    <a:solidFill>
                      <a:srgbClr val="EAF3F5"/>
                    </a:solidFill>
                  </a:tcPr>
                </a:tc>
                <a:tc>
                  <a:txBody>
                    <a:bodyPr wrap="square"/>
                    <a:lstStyle/>
                    <a:p>
                      <a:pPr algn="ctr"/>
                      <a:r>
                        <a:rPr sz="1400" b="1">
                          <a:solidFill>
                            <a:srgbClr val="137C8E"/>
                          </a:solidFill>
                          <a:latin typeface="Calibri"/>
                        </a:rPr>
                        <a:t>97.38 ± 0.74 %</a:t>
                      </a:r>
                    </a:p>
                  </a:txBody>
                  <a:tcPr marL="73152" marR="73152" marT="27432" marB="27432" anchor="ctr">
                    <a:solidFill>
                      <a:srgbClr val="EAF3F5"/>
                    </a:solidFill>
                  </a:tcPr>
                </a:tc>
                <a:tc>
                  <a:txBody>
                    <a:bodyPr wrap="square"/>
                    <a:lstStyle/>
                    <a:p>
                      <a:pPr algn="ctr"/>
                      <a:r>
                        <a:rPr sz="1400" b="1">
                          <a:solidFill>
                            <a:srgbClr val="137C8E"/>
                          </a:solidFill>
                          <a:latin typeface="Calibri"/>
                        </a:rPr>
                        <a:t>96.64 ± 1.60 %</a:t>
                      </a:r>
                    </a:p>
                  </a:txBody>
                  <a:tcPr marL="73152" marR="73152" marT="27432" marB="27432" anchor="ctr">
                    <a:solidFill>
                      <a:srgbClr val="EAF3F5"/>
                    </a:solidFill>
                  </a:tcPr>
                </a:tc>
                <a:tc>
                  <a:txBody>
                    <a:bodyPr wrap="square"/>
                    <a:lstStyle/>
                    <a:p>
                      <a:pPr algn="ctr"/>
                      <a:r>
                        <a:rPr sz="1400" b="1">
                          <a:solidFill>
                            <a:srgbClr val="137C8E"/>
                          </a:solidFill>
                          <a:latin typeface="Calibri"/>
                        </a:rPr>
                        <a:t>98.09 ± 0.18 %</a:t>
                      </a:r>
                    </a:p>
                  </a:txBody>
                  <a:tcPr marL="73152" marR="73152" marT="27432" marB="27432" anchor="ctr">
                    <a:solidFill>
                      <a:srgbClr val="EAF3F5"/>
                    </a:solidFill>
                  </a:tcPr>
                </a:tc>
                <a:tc>
                  <a:txBody>
                    <a:bodyPr wrap="square"/>
                    <a:lstStyle/>
                    <a:p>
                      <a:pPr algn="ctr"/>
                      <a:r>
                        <a:rPr sz="1400" b="1">
                          <a:solidFill>
                            <a:srgbClr val="137C8E"/>
                          </a:solidFill>
                          <a:latin typeface="Calibri"/>
                        </a:rPr>
                        <a:t>0.95 ± 0.01</a:t>
                      </a:r>
                    </a:p>
                  </a:txBody>
                  <a:tcPr marL="73152" marR="73152" marT="27432" marB="27432" anchor="ctr">
                    <a:solidFill>
                      <a:srgbClr val="EAF3F5"/>
                    </a:solidFill>
                  </a:tcPr>
                </a:tc>
              </a:tr>
            </a:tbl>
          </a:graphicData>
        </a:graphic>
      </p:graphicFrame>
      <p:sp>
        <p:nvSpPr>
          <p:cNvPr id="7" name="Shape 15"/>
          <p:cNvSpPr/>
          <p:nvPr/>
        </p:nvSpPr>
        <p:spPr>
          <a:xfrm>
            <a:off x="548640" y="4846320"/>
            <a:ext cx="11091672" cy="868680"/>
          </a:xfrm>
          <a:prstGeom prst="roundRect">
            <a:avLst>
              <a:gd name="adj" fmla="val 10526"/>
            </a:avLst>
          </a:prstGeom>
          <a:solidFill>
            <a:srgbClr val="0F2E3D"/>
          </a:solidFill>
          <a:ln/>
        </p:spPr>
        <p:txBody>
          <a:bodyPr/>
          <a:p/>
        </p:txBody>
      </p:sp>
      <p:sp>
        <p:nvSpPr>
          <p:cNvPr id="8" name="Shape 16"/>
          <p:cNvSpPr/>
          <p:nvPr/>
        </p:nvSpPr>
        <p:spPr>
          <a:xfrm>
            <a:off x="905256" y="4946904"/>
            <a:ext cx="658368" cy="658368"/>
          </a:xfrm>
          <a:prstGeom prst="ellipse">
            <a:avLst/>
          </a:prstGeom>
          <a:solidFill>
            <a:srgbClr val="D99A00"/>
          </a:solidFill>
          <a:ln/>
        </p:spPr>
        <p:txBody>
          <a:bodyPr/>
          <a:p/>
        </p:txBody>
      </p:sp>
      <p:sp>
        <p:nvSpPr>
          <p:cNvPr id="9" name="Text 17"/>
          <p:cNvSpPr txBox="1"/>
          <p:nvPr/>
        </p:nvSpPr>
        <p:spPr>
          <a:xfrm>
            <a:off x="1783080" y="4846320"/>
            <a:ext cx="9601200" cy="868680"/>
          </a:xfrm>
          <a:prstGeom prst="rect">
            <a:avLst/>
          </a:prstGeom>
          <a:noFill/>
          <a:ln/>
        </p:spPr>
        <p:txBody>
          <a:bodyPr wrap="square" lIns="0" tIns="0" rIns="0" bIns="0" rtlCol="0" anchor="ctr"/>
          <a:lstStyle/>
          <a:p>
            <a:pPr indent="0" marL="0">
              <a:lnSpc>
                <a:spcPct val="105000"/>
              </a:lnSpc>
              <a:buNone/>
            </a:pPr>
            <a:r>
              <a:rPr lang="en-US" sz="1550" b="1" dirty="0">
                <a:solidFill>
                  <a:srgbClr val="2EA79B"/>
                </a:solidFill>
                <a:latin typeface="Calibri" pitchFamily="34" charset="0"/>
                <a:ea typeface="Calibri" pitchFamily="34" charset="-122"/>
                <a:cs typeface="Calibri" pitchFamily="34" charset="-120"/>
              </a:rPr>
              <a:t>Fold 1 is the weakest:  </a:t>
            </a:r>
            <a:pPr indent="0" marL="0">
              <a:lnSpc>
                <a:spcPct val="105000"/>
              </a:lnSpc>
              <a:buNone/>
            </a:pPr>
            <a:r>
              <a:rPr lang="en-US" sz="1550" dirty="0">
                <a:solidFill>
                  <a:srgbClr val="E8F2F4"/>
                </a:solidFill>
                <a:latin typeface="Calibri" pitchFamily="34" charset="0"/>
                <a:ea typeface="Calibri" pitchFamily="34" charset="-122"/>
                <a:cs typeface="Calibri" pitchFamily="34" charset="-120"/>
              </a:rPr>
              <a:t>recall 94.84 % (64 missed infected cells) vs. 97.90 % and 97.18 % on the other two folds.</a:t>
            </a:r>
            <a:endParaRPr lang="en-US" sz="1550" dirty="0"/>
          </a:p>
        </p:txBody>
      </p:sp>
      <p:pic>
        <p:nvPicPr>
          <p:cNvPr id="10" name="Picture 12" descr="image.png"/>
          <p:cNvPicPr>
            <a:picLocks noChangeAspect="1"/>
          </p:cNvPicPr>
          <p:nvPr/>
        </p:nvPicPr>
        <p:blipFill>
          <a:blip r:embed="rId2"/>
          <a:stretch>
            <a:fillRect/>
          </a:stretch>
        </p:blipFill>
        <p:spPr>
          <a:xfrm>
            <a:off x="1092708" y="5134356"/>
            <a:ext cx="283464" cy="283464"/>
          </a:xfrm>
          <a:prstGeom prst="rect">
            <a:avLst/>
          </a:prstGeom>
        </p:spPr>
      </p:pic>
      <p:sp>
        <p:nvSpPr>
          <p:cNvPr id="11" name="TextBox 10"/>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12" name="TextBox 11"/>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1109960" y="320040"/>
            <a:ext cx="1005840" cy="1005840"/>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475720" y="6172200"/>
            <a:ext cx="822960" cy="822960"/>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40080" y="502920"/>
            <a:ext cx="2377440" cy="402336"/>
          </a:xfrm>
          <a:prstGeom prst="roundRect">
            <a:avLst>
              <a:gd name="adj" fmla="val 50000"/>
            </a:avLst>
          </a:prstGeom>
          <a:solidFill>
            <a:srgbClr val="D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502920"/>
            <a:ext cx="2377440" cy="402336"/>
          </a:xfrm>
          <a:prstGeom prst="rect">
            <a:avLst/>
          </a:prstGeom>
          <a:noFill/>
        </p:spPr>
        <p:txBody>
          <a:bodyPr wrap="square" lIns="0" rIns="0" tIns="0" bIns="0" anchor="ctr">
            <a:spAutoFit/>
          </a:bodyPr>
          <a:lstStyle/>
          <a:p>
            <a:pPr algn="ctr"/>
            <a:r>
              <a:rPr sz="1250" b="1" i="0">
                <a:solidFill>
                  <a:srgbClr val="3A2A00"/>
                </a:solidFill>
                <a:latin typeface="Calibri"/>
              </a:rPr>
              <a:t>★ OUR HYPOTHESIS</a:t>
            </a:r>
          </a:p>
        </p:txBody>
      </p:sp>
      <p:sp>
        <p:nvSpPr>
          <p:cNvPr id="6" name="TextBox 5"/>
          <p:cNvSpPr txBox="1"/>
          <p:nvPr/>
        </p:nvSpPr>
        <p:spPr>
          <a:xfrm>
            <a:off x="640080" y="1024128"/>
            <a:ext cx="10972800" cy="640080"/>
          </a:xfrm>
          <a:prstGeom prst="rect">
            <a:avLst/>
          </a:prstGeom>
          <a:noFill/>
        </p:spPr>
        <p:txBody>
          <a:bodyPr wrap="square" lIns="0" rIns="0" tIns="0" bIns="0" anchor="t">
            <a:spAutoFit/>
          </a:bodyPr>
          <a:lstStyle/>
          <a:p>
            <a:pPr algn="l"/>
            <a:r>
              <a:rPr sz="3000" b="1" i="0">
                <a:solidFill>
                  <a:srgbClr val="FFFFFF"/>
                </a:solidFill>
                <a:latin typeface="Cambria"/>
              </a:rPr>
              <a:t>Two proposed changes, one variable at a time</a:t>
            </a:r>
          </a:p>
        </p:txBody>
      </p:sp>
      <p:sp>
        <p:nvSpPr>
          <p:cNvPr id="7" name="Rounded Rectangle 6"/>
          <p:cNvSpPr/>
          <p:nvPr/>
        </p:nvSpPr>
        <p:spPr>
          <a:xfrm>
            <a:off x="640080" y="1828800"/>
            <a:ext cx="5468112" cy="393192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4400" y="2057400"/>
            <a:ext cx="731520" cy="731520"/>
          </a:xfrm>
          <a:prstGeom prst="ellipse">
            <a:avLst/>
          </a:prstGeom>
          <a:solidFill>
            <a:srgbClr val="CC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mage.png"/>
          <p:cNvPicPr>
            <a:picLocks noChangeAspect="1"/>
          </p:cNvPicPr>
          <p:nvPr/>
        </p:nvPicPr>
        <p:blipFill>
          <a:blip r:embed="rId2"/>
          <a:stretch>
            <a:fillRect/>
          </a:stretch>
        </p:blipFill>
        <p:spPr>
          <a:xfrm>
            <a:off x="1097280" y="2240280"/>
            <a:ext cx="365760" cy="365760"/>
          </a:xfrm>
          <a:prstGeom prst="rect">
            <a:avLst/>
          </a:prstGeom>
        </p:spPr>
      </p:pic>
      <p:sp>
        <p:nvSpPr>
          <p:cNvPr id="10" name="TextBox 9"/>
          <p:cNvSpPr txBox="1"/>
          <p:nvPr/>
        </p:nvSpPr>
        <p:spPr>
          <a:xfrm>
            <a:off x="1828800" y="2048256"/>
            <a:ext cx="4069080" cy="274320"/>
          </a:xfrm>
          <a:prstGeom prst="rect">
            <a:avLst/>
          </a:prstGeom>
          <a:noFill/>
        </p:spPr>
        <p:txBody>
          <a:bodyPr wrap="square" lIns="0" rIns="0" tIns="0" bIns="0" anchor="t">
            <a:spAutoFit/>
          </a:bodyPr>
          <a:lstStyle/>
          <a:p>
            <a:pPr algn="l"/>
            <a:r>
              <a:rPr sz="1100" b="1" i="0">
                <a:solidFill>
                  <a:srgbClr val="9FC0C9"/>
                </a:solidFill>
                <a:latin typeface="Calibri"/>
              </a:rPr>
              <a:t>H1 · VALIDATION</a:t>
            </a:r>
          </a:p>
        </p:txBody>
      </p:sp>
      <p:sp>
        <p:nvSpPr>
          <p:cNvPr id="11" name="TextBox 10"/>
          <p:cNvSpPr txBox="1"/>
          <p:nvPr/>
        </p:nvSpPr>
        <p:spPr>
          <a:xfrm>
            <a:off x="1828800" y="2304288"/>
            <a:ext cx="4114800" cy="502920"/>
          </a:xfrm>
          <a:prstGeom prst="rect">
            <a:avLst/>
          </a:prstGeom>
          <a:noFill/>
        </p:spPr>
        <p:txBody>
          <a:bodyPr wrap="square" lIns="0" rIns="0" tIns="0" bIns="0" anchor="t">
            <a:spAutoFit/>
          </a:bodyPr>
          <a:lstStyle/>
          <a:p>
            <a:pPr algn="l"/>
            <a:r>
              <a:rPr sz="1650" b="1" i="0">
                <a:solidFill>
                  <a:srgbClr val="FFFFFF"/>
                </a:solidFill>
                <a:latin typeface="Cambria"/>
              </a:rPr>
              <a:t>Leakage-free, slide-grouped split</a:t>
            </a:r>
          </a:p>
        </p:txBody>
      </p:sp>
      <p:sp>
        <p:nvSpPr>
          <p:cNvPr id="12" name="TextBox 11"/>
          <p:cNvSpPr txBox="1"/>
          <p:nvPr/>
        </p:nvSpPr>
        <p:spPr>
          <a:xfrm>
            <a:off x="932688" y="3017520"/>
            <a:ext cx="1188720" cy="274320"/>
          </a:xfrm>
          <a:prstGeom prst="rect">
            <a:avLst/>
          </a:prstGeom>
          <a:noFill/>
        </p:spPr>
        <p:txBody>
          <a:bodyPr wrap="square" lIns="0" rIns="0" tIns="0" bIns="0" anchor="t">
            <a:spAutoFit/>
          </a:bodyPr>
          <a:lstStyle/>
          <a:p>
            <a:pPr algn="l"/>
            <a:r>
              <a:rPr sz="1050" b="1" i="0">
                <a:solidFill>
                  <a:srgbClr val="9FC0C9"/>
                </a:solidFill>
                <a:latin typeface="Calibri"/>
              </a:rPr>
              <a:t>CHANGE</a:t>
            </a:r>
          </a:p>
        </p:txBody>
      </p:sp>
      <p:sp>
        <p:nvSpPr>
          <p:cNvPr id="13" name="TextBox 12"/>
          <p:cNvSpPr txBox="1"/>
          <p:nvPr/>
        </p:nvSpPr>
        <p:spPr>
          <a:xfrm>
            <a:off x="2057400" y="2990088"/>
            <a:ext cx="3840480" cy="868680"/>
          </a:xfrm>
          <a:prstGeom prst="rect">
            <a:avLst/>
          </a:prstGeom>
          <a:noFill/>
        </p:spPr>
        <p:txBody>
          <a:bodyPr wrap="square" lIns="0" rIns="0" tIns="0" bIns="0" anchor="t">
            <a:spAutoFit/>
          </a:bodyPr>
          <a:lstStyle/>
          <a:p>
            <a:pPr algn="l"/>
            <a:r>
              <a:rPr sz="1200" b="0" i="0">
                <a:solidFill>
                  <a:srgbClr val="D5E6EA"/>
                </a:solidFill>
                <a:latin typeface="Calibri"/>
              </a:rPr>
              <a:t>Split by slide/patient (StratifiedGroupKFold) instead of random images. Model unchanged.</a:t>
            </a:r>
          </a:p>
        </p:txBody>
      </p:sp>
      <p:sp>
        <p:nvSpPr>
          <p:cNvPr id="14" name="TextBox 13"/>
          <p:cNvSpPr txBox="1"/>
          <p:nvPr/>
        </p:nvSpPr>
        <p:spPr>
          <a:xfrm>
            <a:off x="932688" y="3913631"/>
            <a:ext cx="1188720" cy="274320"/>
          </a:xfrm>
          <a:prstGeom prst="rect">
            <a:avLst/>
          </a:prstGeom>
          <a:noFill/>
        </p:spPr>
        <p:txBody>
          <a:bodyPr wrap="square" lIns="0" rIns="0" tIns="0" bIns="0" anchor="t">
            <a:spAutoFit/>
          </a:bodyPr>
          <a:lstStyle/>
          <a:p>
            <a:pPr algn="l"/>
            <a:r>
              <a:rPr sz="1050" b="1" i="0">
                <a:solidFill>
                  <a:srgbClr val="D99A00"/>
                </a:solidFill>
                <a:latin typeface="Calibri"/>
              </a:rPr>
              <a:t>WE EXPECT</a:t>
            </a:r>
          </a:p>
        </p:txBody>
      </p:sp>
      <p:sp>
        <p:nvSpPr>
          <p:cNvPr id="15" name="TextBox 14"/>
          <p:cNvSpPr txBox="1"/>
          <p:nvPr/>
        </p:nvSpPr>
        <p:spPr>
          <a:xfrm>
            <a:off x="2057400" y="3886199"/>
            <a:ext cx="3840480" cy="868680"/>
          </a:xfrm>
          <a:prstGeom prst="rect">
            <a:avLst/>
          </a:prstGeom>
          <a:noFill/>
        </p:spPr>
        <p:txBody>
          <a:bodyPr wrap="square" lIns="0" rIns="0" tIns="0" bIns="0" anchor="t">
            <a:spAutoFit/>
          </a:bodyPr>
          <a:lstStyle/>
          <a:p>
            <a:pPr algn="l"/>
            <a:r>
              <a:rPr sz="1200" b="1" i="0">
                <a:solidFill>
                  <a:srgbClr val="FFFFFF"/>
                </a:solidFill>
                <a:latin typeface="Calibri"/>
              </a:rPr>
              <a:t>Accuracy and MCC fall below the image-split baseline, and fold-to-fold spread widens.</a:t>
            </a:r>
          </a:p>
        </p:txBody>
      </p:sp>
      <p:sp>
        <p:nvSpPr>
          <p:cNvPr id="16" name="TextBox 15"/>
          <p:cNvSpPr txBox="1"/>
          <p:nvPr/>
        </p:nvSpPr>
        <p:spPr>
          <a:xfrm>
            <a:off x="932688" y="4809744"/>
            <a:ext cx="1188720" cy="274320"/>
          </a:xfrm>
          <a:prstGeom prst="rect">
            <a:avLst/>
          </a:prstGeom>
          <a:noFill/>
        </p:spPr>
        <p:txBody>
          <a:bodyPr wrap="square" lIns="0" rIns="0" tIns="0" bIns="0" anchor="t">
            <a:spAutoFit/>
          </a:bodyPr>
          <a:lstStyle/>
          <a:p>
            <a:pPr algn="l"/>
            <a:r>
              <a:rPr sz="1050" b="1" i="0">
                <a:solidFill>
                  <a:srgbClr val="9FC0C9"/>
                </a:solidFill>
                <a:latin typeface="Calibri"/>
              </a:rPr>
              <a:t>BECAUSE</a:t>
            </a:r>
          </a:p>
        </p:txBody>
      </p:sp>
      <p:sp>
        <p:nvSpPr>
          <p:cNvPr id="17" name="TextBox 16"/>
          <p:cNvSpPr txBox="1"/>
          <p:nvPr/>
        </p:nvSpPr>
        <p:spPr>
          <a:xfrm>
            <a:off x="2057400" y="4782312"/>
            <a:ext cx="3840480" cy="868680"/>
          </a:xfrm>
          <a:prstGeom prst="rect">
            <a:avLst/>
          </a:prstGeom>
          <a:noFill/>
        </p:spPr>
        <p:txBody>
          <a:bodyPr wrap="square" lIns="0" rIns="0" tIns="0" bIns="0" anchor="t">
            <a:spAutoFit/>
          </a:bodyPr>
          <a:lstStyle/>
          <a:p>
            <a:pPr algn="l"/>
            <a:r>
              <a:rPr sz="1200" b="0" i="0">
                <a:solidFill>
                  <a:srgbClr val="D5E6EA"/>
                </a:solidFill>
                <a:latin typeface="Calibri"/>
              </a:rPr>
              <a:t>Cells from one slide share stain, lighting and the patient's cell shape. A random split lets the model recognise the slide rather than the parasite.</a:t>
            </a:r>
          </a:p>
        </p:txBody>
      </p:sp>
      <p:sp>
        <p:nvSpPr>
          <p:cNvPr id="18" name="Rounded Rectangle 17"/>
          <p:cNvSpPr/>
          <p:nvPr/>
        </p:nvSpPr>
        <p:spPr>
          <a:xfrm>
            <a:off x="6345936" y="1828800"/>
            <a:ext cx="5468112" cy="3931920"/>
          </a:xfrm>
          <a:prstGeom prst="roundRect">
            <a:avLst>
              <a:gd name="adj" fmla="val 6000"/>
            </a:avLst>
          </a:prstGeom>
          <a:solidFill>
            <a:srgbClr val="15455A"/>
          </a:solidFill>
          <a:ln w="12700">
            <a:solidFill>
              <a:srgbClr val="0E62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620256" y="2057400"/>
            <a:ext cx="731520" cy="731520"/>
          </a:xfrm>
          <a:prstGeom prst="ellipse">
            <a:avLst/>
          </a:prstGeom>
          <a:solidFill>
            <a:srgbClr val="2EA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png"/>
          <p:cNvPicPr>
            <a:picLocks noChangeAspect="1"/>
          </p:cNvPicPr>
          <p:nvPr/>
        </p:nvPicPr>
        <p:blipFill>
          <a:blip r:embed="rId3"/>
          <a:stretch>
            <a:fillRect/>
          </a:stretch>
        </p:blipFill>
        <p:spPr>
          <a:xfrm>
            <a:off x="6803136" y="2240280"/>
            <a:ext cx="365760" cy="365760"/>
          </a:xfrm>
          <a:prstGeom prst="rect">
            <a:avLst/>
          </a:prstGeom>
        </p:spPr>
      </p:pic>
      <p:sp>
        <p:nvSpPr>
          <p:cNvPr id="21" name="TextBox 20"/>
          <p:cNvSpPr txBox="1"/>
          <p:nvPr/>
        </p:nvSpPr>
        <p:spPr>
          <a:xfrm>
            <a:off x="7534656" y="2048256"/>
            <a:ext cx="4069080" cy="274320"/>
          </a:xfrm>
          <a:prstGeom prst="rect">
            <a:avLst/>
          </a:prstGeom>
          <a:noFill/>
        </p:spPr>
        <p:txBody>
          <a:bodyPr wrap="square" lIns="0" rIns="0" tIns="0" bIns="0" anchor="t">
            <a:spAutoFit/>
          </a:bodyPr>
          <a:lstStyle/>
          <a:p>
            <a:pPr algn="l"/>
            <a:r>
              <a:rPr sz="1100" b="1" i="0">
                <a:solidFill>
                  <a:srgbClr val="9FC0C9"/>
                </a:solidFill>
                <a:latin typeface="Calibri"/>
              </a:rPr>
              <a:t>H2 · PREPROCESSING</a:t>
            </a:r>
          </a:p>
        </p:txBody>
      </p:sp>
      <p:sp>
        <p:nvSpPr>
          <p:cNvPr id="22" name="TextBox 21"/>
          <p:cNvSpPr txBox="1"/>
          <p:nvPr/>
        </p:nvSpPr>
        <p:spPr>
          <a:xfrm>
            <a:off x="7534656" y="2304288"/>
            <a:ext cx="4114800" cy="502920"/>
          </a:xfrm>
          <a:prstGeom prst="rect">
            <a:avLst/>
          </a:prstGeom>
          <a:noFill/>
        </p:spPr>
        <p:txBody>
          <a:bodyPr wrap="square" lIns="0" rIns="0" tIns="0" bIns="0" anchor="t">
            <a:spAutoFit/>
          </a:bodyPr>
          <a:lstStyle/>
          <a:p>
            <a:pPr algn="l"/>
            <a:r>
              <a:rPr sz="1650" b="1" i="0">
                <a:solidFill>
                  <a:srgbClr val="FFFFFF"/>
                </a:solidFill>
                <a:latin typeface="Cambria"/>
              </a:rPr>
              <a:t>YUV stain normalisation (Umer [4])</a:t>
            </a:r>
          </a:p>
        </p:txBody>
      </p:sp>
      <p:sp>
        <p:nvSpPr>
          <p:cNvPr id="23" name="TextBox 22"/>
          <p:cNvSpPr txBox="1"/>
          <p:nvPr/>
        </p:nvSpPr>
        <p:spPr>
          <a:xfrm>
            <a:off x="6638544" y="3017520"/>
            <a:ext cx="1188720" cy="274320"/>
          </a:xfrm>
          <a:prstGeom prst="rect">
            <a:avLst/>
          </a:prstGeom>
          <a:noFill/>
        </p:spPr>
        <p:txBody>
          <a:bodyPr wrap="square" lIns="0" rIns="0" tIns="0" bIns="0" anchor="t">
            <a:spAutoFit/>
          </a:bodyPr>
          <a:lstStyle/>
          <a:p>
            <a:pPr algn="l"/>
            <a:r>
              <a:rPr sz="1050" b="1" i="0">
                <a:solidFill>
                  <a:srgbClr val="9FC0C9"/>
                </a:solidFill>
                <a:latin typeface="Calibri"/>
              </a:rPr>
              <a:t>CHANGE</a:t>
            </a:r>
          </a:p>
        </p:txBody>
      </p:sp>
      <p:sp>
        <p:nvSpPr>
          <p:cNvPr id="24" name="TextBox 23"/>
          <p:cNvSpPr txBox="1"/>
          <p:nvPr/>
        </p:nvSpPr>
        <p:spPr>
          <a:xfrm>
            <a:off x="7763256" y="2990088"/>
            <a:ext cx="3840480" cy="868680"/>
          </a:xfrm>
          <a:prstGeom prst="rect">
            <a:avLst/>
          </a:prstGeom>
          <a:noFill/>
        </p:spPr>
        <p:txBody>
          <a:bodyPr wrap="square" lIns="0" rIns="0" tIns="0" bIns="0" anchor="t">
            <a:spAutoFit/>
          </a:bodyPr>
          <a:lstStyle/>
          <a:p>
            <a:pPr algn="l"/>
            <a:r>
              <a:rPr sz="1200" b="0" i="0">
                <a:solidFill>
                  <a:srgbClr val="D5E6EA"/>
                </a:solidFill>
                <a:latin typeface="Calibri"/>
              </a:rPr>
              <a:t>Add RGB → YUV → histogram-equalise Y → RGB before EfficientNet-B0. Grouped split kept fixed.</a:t>
            </a:r>
          </a:p>
        </p:txBody>
      </p:sp>
      <p:sp>
        <p:nvSpPr>
          <p:cNvPr id="25" name="TextBox 24"/>
          <p:cNvSpPr txBox="1"/>
          <p:nvPr/>
        </p:nvSpPr>
        <p:spPr>
          <a:xfrm>
            <a:off x="6638544" y="3913631"/>
            <a:ext cx="1188720" cy="274320"/>
          </a:xfrm>
          <a:prstGeom prst="rect">
            <a:avLst/>
          </a:prstGeom>
          <a:noFill/>
        </p:spPr>
        <p:txBody>
          <a:bodyPr wrap="square" lIns="0" rIns="0" tIns="0" bIns="0" anchor="t">
            <a:spAutoFit/>
          </a:bodyPr>
          <a:lstStyle/>
          <a:p>
            <a:pPr algn="l"/>
            <a:r>
              <a:rPr sz="1050" b="1" i="0">
                <a:solidFill>
                  <a:srgbClr val="D99A00"/>
                </a:solidFill>
                <a:latin typeface="Calibri"/>
              </a:rPr>
              <a:t>WE EXPECT</a:t>
            </a:r>
          </a:p>
        </p:txBody>
      </p:sp>
      <p:sp>
        <p:nvSpPr>
          <p:cNvPr id="26" name="TextBox 25"/>
          <p:cNvSpPr txBox="1"/>
          <p:nvPr/>
        </p:nvSpPr>
        <p:spPr>
          <a:xfrm>
            <a:off x="7763256" y="3886199"/>
            <a:ext cx="3840480" cy="868680"/>
          </a:xfrm>
          <a:prstGeom prst="rect">
            <a:avLst/>
          </a:prstGeom>
          <a:noFill/>
        </p:spPr>
        <p:txBody>
          <a:bodyPr wrap="square" lIns="0" rIns="0" tIns="0" bIns="0" anchor="t">
            <a:spAutoFit/>
          </a:bodyPr>
          <a:lstStyle/>
          <a:p>
            <a:pPr algn="l"/>
            <a:r>
              <a:rPr sz="1200" b="1" i="0">
                <a:solidFill>
                  <a:srgbClr val="FFFFFF"/>
                </a:solidFill>
                <a:latin typeface="Calibri"/>
              </a:rPr>
              <a:t>Higher recall and MCC than the H1 model on unseen slides; little change on the random split.</a:t>
            </a:r>
          </a:p>
        </p:txBody>
      </p:sp>
      <p:sp>
        <p:nvSpPr>
          <p:cNvPr id="27" name="TextBox 26"/>
          <p:cNvSpPr txBox="1"/>
          <p:nvPr/>
        </p:nvSpPr>
        <p:spPr>
          <a:xfrm>
            <a:off x="6638544" y="4809744"/>
            <a:ext cx="1188720" cy="274320"/>
          </a:xfrm>
          <a:prstGeom prst="rect">
            <a:avLst/>
          </a:prstGeom>
          <a:noFill/>
        </p:spPr>
        <p:txBody>
          <a:bodyPr wrap="square" lIns="0" rIns="0" tIns="0" bIns="0" anchor="t">
            <a:spAutoFit/>
          </a:bodyPr>
          <a:lstStyle/>
          <a:p>
            <a:pPr algn="l"/>
            <a:r>
              <a:rPr sz="1050" b="1" i="0">
                <a:solidFill>
                  <a:srgbClr val="9FC0C9"/>
                </a:solidFill>
                <a:latin typeface="Calibri"/>
              </a:rPr>
              <a:t>BECAUSE</a:t>
            </a:r>
          </a:p>
        </p:txBody>
      </p:sp>
      <p:sp>
        <p:nvSpPr>
          <p:cNvPr id="28" name="TextBox 27"/>
          <p:cNvSpPr txBox="1"/>
          <p:nvPr/>
        </p:nvSpPr>
        <p:spPr>
          <a:xfrm>
            <a:off x="7763256" y="4782312"/>
            <a:ext cx="3840480" cy="868680"/>
          </a:xfrm>
          <a:prstGeom prst="rect">
            <a:avLst/>
          </a:prstGeom>
          <a:noFill/>
        </p:spPr>
        <p:txBody>
          <a:bodyPr wrap="square" lIns="0" rIns="0" tIns="0" bIns="0" anchor="t">
            <a:spAutoFit/>
          </a:bodyPr>
          <a:lstStyle/>
          <a:p>
            <a:pPr algn="l"/>
            <a:r>
              <a:rPr sz="1200" b="0" i="0">
                <a:solidFill>
                  <a:srgbClr val="D5E6EA"/>
                </a:solidFill>
                <a:latin typeface="Calibri"/>
              </a:rPr>
              <a:t>Equalising brightness strips slide-specific colour cues, so the network has to rely on parasite morphology. That's the signal that carries across labs.</a:t>
            </a:r>
          </a:p>
        </p:txBody>
      </p:sp>
      <p:sp>
        <p:nvSpPr>
          <p:cNvPr id="29" name="TextBox 28"/>
          <p:cNvSpPr txBox="1"/>
          <p:nvPr/>
        </p:nvSpPr>
        <p:spPr>
          <a:xfrm>
            <a:off x="640080" y="5925312"/>
            <a:ext cx="10607040" cy="411480"/>
          </a:xfrm>
          <a:prstGeom prst="rect">
            <a:avLst/>
          </a:prstGeom>
          <a:noFill/>
        </p:spPr>
        <p:txBody>
          <a:bodyPr wrap="square" lIns="0" rIns="0" tIns="0" bIns="0" anchor="t">
            <a:spAutoFit/>
          </a:bodyPr>
          <a:lstStyle/>
          <a:p>
            <a:pPr algn="l"/>
            <a:r>
              <a:rPr sz="1250" b="1" i="0">
                <a:solidFill>
                  <a:srgbClr val="D99A00"/>
                </a:solidFill>
                <a:latin typeface="Calibri"/>
              </a:rPr>
              <a:t>Falsifiable:  </a:t>
            </a:r>
            <a:r>
              <a:rPr sz="1250" b="0" i="0">
                <a:solidFill>
                  <a:srgbClr val="CFE3E8"/>
                </a:solidFill>
                <a:latin typeface="Calibri"/>
              </a:rPr>
              <a:t>if H2's gain over H1 is smaller than the fold-to-fold standard deviation, we reject H2. If grouped and random splits score the same, H1 is rejected and leakage is not a real issue on this dataset.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64240" cy="274320"/>
          </a:xfrm>
          <a:prstGeom prst="rect">
            <a:avLst/>
          </a:prstGeom>
          <a:noFill/>
        </p:spPr>
        <p:txBody>
          <a:bodyPr wrap="square" lIns="0" rIns="0" tIns="0" bIns="0" anchor="t">
            <a:spAutoFit/>
          </a:bodyPr>
          <a:lstStyle/>
          <a:p>
            <a:pPr algn="l"/>
            <a:r>
              <a:rPr sz="1250" b="1" i="0">
                <a:solidFill>
                  <a:srgbClr val="137C8E"/>
                </a:solidFill>
                <a:latin typeface="Calibri"/>
              </a:rPr>
              <a:t>HOW WE WILL TEST IT</a:t>
            </a:r>
          </a:p>
        </p:txBody>
      </p:sp>
      <p:sp>
        <p:nvSpPr>
          <p:cNvPr id="3" name="TextBox 2"/>
          <p:cNvSpPr txBox="1"/>
          <p:nvPr/>
        </p:nvSpPr>
        <p:spPr>
          <a:xfrm>
            <a:off x="548640" y="749808"/>
            <a:ext cx="11064240" cy="658368"/>
          </a:xfrm>
          <a:prstGeom prst="rect">
            <a:avLst/>
          </a:prstGeom>
          <a:noFill/>
        </p:spPr>
        <p:txBody>
          <a:bodyPr wrap="square" lIns="0" rIns="0" tIns="0" bIns="0" anchor="t">
            <a:spAutoFit/>
          </a:bodyPr>
          <a:lstStyle/>
          <a:p>
            <a:pPr algn="l"/>
            <a:r>
              <a:rPr sz="3000" b="1" i="0">
                <a:solidFill>
                  <a:srgbClr val="17262E"/>
                </a:solidFill>
                <a:latin typeface="Cambria"/>
              </a:rPr>
              <a:t>Ablation plan &amp; success criteria</a:t>
            </a:r>
          </a:p>
        </p:txBody>
      </p:sp>
      <p:sp>
        <p:nvSpPr>
          <p:cNvPr id="4" name="TextBox 3"/>
          <p:cNvSpPr txBox="1"/>
          <p:nvPr/>
        </p:nvSpPr>
        <p:spPr>
          <a:xfrm>
            <a:off x="548640" y="1463040"/>
            <a:ext cx="11064240" cy="457200"/>
          </a:xfrm>
          <a:prstGeom prst="rect">
            <a:avLst/>
          </a:prstGeom>
          <a:noFill/>
        </p:spPr>
        <p:txBody>
          <a:bodyPr wrap="square" lIns="0" rIns="0" tIns="0" bIns="0" anchor="t">
            <a:spAutoFit/>
          </a:bodyPr>
          <a:lstStyle/>
          <a:p>
            <a:pPr algn="l"/>
            <a:r>
              <a:rPr sz="1550" b="0" i="0">
                <a:solidFill>
                  <a:srgbClr val="41525B"/>
                </a:solidFill>
                <a:latin typeface="Calibri"/>
              </a:rPr>
              <a:t>Each comparison changes exactly one thing (shown in brackets). Same seeds, epochs and folds throughout.</a:t>
            </a:r>
          </a:p>
        </p:txBody>
      </p:sp>
      <p:graphicFrame>
        <p:nvGraphicFramePr>
          <p:cNvPr id="5" name="Table 4"/>
          <p:cNvGraphicFramePr>
            <a:graphicFrameLocks noGrp="1"/>
          </p:cNvGraphicFramePr>
          <p:nvPr/>
        </p:nvGraphicFramePr>
        <p:xfrm>
          <a:off x="548640" y="2103120"/>
          <a:ext cx="11091672" cy="2560320"/>
        </p:xfrm>
        <a:graphic>
          <a:graphicData uri="http://schemas.openxmlformats.org/drawingml/2006/table">
            <a:tbl>
              <a:tblPr firstRow="1" bandRow="0">
                <a:tableStyleId>{5C22544A-7EE6-4342-B048-85BDC9FD1C3A}</a:tableStyleId>
              </a:tblPr>
              <a:tblGrid>
                <a:gridCol w="640080"/>
                <a:gridCol w="1920240"/>
                <a:gridCol w="1691640"/>
                <a:gridCol w="5468112"/>
                <a:gridCol w="1371600"/>
              </a:tblGrid>
              <a:tr h="512064">
                <a:tc>
                  <a:txBody>
                    <a:bodyPr wrap="square"/>
                    <a:lstStyle/>
                    <a:p>
                      <a:r>
                        <a:rPr sz="1250" b="1">
                          <a:solidFill>
                            <a:srgbClr val="FFFFFF"/>
                          </a:solidFill>
                          <a:latin typeface="Calibri"/>
                        </a:rPr>
                        <a:t>ID</a:t>
                      </a:r>
                    </a:p>
                  </a:txBody>
                  <a:tcPr marL="73152" marR="73152" marT="27432" marB="27432" anchor="ctr">
                    <a:solidFill>
                      <a:srgbClr val="17262E"/>
                    </a:solidFill>
                  </a:tcPr>
                </a:tc>
                <a:tc>
                  <a:txBody>
                    <a:bodyPr wrap="square"/>
                    <a:lstStyle/>
                    <a:p>
                      <a:r>
                        <a:rPr sz="1250" b="1">
                          <a:solidFill>
                            <a:srgbClr val="FFFFFF"/>
                          </a:solidFill>
                          <a:latin typeface="Calibri"/>
                        </a:rPr>
                        <a:t>Split</a:t>
                      </a:r>
                    </a:p>
                  </a:txBody>
                  <a:tcPr marL="73152" marR="73152" marT="27432" marB="27432" anchor="ctr">
                    <a:solidFill>
                      <a:srgbClr val="17262E"/>
                    </a:solidFill>
                  </a:tcPr>
                </a:tc>
                <a:tc>
                  <a:txBody>
                    <a:bodyPr wrap="square"/>
                    <a:lstStyle/>
                    <a:p>
                      <a:r>
                        <a:rPr sz="1250" b="1">
                          <a:solidFill>
                            <a:srgbClr val="FFFFFF"/>
                          </a:solidFill>
                          <a:latin typeface="Calibri"/>
                        </a:rPr>
                        <a:t>Preprocessing</a:t>
                      </a:r>
                    </a:p>
                  </a:txBody>
                  <a:tcPr marL="73152" marR="73152" marT="27432" marB="27432" anchor="ctr">
                    <a:solidFill>
                      <a:srgbClr val="17262E"/>
                    </a:solidFill>
                  </a:tcPr>
                </a:tc>
                <a:tc>
                  <a:txBody>
                    <a:bodyPr wrap="square"/>
                    <a:lstStyle/>
                    <a:p>
                      <a:r>
                        <a:rPr sz="1250" b="1">
                          <a:solidFill>
                            <a:srgbClr val="FFFFFF"/>
                          </a:solidFill>
                          <a:latin typeface="Calibri"/>
                        </a:rPr>
                        <a:t>What it answers</a:t>
                      </a:r>
                    </a:p>
                  </a:txBody>
                  <a:tcPr marL="73152" marR="73152" marT="27432" marB="27432" anchor="ctr">
                    <a:solidFill>
                      <a:srgbClr val="17262E"/>
                    </a:solidFill>
                  </a:tcPr>
                </a:tc>
                <a:tc>
                  <a:txBody>
                    <a:bodyPr wrap="square"/>
                    <a:lstStyle/>
                    <a:p>
                      <a:r>
                        <a:rPr sz="1250" b="1">
                          <a:solidFill>
                            <a:srgbClr val="FFFFFF"/>
                          </a:solidFill>
                          <a:latin typeface="Calibri"/>
                        </a:rPr>
                        <a:t>Status</a:t>
                      </a:r>
                    </a:p>
                  </a:txBody>
                  <a:tcPr marL="73152" marR="73152" marT="27432" marB="27432" anchor="ctr">
                    <a:solidFill>
                      <a:srgbClr val="17262E"/>
                    </a:solidFill>
                  </a:tcPr>
                </a:tc>
              </a:tr>
              <a:tr h="512064">
                <a:tc>
                  <a:txBody>
                    <a:bodyPr wrap="square"/>
                    <a:lstStyle/>
                    <a:p>
                      <a:r>
                        <a:rPr sz="1250" b="1">
                          <a:solidFill>
                            <a:srgbClr val="17262E"/>
                          </a:solidFill>
                          <a:latin typeface="Calibri"/>
                        </a:rPr>
                        <a:t>A0</a:t>
                      </a:r>
                    </a:p>
                  </a:txBody>
                  <a:tcPr marL="73152" marR="73152" marT="27432" marB="27432" anchor="ctr">
                    <a:solidFill>
                      <a:srgbClr val="FFFFFF"/>
                    </a:solidFill>
                  </a:tcPr>
                </a:tc>
                <a:tc>
                  <a:txBody>
                    <a:bodyPr wrap="square"/>
                    <a:lstStyle/>
                    <a:p>
                      <a:r>
                        <a:rPr sz="1250" b="0">
                          <a:solidFill>
                            <a:srgbClr val="41525B"/>
                          </a:solidFill>
                          <a:latin typeface="Calibri"/>
                        </a:rPr>
                        <a:t>Image-level (paper)</a:t>
                      </a:r>
                    </a:p>
                  </a:txBody>
                  <a:tcPr marL="73152" marR="73152" marT="27432" marB="27432" anchor="ctr">
                    <a:solidFill>
                      <a:srgbClr val="FFFFFF"/>
                    </a:solidFill>
                  </a:tcPr>
                </a:tc>
                <a:tc>
                  <a:txBody>
                    <a:bodyPr wrap="square"/>
                    <a:lstStyle/>
                    <a:p>
                      <a:r>
                        <a:rPr sz="1250" b="0">
                          <a:solidFill>
                            <a:srgbClr val="41525B"/>
                          </a:solidFill>
                          <a:latin typeface="Calibri"/>
                        </a:rPr>
                        <a:t>None</a:t>
                      </a:r>
                    </a:p>
                  </a:txBody>
                  <a:tcPr marL="73152" marR="73152" marT="27432" marB="27432" anchor="ctr">
                    <a:solidFill>
                      <a:srgbClr val="FFFFFF"/>
                    </a:solidFill>
                  </a:tcPr>
                </a:tc>
                <a:tc>
                  <a:txBody>
                    <a:bodyPr wrap="square"/>
                    <a:lstStyle/>
                    <a:p>
                      <a:r>
                        <a:rPr sz="1250" b="0">
                          <a:solidFill>
                            <a:srgbClr val="41525B"/>
                          </a:solidFill>
                          <a:latin typeface="Calibri"/>
                        </a:rPr>
                        <a:t>Baseline: does our reproduction match [8]?</a:t>
                      </a:r>
                    </a:p>
                  </a:txBody>
                  <a:tcPr marL="73152" marR="73152" marT="27432" marB="27432" anchor="ctr">
                    <a:solidFill>
                      <a:srgbClr val="FFFFFF"/>
                    </a:solidFill>
                  </a:tcPr>
                </a:tc>
                <a:tc>
                  <a:txBody>
                    <a:bodyPr wrap="square"/>
                    <a:lstStyle/>
                    <a:p>
                      <a:r>
                        <a:rPr sz="1250" b="1">
                          <a:solidFill>
                            <a:srgbClr val="2EA79B"/>
                          </a:solidFill>
                          <a:latin typeface="Calibri"/>
                        </a:rPr>
                        <a:t>Milestone 2 ✓</a:t>
                      </a:r>
                    </a:p>
                  </a:txBody>
                  <a:tcPr marL="73152" marR="73152" marT="27432" marB="27432" anchor="ctr">
                    <a:solidFill>
                      <a:srgbClr val="FFFFFF"/>
                    </a:solidFill>
                  </a:tcPr>
                </a:tc>
              </a:tr>
              <a:tr h="512064">
                <a:tc>
                  <a:txBody>
                    <a:bodyPr wrap="square"/>
                    <a:lstStyle/>
                    <a:p>
                      <a:r>
                        <a:rPr sz="1250" b="1">
                          <a:solidFill>
                            <a:srgbClr val="17262E"/>
                          </a:solidFill>
                          <a:latin typeface="Calibri"/>
                        </a:rPr>
                        <a:t>A1</a:t>
                      </a:r>
                    </a:p>
                  </a:txBody>
                  <a:tcPr marL="73152" marR="73152" marT="27432" marB="27432" anchor="ctr">
                    <a:solidFill>
                      <a:srgbClr val="F5F9FA"/>
                    </a:solidFill>
                  </a:tcPr>
                </a:tc>
                <a:tc>
                  <a:txBody>
                    <a:bodyPr wrap="square"/>
                    <a:lstStyle/>
                    <a:p>
                      <a:r>
                        <a:rPr sz="1250" b="0">
                          <a:solidFill>
                            <a:srgbClr val="41525B"/>
                          </a:solidFill>
                          <a:latin typeface="Calibri"/>
                        </a:rPr>
                        <a:t>Slide-grouped</a:t>
                      </a:r>
                    </a:p>
                  </a:txBody>
                  <a:tcPr marL="73152" marR="73152" marT="27432" marB="27432" anchor="ctr">
                    <a:solidFill>
                      <a:srgbClr val="F5F9FA"/>
                    </a:solidFill>
                  </a:tcPr>
                </a:tc>
                <a:tc>
                  <a:txBody>
                    <a:bodyPr wrap="square"/>
                    <a:lstStyle/>
                    <a:p>
                      <a:r>
                        <a:rPr sz="1250" b="0">
                          <a:solidFill>
                            <a:srgbClr val="41525B"/>
                          </a:solidFill>
                          <a:latin typeface="Calibri"/>
                        </a:rPr>
                        <a:t>None</a:t>
                      </a:r>
                    </a:p>
                  </a:txBody>
                  <a:tcPr marL="73152" marR="73152" marT="27432" marB="27432" anchor="ctr">
                    <a:solidFill>
                      <a:srgbClr val="F5F9FA"/>
                    </a:solidFill>
                  </a:tcPr>
                </a:tc>
                <a:tc>
                  <a:txBody>
                    <a:bodyPr wrap="square"/>
                    <a:lstStyle/>
                    <a:p>
                      <a:r>
                        <a:rPr sz="1250" b="0">
                          <a:solidFill>
                            <a:srgbClr val="41525B"/>
                          </a:solidFill>
                          <a:latin typeface="Calibri"/>
                        </a:rPr>
                        <a:t>H1: how big is the leakage gap (A0 − A1)?</a:t>
                      </a:r>
                    </a:p>
                  </a:txBody>
                  <a:tcPr marL="73152" marR="73152" marT="27432" marB="27432" anchor="ctr">
                    <a:solidFill>
                      <a:srgbClr val="F5F9FA"/>
                    </a:solidFill>
                  </a:tcPr>
                </a:tc>
                <a:tc>
                  <a:txBody>
                    <a:bodyPr wrap="square"/>
                    <a:lstStyle/>
                    <a:p>
                      <a:r>
                        <a:rPr sz="1250" b="1">
                          <a:solidFill>
                            <a:srgbClr val="D99A00"/>
                          </a:solidFill>
                          <a:latin typeface="Calibri"/>
                        </a:rPr>
                        <a:t>Next</a:t>
                      </a:r>
                    </a:p>
                  </a:txBody>
                  <a:tcPr marL="73152" marR="73152" marT="27432" marB="27432" anchor="ctr">
                    <a:solidFill>
                      <a:srgbClr val="F5F9FA"/>
                    </a:solidFill>
                  </a:tcPr>
                </a:tc>
              </a:tr>
              <a:tr h="512064">
                <a:tc>
                  <a:txBody>
                    <a:bodyPr wrap="square"/>
                    <a:lstStyle/>
                    <a:p>
                      <a:r>
                        <a:rPr sz="1250" b="1">
                          <a:solidFill>
                            <a:srgbClr val="17262E"/>
                          </a:solidFill>
                          <a:latin typeface="Calibri"/>
                        </a:rPr>
                        <a:t>A2</a:t>
                      </a:r>
                    </a:p>
                  </a:txBody>
                  <a:tcPr marL="73152" marR="73152" marT="27432" marB="27432" anchor="ctr">
                    <a:solidFill>
                      <a:srgbClr val="FFFFFF"/>
                    </a:solidFill>
                  </a:tcPr>
                </a:tc>
                <a:tc>
                  <a:txBody>
                    <a:bodyPr wrap="square"/>
                    <a:lstStyle/>
                    <a:p>
                      <a:r>
                        <a:rPr sz="1250" b="0">
                          <a:solidFill>
                            <a:srgbClr val="41525B"/>
                          </a:solidFill>
                          <a:latin typeface="Calibri"/>
                        </a:rPr>
                        <a:t>Slide-grouped</a:t>
                      </a:r>
                    </a:p>
                  </a:txBody>
                  <a:tcPr marL="73152" marR="73152" marT="27432" marB="27432" anchor="ctr">
                    <a:solidFill>
                      <a:srgbClr val="FFFFFF"/>
                    </a:solidFill>
                  </a:tcPr>
                </a:tc>
                <a:tc>
                  <a:txBody>
                    <a:bodyPr wrap="square"/>
                    <a:lstStyle/>
                    <a:p>
                      <a:r>
                        <a:rPr sz="1250" b="0">
                          <a:solidFill>
                            <a:srgbClr val="41525B"/>
                          </a:solidFill>
                          <a:latin typeface="Calibri"/>
                        </a:rPr>
                        <a:t>YUV + hist-eq</a:t>
                      </a:r>
                    </a:p>
                  </a:txBody>
                  <a:tcPr marL="73152" marR="73152" marT="27432" marB="27432" anchor="ctr">
                    <a:solidFill>
                      <a:srgbClr val="FFFFFF"/>
                    </a:solidFill>
                  </a:tcPr>
                </a:tc>
                <a:tc>
                  <a:txBody>
                    <a:bodyPr wrap="square"/>
                    <a:lstStyle/>
                    <a:p>
                      <a:r>
                        <a:rPr sz="1250" b="0">
                          <a:solidFill>
                            <a:srgbClr val="41525B"/>
                          </a:solidFill>
                          <a:latin typeface="Calibri"/>
                        </a:rPr>
                        <a:t>H2: does stain normalisation help on unseen slides (A2 − A1)?</a:t>
                      </a:r>
                    </a:p>
                  </a:txBody>
                  <a:tcPr marL="73152" marR="73152" marT="27432" marB="27432" anchor="ctr">
                    <a:solidFill>
                      <a:srgbClr val="FFFFFF"/>
                    </a:solidFill>
                  </a:tcPr>
                </a:tc>
                <a:tc>
                  <a:txBody>
                    <a:bodyPr wrap="square"/>
                    <a:lstStyle/>
                    <a:p>
                      <a:r>
                        <a:rPr sz="1250" b="1">
                          <a:solidFill>
                            <a:srgbClr val="D99A00"/>
                          </a:solidFill>
                          <a:latin typeface="Calibri"/>
                        </a:rPr>
                        <a:t>Next</a:t>
                      </a:r>
                    </a:p>
                  </a:txBody>
                  <a:tcPr marL="73152" marR="73152" marT="27432" marB="27432" anchor="ctr">
                    <a:solidFill>
                      <a:srgbClr val="FFFFFF"/>
                    </a:solidFill>
                  </a:tcPr>
                </a:tc>
              </a:tr>
              <a:tr h="512064">
                <a:tc>
                  <a:txBody>
                    <a:bodyPr wrap="square"/>
                    <a:lstStyle/>
                    <a:p>
                      <a:r>
                        <a:rPr sz="1250" b="1">
                          <a:solidFill>
                            <a:srgbClr val="17262E"/>
                          </a:solidFill>
                          <a:latin typeface="Calibri"/>
                        </a:rPr>
                        <a:t>A3</a:t>
                      </a:r>
                    </a:p>
                  </a:txBody>
                  <a:tcPr marL="73152" marR="73152" marT="27432" marB="27432" anchor="ctr">
                    <a:solidFill>
                      <a:srgbClr val="F5F9FA"/>
                    </a:solidFill>
                  </a:tcPr>
                </a:tc>
                <a:tc>
                  <a:txBody>
                    <a:bodyPr wrap="square"/>
                    <a:lstStyle/>
                    <a:p>
                      <a:r>
                        <a:rPr sz="1250" b="0">
                          <a:solidFill>
                            <a:srgbClr val="41525B"/>
                          </a:solidFill>
                          <a:latin typeface="Calibri"/>
                        </a:rPr>
                        <a:t>Image-level</a:t>
                      </a:r>
                    </a:p>
                  </a:txBody>
                  <a:tcPr marL="73152" marR="73152" marT="27432" marB="27432" anchor="ctr">
                    <a:solidFill>
                      <a:srgbClr val="F5F9FA"/>
                    </a:solidFill>
                  </a:tcPr>
                </a:tc>
                <a:tc>
                  <a:txBody>
                    <a:bodyPr wrap="square"/>
                    <a:lstStyle/>
                    <a:p>
                      <a:r>
                        <a:rPr sz="1250" b="0">
                          <a:solidFill>
                            <a:srgbClr val="41525B"/>
                          </a:solidFill>
                          <a:latin typeface="Calibri"/>
                        </a:rPr>
                        <a:t>YUV + hist-eq</a:t>
                      </a:r>
                    </a:p>
                  </a:txBody>
                  <a:tcPr marL="73152" marR="73152" marT="27432" marB="27432" anchor="ctr">
                    <a:solidFill>
                      <a:srgbClr val="F5F9FA"/>
                    </a:solidFill>
                  </a:tcPr>
                </a:tc>
                <a:tc>
                  <a:txBody>
                    <a:bodyPr wrap="square"/>
                    <a:lstStyle/>
                    <a:p>
                      <a:r>
                        <a:rPr sz="1250" b="0">
                          <a:solidFill>
                            <a:srgbClr val="41525B"/>
                          </a:solidFill>
                          <a:latin typeface="Calibri"/>
                        </a:rPr>
                        <a:t>Control: is H2's gain specific to new slides (A3 − A0 ≈ 0)?</a:t>
                      </a:r>
                    </a:p>
                  </a:txBody>
                  <a:tcPr marL="73152" marR="73152" marT="27432" marB="27432" anchor="ctr">
                    <a:solidFill>
                      <a:srgbClr val="F5F9FA"/>
                    </a:solidFill>
                  </a:tcPr>
                </a:tc>
                <a:tc>
                  <a:txBody>
                    <a:bodyPr wrap="square"/>
                    <a:lstStyle/>
                    <a:p>
                      <a:r>
                        <a:rPr sz="1250" b="1">
                          <a:solidFill>
                            <a:srgbClr val="D99A00"/>
                          </a:solidFill>
                          <a:latin typeface="Calibri"/>
                        </a:rPr>
                        <a:t>Next</a:t>
                      </a:r>
                    </a:p>
                  </a:txBody>
                  <a:tcPr marL="73152" marR="73152" marT="27432" marB="27432" anchor="ctr">
                    <a:solidFill>
                      <a:srgbClr val="F5F9FA"/>
                    </a:solidFill>
                  </a:tcPr>
                </a:tc>
              </a:tr>
            </a:tbl>
          </a:graphicData>
        </a:graphic>
      </p:graphicFrame>
      <p:sp>
        <p:nvSpPr>
          <p:cNvPr id="6" name="Rounded Rectangle 5"/>
          <p:cNvSpPr/>
          <p:nvPr/>
        </p:nvSpPr>
        <p:spPr>
          <a:xfrm>
            <a:off x="548640" y="4919472"/>
            <a:ext cx="3575304" cy="1325880"/>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49808" y="5074920"/>
            <a:ext cx="566928" cy="566928"/>
          </a:xfrm>
          <a:prstGeom prst="ellipse">
            <a:avLst/>
          </a:prstGeom>
          <a:solidFill>
            <a:srgbClr val="137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mage.png"/>
          <p:cNvPicPr>
            <a:picLocks noChangeAspect="1"/>
          </p:cNvPicPr>
          <p:nvPr/>
        </p:nvPicPr>
        <p:blipFill>
          <a:blip r:embed="rId2"/>
          <a:stretch>
            <a:fillRect/>
          </a:stretch>
        </p:blipFill>
        <p:spPr>
          <a:xfrm>
            <a:off x="891540" y="5216652"/>
            <a:ext cx="283464" cy="283464"/>
          </a:xfrm>
          <a:prstGeom prst="rect">
            <a:avLst/>
          </a:prstGeom>
        </p:spPr>
      </p:pic>
      <p:sp>
        <p:nvSpPr>
          <p:cNvPr id="9" name="TextBox 8"/>
          <p:cNvSpPr txBox="1"/>
          <p:nvPr/>
        </p:nvSpPr>
        <p:spPr>
          <a:xfrm>
            <a:off x="1481328" y="5093208"/>
            <a:ext cx="2514600" cy="310896"/>
          </a:xfrm>
          <a:prstGeom prst="rect">
            <a:avLst/>
          </a:prstGeom>
          <a:noFill/>
        </p:spPr>
        <p:txBody>
          <a:bodyPr wrap="square" lIns="0" rIns="0" tIns="0" bIns="0" anchor="t">
            <a:spAutoFit/>
          </a:bodyPr>
          <a:lstStyle/>
          <a:p>
            <a:pPr algn="l"/>
            <a:r>
              <a:rPr sz="1450" b="1" i="0">
                <a:solidFill>
                  <a:srgbClr val="17262E"/>
                </a:solidFill>
                <a:latin typeface="Cambria"/>
              </a:rPr>
              <a:t>Metrics</a:t>
            </a:r>
          </a:p>
        </p:txBody>
      </p:sp>
      <p:sp>
        <p:nvSpPr>
          <p:cNvPr id="10" name="TextBox 9"/>
          <p:cNvSpPr txBox="1"/>
          <p:nvPr/>
        </p:nvSpPr>
        <p:spPr>
          <a:xfrm>
            <a:off x="1481328" y="5422392"/>
            <a:ext cx="2560320" cy="777240"/>
          </a:xfrm>
          <a:prstGeom prst="rect">
            <a:avLst/>
          </a:prstGeom>
          <a:noFill/>
        </p:spPr>
        <p:txBody>
          <a:bodyPr wrap="square" lIns="0" rIns="0" tIns="0" bIns="0" anchor="t">
            <a:spAutoFit/>
          </a:bodyPr>
          <a:lstStyle/>
          <a:p>
            <a:pPr algn="l"/>
            <a:r>
              <a:rPr sz="1150" b="0" i="0">
                <a:solidFill>
                  <a:srgbClr val="41525B"/>
                </a:solidFill>
                <a:latin typeface="Calibri"/>
              </a:rPr>
              <a:t>Accuracy, recall (missed infections), MCC, ROC-AUC. Mean ± SD over folds plus the hold-out ensemble.</a:t>
            </a:r>
          </a:p>
        </p:txBody>
      </p:sp>
      <p:sp>
        <p:nvSpPr>
          <p:cNvPr id="11" name="Rounded Rectangle 10"/>
          <p:cNvSpPr/>
          <p:nvPr/>
        </p:nvSpPr>
        <p:spPr>
          <a:xfrm>
            <a:off x="4306824" y="4919472"/>
            <a:ext cx="3575304" cy="1325880"/>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07992" y="5074920"/>
            <a:ext cx="566928" cy="566928"/>
          </a:xfrm>
          <a:prstGeom prst="ellipse">
            <a:avLst/>
          </a:prstGeom>
          <a:solidFill>
            <a:srgbClr val="CC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mage.png"/>
          <p:cNvPicPr>
            <a:picLocks noChangeAspect="1"/>
          </p:cNvPicPr>
          <p:nvPr/>
        </p:nvPicPr>
        <p:blipFill>
          <a:blip r:embed="rId3"/>
          <a:stretch>
            <a:fillRect/>
          </a:stretch>
        </p:blipFill>
        <p:spPr>
          <a:xfrm>
            <a:off x="4649724" y="5216652"/>
            <a:ext cx="283464" cy="283464"/>
          </a:xfrm>
          <a:prstGeom prst="rect">
            <a:avLst/>
          </a:prstGeom>
        </p:spPr>
      </p:pic>
      <p:sp>
        <p:nvSpPr>
          <p:cNvPr id="14" name="TextBox 13"/>
          <p:cNvSpPr txBox="1"/>
          <p:nvPr/>
        </p:nvSpPr>
        <p:spPr>
          <a:xfrm>
            <a:off x="5239512" y="5093208"/>
            <a:ext cx="2514600" cy="310896"/>
          </a:xfrm>
          <a:prstGeom prst="rect">
            <a:avLst/>
          </a:prstGeom>
          <a:noFill/>
        </p:spPr>
        <p:txBody>
          <a:bodyPr wrap="square" lIns="0" rIns="0" tIns="0" bIns="0" anchor="t">
            <a:spAutoFit/>
          </a:bodyPr>
          <a:lstStyle/>
          <a:p>
            <a:pPr algn="l"/>
            <a:r>
              <a:rPr sz="1450" b="1" i="0">
                <a:solidFill>
                  <a:srgbClr val="17262E"/>
                </a:solidFill>
                <a:latin typeface="Cambria"/>
              </a:rPr>
              <a:t>Clinical priority</a:t>
            </a:r>
          </a:p>
        </p:txBody>
      </p:sp>
      <p:sp>
        <p:nvSpPr>
          <p:cNvPr id="15" name="TextBox 14"/>
          <p:cNvSpPr txBox="1"/>
          <p:nvPr/>
        </p:nvSpPr>
        <p:spPr>
          <a:xfrm>
            <a:off x="5239512" y="5422392"/>
            <a:ext cx="2560320" cy="777240"/>
          </a:xfrm>
          <a:prstGeom prst="rect">
            <a:avLst/>
          </a:prstGeom>
          <a:noFill/>
        </p:spPr>
        <p:txBody>
          <a:bodyPr wrap="square" lIns="0" rIns="0" tIns="0" bIns="0" anchor="t">
            <a:spAutoFit/>
          </a:bodyPr>
          <a:lstStyle/>
          <a:p>
            <a:pPr algn="l"/>
            <a:r>
              <a:rPr sz="1150" b="0" i="0">
                <a:solidFill>
                  <a:srgbClr val="41525B"/>
                </a:solidFill>
                <a:latin typeface="Calibri"/>
              </a:rPr>
              <a:t>Recall first: a missed parasitized cell (false negative) costs more than a false alarm.</a:t>
            </a:r>
          </a:p>
        </p:txBody>
      </p:sp>
      <p:sp>
        <p:nvSpPr>
          <p:cNvPr id="16" name="Rounded Rectangle 15"/>
          <p:cNvSpPr/>
          <p:nvPr/>
        </p:nvSpPr>
        <p:spPr>
          <a:xfrm>
            <a:off x="8065008" y="4919472"/>
            <a:ext cx="3575304" cy="1325880"/>
          </a:xfrm>
          <a:prstGeom prst="roundRect">
            <a:avLst>
              <a:gd name="adj" fmla="val 6000"/>
            </a:avLst>
          </a:prstGeom>
          <a:solidFill>
            <a:srgbClr val="F5F9FA"/>
          </a:solidFill>
          <a:ln w="12700">
            <a:solidFill>
              <a:srgbClr val="D3E1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66176" y="5074920"/>
            <a:ext cx="566928" cy="566928"/>
          </a:xfrm>
          <a:prstGeom prst="ellipse">
            <a:avLst/>
          </a:prstGeom>
          <a:solidFill>
            <a:srgbClr val="8A4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image.png"/>
          <p:cNvPicPr>
            <a:picLocks noChangeAspect="1"/>
          </p:cNvPicPr>
          <p:nvPr/>
        </p:nvPicPr>
        <p:blipFill>
          <a:blip r:embed="rId4"/>
          <a:stretch>
            <a:fillRect/>
          </a:stretch>
        </p:blipFill>
        <p:spPr>
          <a:xfrm>
            <a:off x="8407908" y="5216652"/>
            <a:ext cx="283464" cy="283464"/>
          </a:xfrm>
          <a:prstGeom prst="rect">
            <a:avLst/>
          </a:prstGeom>
        </p:spPr>
      </p:pic>
      <p:sp>
        <p:nvSpPr>
          <p:cNvPr id="19" name="TextBox 18"/>
          <p:cNvSpPr txBox="1"/>
          <p:nvPr/>
        </p:nvSpPr>
        <p:spPr>
          <a:xfrm>
            <a:off x="8997696" y="5093208"/>
            <a:ext cx="2514600" cy="310896"/>
          </a:xfrm>
          <a:prstGeom prst="rect">
            <a:avLst/>
          </a:prstGeom>
          <a:noFill/>
        </p:spPr>
        <p:txBody>
          <a:bodyPr wrap="square" lIns="0" rIns="0" tIns="0" bIns="0" anchor="t">
            <a:spAutoFit/>
          </a:bodyPr>
          <a:lstStyle/>
          <a:p>
            <a:pPr algn="l"/>
            <a:r>
              <a:rPr sz="1450" b="1" i="0">
                <a:solidFill>
                  <a:srgbClr val="17262E"/>
                </a:solidFill>
                <a:latin typeface="Cambria"/>
              </a:rPr>
              <a:t>Already built</a:t>
            </a:r>
          </a:p>
        </p:txBody>
      </p:sp>
      <p:sp>
        <p:nvSpPr>
          <p:cNvPr id="20" name="TextBox 19"/>
          <p:cNvSpPr txBox="1"/>
          <p:nvPr/>
        </p:nvSpPr>
        <p:spPr>
          <a:xfrm>
            <a:off x="8997696" y="5422392"/>
            <a:ext cx="2560320" cy="777240"/>
          </a:xfrm>
          <a:prstGeom prst="rect">
            <a:avLst/>
          </a:prstGeom>
          <a:noFill/>
        </p:spPr>
        <p:txBody>
          <a:bodyPr wrap="square" lIns="0" rIns="0" tIns="0" bIns="0" anchor="t">
            <a:spAutoFit/>
          </a:bodyPr>
          <a:lstStyle/>
          <a:p>
            <a:pPr algn="l"/>
            <a:r>
              <a:rPr sz="1150" b="0" i="0">
                <a:solidFill>
                  <a:srgbClr val="41525B"/>
                </a:solidFill>
                <a:latin typeface="Calibri"/>
              </a:rPr>
              <a:t>The notebook has the grouped split and YUV switches. A1–A3 are one flag each.</a:t>
            </a:r>
          </a:p>
        </p:txBody>
      </p:sp>
      <p:sp>
        <p:nvSpPr>
          <p:cNvPr id="21" name="TextBox 20"/>
          <p:cNvSpPr txBox="1"/>
          <p:nvPr/>
        </p:nvSpPr>
        <p:spPr>
          <a:xfrm>
            <a:off x="548640" y="6455664"/>
            <a:ext cx="7315200" cy="274320"/>
          </a:xfrm>
          <a:prstGeom prst="rect">
            <a:avLst/>
          </a:prstGeom>
          <a:noFill/>
        </p:spPr>
        <p:txBody>
          <a:bodyPr wrap="square" lIns="0" rIns="0" tIns="0" bIns="0" anchor="t">
            <a:spAutoFit/>
          </a:bodyPr>
          <a:lstStyle/>
          <a:p>
            <a:pPr algn="l"/>
            <a:r>
              <a:rPr sz="900" b="0" i="0">
                <a:solidFill>
                  <a:srgbClr val="7C8B93"/>
                </a:solidFill>
                <a:latin typeface="Calibri"/>
              </a:rPr>
              <a:t>Phase 2 · Baseline &amp; Hypothesis · Automated Malaria Cell Detection</a:t>
            </a:r>
          </a:p>
        </p:txBody>
      </p:sp>
      <p:sp>
        <p:nvSpPr>
          <p:cNvPr id="22" name="TextBox 21"/>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7C8B93"/>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457200"/>
            <a:ext cx="11064240" cy="274320"/>
          </a:xfrm>
          <a:prstGeom prst="rect">
            <a:avLst/>
          </a:prstGeom>
          <a:noFill/>
          <a:ln/>
        </p:spPr>
        <p:txBody>
          <a:bodyPr wrap="square" lIns="0" tIns="0" rIns="0" bIns="0" rtlCol="0" anchor="ctr"/>
          <a:lstStyle/>
          <a:p>
            <a:pPr algn="l" indent="0" marL="0">
              <a:buNone/>
            </a:pPr>
            <a:r>
              <a:rPr lang="en-US" sz="1250" b="1" spc="200" kern="0" dirty="0">
                <a:solidFill>
                  <a:srgbClr val="137C8E"/>
                </a:solidFill>
                <a:latin typeface="Calibri" pitchFamily="34" charset="0"/>
                <a:ea typeface="Calibri" pitchFamily="34" charset="-122"/>
                <a:cs typeface="Calibri" pitchFamily="34" charset="-120"/>
              </a:rPr>
              <a:t>REFERENCES</a:t>
            </a:r>
            <a:endParaRPr lang="en-US" sz="1250" dirty="0"/>
          </a:p>
        </p:txBody>
      </p:sp>
      <p:sp>
        <p:nvSpPr>
          <p:cNvPr id="3" name="Text 1"/>
          <p:cNvSpPr txBox="1"/>
          <p:nvPr/>
        </p:nvSpPr>
        <p:spPr>
          <a:xfrm>
            <a:off x="548640" y="749808"/>
            <a:ext cx="11064240" cy="658368"/>
          </a:xfrm>
          <a:prstGeom prst="rect">
            <a:avLst/>
          </a:prstGeom>
          <a:noFill/>
          <a:ln/>
        </p:spPr>
        <p:txBody>
          <a:bodyPr wrap="square" lIns="0" tIns="0" rIns="0" bIns="0" rtlCol="0" anchor="ctr"/>
          <a:lstStyle/>
          <a:p>
            <a:pPr algn="l" indent="0" marL="0">
              <a:buNone/>
            </a:pPr>
            <a:r>
              <a:rPr lang="en-US" sz="3000" b="1" dirty="0">
                <a:solidFill>
                  <a:srgbClr val="17262E"/>
                </a:solidFill>
                <a:latin typeface="Cambria" pitchFamily="34" charset="0"/>
                <a:ea typeface="Cambria" pitchFamily="34" charset="-122"/>
                <a:cs typeface="Cambria" pitchFamily="34" charset="-120"/>
              </a:rPr>
              <a:t>The eleven reviewed studies</a:t>
            </a:r>
            <a:endParaRPr lang="en-US" sz="3000" dirty="0"/>
          </a:p>
        </p:txBody>
      </p:sp>
      <p:sp>
        <p:nvSpPr>
          <p:cNvPr id="4" name="Text 2"/>
          <p:cNvSpPr txBox="1"/>
          <p:nvPr/>
        </p:nvSpPr>
        <p:spPr>
          <a:xfrm>
            <a:off x="548640" y="1508760"/>
            <a:ext cx="5486400" cy="4572000"/>
          </a:xfrm>
          <a:prstGeom prst="rect">
            <a:avLst/>
          </a:prstGeom>
          <a:noFill/>
          <a:ln/>
        </p:spPr>
        <p:txBody>
          <a:bodyPr wrap="square" lIns="0" tIns="0" rIns="0" bIns="0" rtlCol="0" anchor="t"/>
          <a:lstStyle/>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[1] Z. Liang et al., “CNN-Based Image Analysis for Malaria Diagnosis,” IEEE BIBM, 2016.</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[2] S. Rajaraman et al., “Pre-trained CNNs as feature extractors toward improved malaria parasite detection,” PeerJ 6:e4568, 2018.</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[3] S. Rajaraman et al., “Performance evaluation of deep neural ensembles toward malaria parasite detection,” PeerJ 7:e6977, 2019.</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[4] M. Umer et al., “A Novel Stacked CNN for Malarial Parasite Detection in Thin Blood Smear Images,” IEEE Access 8, 2020.</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[5] K. M. F. Fuhad et al., “Deep Learning Based Automatic Malaria Parasite Detection … Smartphone Application,” Diagnostics 10(5):329, 2020.</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[6] O. S. Zhao et al., “Convolutional neural networks to automate the screening of malaria in low-resource countries,” PeerJ 8:e9674, 2020.</a:t>
            </a:r>
            <a:endParaRPr lang="en-US" sz="1150" dirty="0"/>
          </a:p>
        </p:txBody>
      </p:sp>
      <p:sp>
        <p:nvSpPr>
          <p:cNvPr id="5" name="Text 3"/>
          <p:cNvSpPr txBox="1"/>
          <p:nvPr/>
        </p:nvSpPr>
        <p:spPr>
          <a:xfrm>
            <a:off x="6263640" y="1508760"/>
            <a:ext cx="5394960" cy="4572000"/>
          </a:xfrm>
          <a:prstGeom prst="rect">
            <a:avLst/>
          </a:prstGeom>
          <a:noFill/>
          <a:ln/>
        </p:spPr>
        <p:txBody>
          <a:bodyPr wrap="square" lIns="0" tIns="0" rIns="0" bIns="0" rtlCol="0" anchor="t"/>
          <a:lstStyle/>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[7] M. Masud et al., “Leveraging Deep Learning Techniques for Malaria Parasite Detection Using Mobile Application,” WCMC 2020:8895429.</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[8] G. Marques et al., “An ensemble-based approach for automated medical diagnosis of malaria using EfficientNet,” MTAP 81, 2022.</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[9] G. Madhu et al., “Intelligent diagnostic model … imperative inception-based capsule neural networks,” Scientific Reports 13, 2023.</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[10] K. Hemachandran et al., “Performance Analysis of Deep Learning Algorithms in Diagnosis of Malaria Disease,” Diagnostics 13(3):534, 2023.</a:t>
            </a:r>
            <a:endParaRPr lang="en-US" sz="1150" dirty="0"/>
          </a:p>
          <a:p>
            <a:pPr indent="0" marL="0">
              <a:lnSpc>
                <a:spcPct val="102000"/>
              </a:lnSpc>
              <a:spcAft>
                <a:spcPts val="1000"/>
              </a:spcAft>
              <a:buNone/>
            </a:pPr>
            <a:r>
              <a:rPr lang="en-US" sz="1150" dirty="0">
                <a:solidFill>
                  <a:srgbClr val="41525B"/>
                </a:solidFill>
                <a:latin typeface="Calibri" pitchFamily="34" charset="0"/>
                <a:ea typeface="Calibri" pitchFamily="34" charset="-122"/>
                <a:cs typeface="Calibri" pitchFamily="34" charset="-120"/>
              </a:rPr>
              <a:t>[11] M. Mujahid et al., “Efficient deep learning-based approach for malaria detection using red blood cell smears,” Scientific Reports 14, 2024.</a:t>
            </a:r>
            <a:endParaRPr lang="en-US" sz="1150" dirty="0"/>
          </a:p>
        </p:txBody>
      </p:sp>
      <p:sp>
        <p:nvSpPr>
          <p:cNvPr id="6" name="Shape 4"/>
          <p:cNvSpPr/>
          <p:nvPr/>
        </p:nvSpPr>
        <p:spPr>
          <a:xfrm>
            <a:off x="6263640" y="3977640"/>
            <a:ext cx="5376672" cy="2103120"/>
          </a:xfrm>
          <a:prstGeom prst="roundRect">
            <a:avLst>
              <a:gd name="adj" fmla="val 4348"/>
            </a:avLst>
          </a:prstGeom>
          <a:solidFill>
            <a:srgbClr val="0F2E3D"/>
          </a:solidFill>
          <a:ln/>
        </p:spPr>
        <p:txBody>
          <a:bodyPr/>
          <a:p/>
        </p:txBody>
      </p:sp>
      <p:sp>
        <p:nvSpPr>
          <p:cNvPr id="7" name="Shape 5"/>
          <p:cNvSpPr/>
          <p:nvPr/>
        </p:nvSpPr>
        <p:spPr>
          <a:xfrm>
            <a:off x="6675120" y="4297680"/>
            <a:ext cx="822960" cy="822960"/>
          </a:xfrm>
          <a:prstGeom prst="ellipse">
            <a:avLst/>
          </a:prstGeom>
          <a:solidFill>
            <a:srgbClr val="2EA79B"/>
          </a:solidFill>
          <a:ln/>
        </p:spPr>
        <p:txBody>
          <a:bodyPr/>
          <a:p/>
        </p:txBody>
      </p:sp>
      <p:pic>
        <p:nvPicPr>
          <p:cNvPr id="8" name="Image 0" descr="/tmp/build/assets/ic_microscope.png">    </p:cNvPr>
          <p:cNvPicPr>
            <a:picLocks noChangeAspect="1"/>
          </p:cNvPicPr>
          <p:nvPr/>
        </p:nvPicPr>
        <p:blipFill>
          <a:blip r:embed="rId1"/>
          <a:stretch>
            <a:fillRect/>
          </a:stretch>
        </p:blipFill>
        <p:spPr>
          <a:xfrm>
            <a:off x="6880860" y="4503420"/>
            <a:ext cx="411480" cy="411480"/>
          </a:xfrm>
          <a:prstGeom prst="rect">
            <a:avLst/>
          </a:prstGeom>
        </p:spPr>
      </p:pic>
      <p:sp>
        <p:nvSpPr>
          <p:cNvPr id="9" name="Text 6"/>
          <p:cNvSpPr txBox="1"/>
          <p:nvPr/>
        </p:nvSpPr>
        <p:spPr>
          <a:xfrm>
            <a:off x="7680960" y="4297680"/>
            <a:ext cx="374904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10" name="Text 7"/>
          <p:cNvSpPr txBox="1"/>
          <p:nvPr/>
        </p:nvSpPr>
        <p:spPr>
          <a:xfrm>
            <a:off x="7680960" y="4892040"/>
            <a:ext cx="3703320" cy="914400"/>
          </a:xfrm>
          <a:prstGeom prst="rect">
            <a:avLst/>
          </a:prstGeom>
          <a:noFill/>
          <a:ln/>
        </p:spPr>
        <p:txBody>
          <a:bodyPr wrap="square" lIns="0" tIns="0" rIns="0" bIns="0" rtlCol="0" anchor="ctr"/>
          <a:lstStyle/>
          <a:p>
            <a:pPr indent="0" marL="0">
              <a:lnSpc>
                <a:spcPct val="108000"/>
              </a:lnSpc>
              <a:buNone/>
            </a:pPr>
            <a:r>
              <a:rPr lang="en-US" sz="1300" dirty="0">
                <a:solidFill>
                  <a:srgbClr val="D7E7EB"/>
                </a:solidFill>
                <a:latin typeface="Calibri" pitchFamily="34" charset="0"/>
                <a:ea typeface="Calibri" pitchFamily="34" charset="-122"/>
                <a:cs typeface="Calibri" pitchFamily="34" charset="-120"/>
              </a:rPr>
              <a:t>Questions on methods, results, or our chosen research gap are welcome.</a:t>
            </a:r>
            <a:endParaRPr lang="en-US" sz="1300" dirty="0"/>
          </a:p>
        </p:txBody>
      </p:sp>
      <p:sp>
        <p:nvSpPr>
          <p:cNvPr id="11" name="Text 8"/>
          <p:cNvSpPr txBox="1"/>
          <p:nvPr/>
        </p:nvSpPr>
        <p:spPr>
          <a:xfrm>
            <a:off x="548640" y="6144768"/>
            <a:ext cx="5577840" cy="274320"/>
          </a:xfrm>
          <a:prstGeom prst="rect">
            <a:avLst/>
          </a:prstGeom>
          <a:noFill/>
          <a:ln/>
        </p:spPr>
        <p:txBody>
          <a:bodyPr wrap="square" lIns="0" tIns="0" rIns="0" bIns="0" rtlCol="0" anchor="ctr"/>
          <a:lstStyle/>
          <a:p>
            <a:pPr indent="0" marL="0">
              <a:buNone/>
            </a:pPr>
            <a:r>
              <a:rPr lang="en-US" sz="1100" b="1" dirty="0">
                <a:solidFill>
                  <a:srgbClr val="137C8E"/>
                </a:solidFill>
                <a:latin typeface="Calibri" pitchFamily="34" charset="0"/>
                <a:ea typeface="Calibri" pitchFamily="34" charset="-122"/>
                <a:cs typeface="Calibri" pitchFamily="34" charset="-120"/>
              </a:rPr>
              <a:t>Presented by   </a:t>
            </a:r>
            <a:pPr indent="0" marL="0">
              <a:buNone/>
            </a:pPr>
            <a:r>
              <a:rPr lang="en-US" sz="1100" dirty="0">
                <a:solidFill>
                  <a:srgbClr val="41525B"/>
                </a:solidFill>
                <a:latin typeface="Calibri" pitchFamily="34" charset="0"/>
                <a:ea typeface="Calibri" pitchFamily="34" charset="-122"/>
                <a:cs typeface="Calibri" pitchFamily="34" charset="-120"/>
              </a:rPr>
              <a:t>Pugazhendhi J · J Amathziah · C Murali Madhav · Ravi Yadav</a:t>
            </a:r>
            <a:endParaRPr lang="en-US" sz="1100" dirty="0"/>
          </a:p>
        </p:txBody>
      </p:sp>
      <p:sp>
        <p:nvSpPr>
          <p:cNvPr id="12" name="Text 9"/>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1000" dirty="0">
                <a:solidFill>
                  <a:srgbClr val="7C8B93"/>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2026-09-01T19:49:07Z</dcterms:created>
  <dcterms:modified xsi:type="dcterms:W3CDTF">2026-09-01T19:49:07Z</dcterms:modified>
</cp:coreProperties>
</file>